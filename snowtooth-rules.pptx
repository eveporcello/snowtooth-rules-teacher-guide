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66" r:id="rId18"/>
    <p:sldId id="257" r:id="rId9"/>
    <p:sldId id="258" r:id="rId10"/>
    <p:sldId id="259" r:id="rId11"/>
    <p:sldId id="260" r:id="rId12"/>
    <p:sldId id="261" r:id="rId13"/>
    <p:sldId id="262" r:id="rId14"/>
    <p:sldId id="263" r:id="rId15"/>
    <p:sldId id="264" r:id="rId16"/>
    <p:sldId id="265" r:id="rId17"/>
  </p:sldIdLst>
  <p:sldSz cx="9144000" cy="51435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A0A0A"/>
        </a:fontRef>
        <a:srgbClr val="0A0A0A"/>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FAFAFA"/>
          </a:solidFill>
        </a:fill>
      </a:tcStyle>
    </a:wholeTbl>
    <a:band2H>
      <a:tcTxStyle b="def" i="def"/>
      <a:tcStyle>
        <a:tcBdr/>
        <a:fill>
          <a:solidFill>
            <a:srgbClr val="FCFCFC"/>
          </a:solidFill>
        </a:fill>
      </a:tcStyle>
    </a:band2H>
    <a:firstCol>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1"/>
          </a:solidFill>
        </a:fill>
      </a:tcStyle>
    </a:firstCol>
    <a:la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381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1"/>
          </a:solidFill>
        </a:fill>
      </a:tcStyle>
    </a:lastRow>
    <a:fir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381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1"/>
          </a:solidFill>
        </a:fill>
      </a:tcStyle>
    </a:firstRow>
  </a:tblStyle>
  <a:tblStyle styleId="{C7B018BB-80A7-4F77-B60F-C8B233D01FF8}" styleName="">
    <a:tblBg/>
    <a:wholeTbl>
      <a:tcTxStyle b="off" i="off">
        <a:fontRef idx="minor">
          <a:srgbClr val="0A0A0A"/>
        </a:fontRef>
        <a:srgbClr val="0A0A0A"/>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CBCBCB"/>
          </a:solidFill>
        </a:fill>
      </a:tcStyle>
    </a:wholeTbl>
    <a:band2H>
      <a:tcTxStyle b="def" i="def"/>
      <a:tcStyle>
        <a:tcBdr/>
        <a:fill>
          <a:solidFill>
            <a:srgbClr val="E7E7E7"/>
          </a:solidFill>
        </a:fill>
      </a:tcStyle>
    </a:band2H>
    <a:firstCol>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firstCol>
    <a:la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381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lastRow>
    <a:fir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381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firstRow>
  </a:tblStyle>
  <a:tblStyle styleId="{EEE7283C-3CF3-47DC-8721-378D4A62B228}" styleName="">
    <a:tblBg/>
    <a:wholeTbl>
      <a:tcTxStyle b="off" i="off">
        <a:fontRef idx="minor">
          <a:srgbClr val="0A0A0A"/>
        </a:fontRef>
        <a:srgbClr val="0A0A0A"/>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CBCBCB"/>
          </a:solidFill>
        </a:fill>
      </a:tcStyle>
    </a:wholeTbl>
    <a:band2H>
      <a:tcTxStyle b="def" i="def"/>
      <a:tcStyle>
        <a:tcBdr/>
        <a:fill>
          <a:solidFill>
            <a:srgbClr val="E7E7E7"/>
          </a:solidFill>
        </a:fill>
      </a:tcStyle>
    </a:band2H>
    <a:firstCol>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firstCol>
    <a:la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381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lastRow>
    <a:fir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381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firstRow>
  </a:tblStyle>
  <a:tblStyle styleId="{CF821DB8-F4EB-4A41-A1BA-3FCAFE7338EE}" styleName="">
    <a:tblBg/>
    <a:wholeTbl>
      <a:tcTxStyle b="off" i="off">
        <a:fontRef idx="minor">
          <a:srgbClr val="0A0A0A"/>
        </a:fontRef>
        <a:srgbClr val="0A0A0A"/>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chemeClr val="accent1"/>
          </a:solidFill>
        </a:fill>
      </a:tcStyle>
    </a:band2H>
    <a:firstCol>
      <a:tcTxStyle b="on" i="off">
        <a:fontRef idx="minor">
          <a:schemeClr val="accent1"/>
        </a:fontRef>
        <a:schemeClr val="accent1"/>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A0A0A"/>
        </a:fontRef>
        <a:srgbClr val="0A0A0A"/>
      </a:tcTxStyle>
      <a:tcStyle>
        <a:tcBdr>
          <a:left>
            <a:ln w="12700" cap="flat">
              <a:noFill/>
              <a:miter lim="400000"/>
            </a:ln>
          </a:left>
          <a:right>
            <a:ln w="12700" cap="flat">
              <a:noFill/>
              <a:miter lim="400000"/>
            </a:ln>
          </a:right>
          <a:top>
            <a:ln w="50800" cap="flat">
              <a:solidFill>
                <a:srgbClr val="0A0A0A"/>
              </a:solidFill>
              <a:prstDash val="solid"/>
              <a:round/>
            </a:ln>
          </a:top>
          <a:bottom>
            <a:ln w="25400" cap="flat">
              <a:solidFill>
                <a:srgbClr val="0A0A0A"/>
              </a:solidFill>
              <a:prstDash val="solid"/>
              <a:round/>
            </a:ln>
          </a:bottom>
          <a:insideH>
            <a:ln w="12700" cap="flat">
              <a:noFill/>
              <a:miter lim="400000"/>
            </a:ln>
          </a:insideH>
          <a:insideV>
            <a:ln w="12700" cap="flat">
              <a:noFill/>
              <a:miter lim="400000"/>
            </a:ln>
          </a:insideV>
        </a:tcBdr>
        <a:fill>
          <a:solidFill>
            <a:schemeClr val="accent1"/>
          </a:solidFill>
        </a:fill>
      </a:tcStyle>
    </a:lastRow>
    <a:firstRow>
      <a:tcTxStyle b="on" i="off">
        <a:fontRef idx="minor">
          <a:schemeClr val="accent1"/>
        </a:fontRef>
        <a:schemeClr val="accent1"/>
      </a:tcTxStyle>
      <a:tcStyle>
        <a:tcBdr>
          <a:left>
            <a:ln w="12700" cap="flat">
              <a:noFill/>
              <a:miter lim="400000"/>
            </a:ln>
          </a:left>
          <a:right>
            <a:ln w="12700" cap="flat">
              <a:noFill/>
              <a:miter lim="400000"/>
            </a:ln>
          </a:right>
          <a:top>
            <a:ln w="25400" cap="flat">
              <a:solidFill>
                <a:srgbClr val="0A0A0A"/>
              </a:solidFill>
              <a:prstDash val="solid"/>
              <a:round/>
            </a:ln>
          </a:top>
          <a:bottom>
            <a:ln w="25400" cap="flat">
              <a:solidFill>
                <a:srgbClr val="0A0A0A"/>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A0A0A"/>
        </a:fontRef>
        <a:srgbClr val="0A0A0A"/>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0A0A0A"/>
          </a:solidFill>
        </a:fill>
      </a:tcStyle>
    </a:firstCol>
    <a:la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381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0A0A0A"/>
          </a:solidFill>
        </a:fill>
      </a:tcStyle>
    </a:lastRow>
    <a:fir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381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0A0A0A"/>
          </a:solidFill>
        </a:fill>
      </a:tcStyle>
    </a:firstRow>
  </a:tblStyle>
  <a:tblStyle styleId="{2708684C-4D16-4618-839F-0558EEFCDFE6}" styleName="">
    <a:tblBg/>
    <a:wholeTbl>
      <a:tcTxStyle b="off" i="off">
        <a:fontRef idx="minor">
          <a:srgbClr val="0A0A0A"/>
        </a:fontRef>
        <a:srgbClr val="0A0A0A"/>
      </a:tcTxStyle>
      <a:tcStyle>
        <a:tcBdr>
          <a:left>
            <a:ln w="12700" cap="flat">
              <a:solidFill>
                <a:srgbClr val="0A0A0A"/>
              </a:solidFill>
              <a:prstDash val="solid"/>
              <a:round/>
            </a:ln>
          </a:left>
          <a:right>
            <a:ln w="12700" cap="flat">
              <a:solidFill>
                <a:srgbClr val="0A0A0A"/>
              </a:solidFill>
              <a:prstDash val="solid"/>
              <a:round/>
            </a:ln>
          </a:right>
          <a:top>
            <a:ln w="12700" cap="flat">
              <a:solidFill>
                <a:srgbClr val="0A0A0A"/>
              </a:solidFill>
              <a:prstDash val="solid"/>
              <a:round/>
            </a:ln>
          </a:top>
          <a:bottom>
            <a:ln w="12700" cap="flat">
              <a:solidFill>
                <a:srgbClr val="0A0A0A"/>
              </a:solidFill>
              <a:prstDash val="solid"/>
              <a:round/>
            </a:ln>
          </a:bottom>
          <a:insideH>
            <a:ln w="12700" cap="flat">
              <a:solidFill>
                <a:srgbClr val="0A0A0A"/>
              </a:solidFill>
              <a:prstDash val="solid"/>
              <a:round/>
            </a:ln>
          </a:insideH>
          <a:insideV>
            <a:ln w="12700" cap="flat">
              <a:solidFill>
                <a:srgbClr val="0A0A0A"/>
              </a:solidFill>
              <a:prstDash val="solid"/>
              <a:round/>
            </a:ln>
          </a:insideV>
        </a:tcBdr>
        <a:fill>
          <a:solidFill>
            <a:srgbClr val="0A0A0A">
              <a:alpha val="20000"/>
            </a:srgbClr>
          </a:solidFill>
        </a:fill>
      </a:tcStyle>
    </a:wholeTbl>
    <a:band2H>
      <a:tcTxStyle b="def" i="def"/>
      <a:tcStyle>
        <a:tcBdr/>
        <a:fill>
          <a:solidFill>
            <a:schemeClr val="accent1">
              <a:lumOff val="5098"/>
            </a:schemeClr>
          </a:solidFill>
        </a:fill>
      </a:tcStyle>
    </a:band2H>
    <a:firstCol>
      <a:tcTxStyle b="on" i="off">
        <a:fontRef idx="minor">
          <a:srgbClr val="0A0A0A"/>
        </a:fontRef>
        <a:srgbClr val="0A0A0A"/>
      </a:tcTxStyle>
      <a:tcStyle>
        <a:tcBdr>
          <a:left>
            <a:ln w="12700" cap="flat">
              <a:solidFill>
                <a:srgbClr val="0A0A0A"/>
              </a:solidFill>
              <a:prstDash val="solid"/>
              <a:round/>
            </a:ln>
          </a:left>
          <a:right>
            <a:ln w="12700" cap="flat">
              <a:solidFill>
                <a:srgbClr val="0A0A0A"/>
              </a:solidFill>
              <a:prstDash val="solid"/>
              <a:round/>
            </a:ln>
          </a:right>
          <a:top>
            <a:ln w="12700" cap="flat">
              <a:solidFill>
                <a:srgbClr val="0A0A0A"/>
              </a:solidFill>
              <a:prstDash val="solid"/>
              <a:round/>
            </a:ln>
          </a:top>
          <a:bottom>
            <a:ln w="12700" cap="flat">
              <a:solidFill>
                <a:srgbClr val="0A0A0A"/>
              </a:solidFill>
              <a:prstDash val="solid"/>
              <a:round/>
            </a:ln>
          </a:bottom>
          <a:insideH>
            <a:ln w="12700" cap="flat">
              <a:solidFill>
                <a:srgbClr val="0A0A0A"/>
              </a:solidFill>
              <a:prstDash val="solid"/>
              <a:round/>
            </a:ln>
          </a:insideH>
          <a:insideV>
            <a:ln w="12700" cap="flat">
              <a:solidFill>
                <a:srgbClr val="0A0A0A"/>
              </a:solidFill>
              <a:prstDash val="solid"/>
              <a:round/>
            </a:ln>
          </a:insideV>
        </a:tcBdr>
        <a:fill>
          <a:solidFill>
            <a:srgbClr val="0A0A0A">
              <a:alpha val="20000"/>
            </a:srgbClr>
          </a:solidFill>
        </a:fill>
      </a:tcStyle>
    </a:firstCol>
    <a:lastRow>
      <a:tcTxStyle b="on" i="off">
        <a:fontRef idx="minor">
          <a:srgbClr val="0A0A0A"/>
        </a:fontRef>
        <a:srgbClr val="0A0A0A"/>
      </a:tcTxStyle>
      <a:tcStyle>
        <a:tcBdr>
          <a:left>
            <a:ln w="12700" cap="flat">
              <a:solidFill>
                <a:srgbClr val="0A0A0A"/>
              </a:solidFill>
              <a:prstDash val="solid"/>
              <a:round/>
            </a:ln>
          </a:left>
          <a:right>
            <a:ln w="12700" cap="flat">
              <a:solidFill>
                <a:srgbClr val="0A0A0A"/>
              </a:solidFill>
              <a:prstDash val="solid"/>
              <a:round/>
            </a:ln>
          </a:right>
          <a:top>
            <a:ln w="50800" cap="flat">
              <a:solidFill>
                <a:srgbClr val="0A0A0A"/>
              </a:solidFill>
              <a:prstDash val="solid"/>
              <a:round/>
            </a:ln>
          </a:top>
          <a:bottom>
            <a:ln w="12700" cap="flat">
              <a:solidFill>
                <a:srgbClr val="0A0A0A"/>
              </a:solidFill>
              <a:prstDash val="solid"/>
              <a:round/>
            </a:ln>
          </a:bottom>
          <a:insideH>
            <a:ln w="12700" cap="flat">
              <a:solidFill>
                <a:srgbClr val="0A0A0A"/>
              </a:solidFill>
              <a:prstDash val="solid"/>
              <a:round/>
            </a:ln>
          </a:insideH>
          <a:insideV>
            <a:ln w="12700" cap="flat">
              <a:solidFill>
                <a:srgbClr val="0A0A0A"/>
              </a:solidFill>
              <a:prstDash val="solid"/>
              <a:round/>
            </a:ln>
          </a:insideV>
        </a:tcBdr>
        <a:fill>
          <a:noFill/>
        </a:fill>
      </a:tcStyle>
    </a:lastRow>
    <a:firstRow>
      <a:tcTxStyle b="on" i="off">
        <a:fontRef idx="minor">
          <a:srgbClr val="0A0A0A"/>
        </a:fontRef>
        <a:srgbClr val="0A0A0A"/>
      </a:tcTxStyle>
      <a:tcStyle>
        <a:tcBdr>
          <a:left>
            <a:ln w="12700" cap="flat">
              <a:solidFill>
                <a:srgbClr val="0A0A0A"/>
              </a:solidFill>
              <a:prstDash val="solid"/>
              <a:round/>
            </a:ln>
          </a:left>
          <a:right>
            <a:ln w="12700" cap="flat">
              <a:solidFill>
                <a:srgbClr val="0A0A0A"/>
              </a:solidFill>
              <a:prstDash val="solid"/>
              <a:round/>
            </a:ln>
          </a:right>
          <a:top>
            <a:ln w="12700" cap="flat">
              <a:solidFill>
                <a:srgbClr val="0A0A0A"/>
              </a:solidFill>
              <a:prstDash val="solid"/>
              <a:round/>
            </a:ln>
          </a:top>
          <a:bottom>
            <a:ln w="25400" cap="flat">
              <a:solidFill>
                <a:srgbClr val="0A0A0A"/>
              </a:solidFill>
              <a:prstDash val="solid"/>
              <a:round/>
            </a:ln>
          </a:bottom>
          <a:insideH>
            <a:ln w="12700" cap="flat">
              <a:solidFill>
                <a:srgbClr val="0A0A0A"/>
              </a:solidFill>
              <a:prstDash val="solid"/>
              <a:round/>
            </a:ln>
          </a:insideH>
          <a:insideV>
            <a:ln w="12700" cap="flat">
              <a:solidFill>
                <a:srgbClr val="0A0A0A"/>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33" name="Shape 33"/>
          <p:cNvSpPr/>
          <p:nvPr>
            <p:ph type="sldImg"/>
          </p:nvPr>
        </p:nvSpPr>
        <p:spPr>
          <a:xfrm>
            <a:off x="1143000" y="685800"/>
            <a:ext cx="4572000" cy="3429000"/>
          </a:xfrm>
          <a:prstGeom prst="rect">
            <a:avLst/>
          </a:prstGeom>
        </p:spPr>
        <p:txBody>
          <a:bodyPr/>
          <a:lstStyle/>
          <a:p>
            <a:pPr/>
          </a:p>
        </p:txBody>
      </p:sp>
      <p:sp>
        <p:nvSpPr>
          <p:cNvPr id="34" name="Shape 34"/>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solidFill>
          <a:srgbClr val="0A0A0A"/>
        </a:solidFill>
        <a:latin typeface="+mn-lt"/>
        <a:ea typeface="+mn-ea"/>
        <a:cs typeface="+mn-cs"/>
        <a:sym typeface="Arial"/>
      </a:defRPr>
    </a:lvl1pPr>
    <a:lvl2pPr indent="228600" latinLnBrk="0">
      <a:defRPr sz="1200">
        <a:solidFill>
          <a:srgbClr val="0A0A0A"/>
        </a:solidFill>
        <a:latin typeface="+mn-lt"/>
        <a:ea typeface="+mn-ea"/>
        <a:cs typeface="+mn-cs"/>
        <a:sym typeface="Arial"/>
      </a:defRPr>
    </a:lvl2pPr>
    <a:lvl3pPr indent="457200" latinLnBrk="0">
      <a:defRPr sz="1200">
        <a:solidFill>
          <a:srgbClr val="0A0A0A"/>
        </a:solidFill>
        <a:latin typeface="+mn-lt"/>
        <a:ea typeface="+mn-ea"/>
        <a:cs typeface="+mn-cs"/>
        <a:sym typeface="Arial"/>
      </a:defRPr>
    </a:lvl3pPr>
    <a:lvl4pPr indent="685800" latinLnBrk="0">
      <a:defRPr sz="1200">
        <a:solidFill>
          <a:srgbClr val="0A0A0A"/>
        </a:solidFill>
        <a:latin typeface="+mn-lt"/>
        <a:ea typeface="+mn-ea"/>
        <a:cs typeface="+mn-cs"/>
        <a:sym typeface="Arial"/>
      </a:defRPr>
    </a:lvl4pPr>
    <a:lvl5pPr indent="914400" latinLnBrk="0">
      <a:defRPr sz="1200">
        <a:solidFill>
          <a:srgbClr val="0A0A0A"/>
        </a:solidFill>
        <a:latin typeface="+mn-lt"/>
        <a:ea typeface="+mn-ea"/>
        <a:cs typeface="+mn-cs"/>
        <a:sym typeface="Arial"/>
      </a:defRPr>
    </a:lvl5pPr>
    <a:lvl6pPr indent="1143000" latinLnBrk="0">
      <a:defRPr sz="1200">
        <a:solidFill>
          <a:srgbClr val="0A0A0A"/>
        </a:solidFill>
        <a:latin typeface="+mn-lt"/>
        <a:ea typeface="+mn-ea"/>
        <a:cs typeface="+mn-cs"/>
        <a:sym typeface="Arial"/>
      </a:defRPr>
    </a:lvl6pPr>
    <a:lvl7pPr indent="1371600" latinLnBrk="0">
      <a:defRPr sz="1200">
        <a:solidFill>
          <a:srgbClr val="0A0A0A"/>
        </a:solidFill>
        <a:latin typeface="+mn-lt"/>
        <a:ea typeface="+mn-ea"/>
        <a:cs typeface="+mn-cs"/>
        <a:sym typeface="Arial"/>
      </a:defRPr>
    </a:lvl7pPr>
    <a:lvl8pPr indent="1600200" latinLnBrk="0">
      <a:defRPr sz="1200">
        <a:solidFill>
          <a:srgbClr val="0A0A0A"/>
        </a:solidFill>
        <a:latin typeface="+mn-lt"/>
        <a:ea typeface="+mn-ea"/>
        <a:cs typeface="+mn-cs"/>
        <a:sym typeface="Arial"/>
      </a:defRPr>
    </a:lvl8pPr>
    <a:lvl9pPr indent="1828800" latinLnBrk="0">
      <a:defRPr sz="1200">
        <a:solidFill>
          <a:srgbClr val="0A0A0A"/>
        </a:solidFill>
        <a:latin typeface="+mn-lt"/>
        <a:ea typeface="+mn-ea"/>
        <a:cs typeface="+mn-cs"/>
        <a:sym typeface="Arial"/>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 name="Shape 39"/>
          <p:cNvSpPr/>
          <p:nvPr>
            <p:ph type="sldImg"/>
          </p:nvPr>
        </p:nvSpPr>
        <p:spPr>
          <a:prstGeom prst="rect">
            <a:avLst/>
          </a:prstGeom>
        </p:spPr>
        <p:txBody>
          <a:bodyPr/>
          <a:lstStyle/>
          <a:p>
            <a:pPr/>
          </a:p>
        </p:txBody>
      </p:sp>
      <p:sp>
        <p:nvSpPr>
          <p:cNvPr id="40" name="Shape 40"/>
          <p:cNvSpPr/>
          <p:nvPr>
            <p:ph type="body" sz="quarter" idx="1"/>
          </p:nvPr>
        </p:nvSpPr>
        <p:spPr>
          <a:prstGeom prst="rect">
            <a:avLst/>
          </a:prstGeom>
        </p:spPr>
        <p:txBody>
          <a:bodyPr/>
          <a:lstStyle/>
          <a:p>
            <a:pPr/>
            <a:r>
              <a:t>I'm Eve. I train engineering teams for a living, first on React and GraphQL and now on Cursor. This is a 15-minute version of the first thing I teach when a team gets Cursor seats: how to stop re-explaining yourself in chat.</a:t>
            </a:r>
          </a:p>
          <a:p>
            <a:pPr/>
          </a:p>
          <a:p>
            <a:pPr/>
            <a:r>
              <a:t>Snowtooth is a made-up ski resort I've used in my courses for years, so nobody has to spend time learning a new domain. The lift board stands in for your app.</a:t>
            </a:r>
          </a:p>
          <a:p>
            <a:pPr/>
          </a:p>
          <a:p>
            <a:pPr/>
            <a:r>
              <a:t>I start with the annoyance instead of a tour of Cursor's settings. If I open with the settings, people remember a menu. If I open with the problem, they remember the habit.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3" name="Shape 53"/>
          <p:cNvSpPr/>
          <p:nvPr>
            <p:ph type="sldImg"/>
          </p:nvPr>
        </p:nvSpPr>
        <p:spPr>
          <a:prstGeom prst="rect">
            <a:avLst/>
          </a:prstGeom>
        </p:spPr>
        <p:txBody>
          <a:bodyPr/>
          <a:lstStyle/>
          <a:p>
            <a:pPr/>
          </a:p>
        </p:txBody>
      </p:sp>
      <p:sp>
        <p:nvSpPr>
          <p:cNvPr id="54" name="Shape 54"/>
          <p:cNvSpPr/>
          <p:nvPr>
            <p:ph type="body" sz="quarter" idx="1"/>
          </p:nvPr>
        </p:nvSpPr>
        <p:spPr>
          <a:prstGeom prst="rect">
            <a:avLst/>
          </a:prstGeom>
        </p:spPr>
        <p:txBody>
          <a:bodyPr/>
          <a:lstStyle/>
          <a:p>
            <a:pPr/>
            <a:r>
              <a:t>Paste the clone command and the full handout into chat right away. The handout isn't in the repo: when it was, the agent read it and gave away the answers.</a:t>
            </a:r>
          </a:p>
          <a:p>
            <a:pPr/>
          </a:p>
          <a:p>
            <a:pPr/>
            <a:r>
              <a:t>While people clone, I tell the story: Snowtooth stands in for their own repo, and it's their first week working at Snowtooth Mountain. That way nobody sits in silence waiting.</a:t>
            </a:r>
          </a:p>
          <a:p>
            <a:pPr/>
          </a:p>
          <a:p>
            <a:pPr/>
            <a:r>
              <a:t>We skip npm install because the agent's mistakes show up in the diff. Not running the app removes the setup step that's most likely to fail.</a:t>
            </a:r>
          </a:p>
          <a:p>
            <a:pPr/>
          </a:p>
          <a:p>
            <a:pPr/>
            <a:r>
              <a:t>If someone can't clone, they watch my screen and do the handout later. I don't hold up the room for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9" name="Shape 69"/>
          <p:cNvSpPr/>
          <p:nvPr>
            <p:ph type="sldImg"/>
          </p:nvPr>
        </p:nvSpPr>
        <p:spPr>
          <a:prstGeom prst="rect">
            <a:avLst/>
          </a:prstGeom>
        </p:spPr>
        <p:txBody>
          <a:bodyPr/>
          <a:lstStyle/>
          <a:p>
            <a:pPr/>
          </a:p>
        </p:txBody>
      </p:sp>
      <p:sp>
        <p:nvSpPr>
          <p:cNvPr id="70" name="Shape 70"/>
          <p:cNvSpPr/>
          <p:nvPr>
            <p:ph type="body" sz="quarter" idx="1"/>
          </p:nvPr>
        </p:nvSpPr>
        <p:spPr>
          <a:prstGeom prst="rect">
            <a:avLst/>
          </a:prstGeom>
        </p:spPr>
        <p:txBody>
          <a:bodyPr/>
          <a:lstStyle/>
          <a:p>
            <a:pPr/>
            <a:r>
              <a:t>I see this every week. Someone pastes the same correction into chat, it works, and they close the tab. The next day the agent makes the same mistake, and their teammates never saw the correction in the first place.</a:t>
            </a:r>
          </a:p>
          <a:p>
            <a:pPr/>
          </a:p>
          <a:p>
            <a:pPr/>
            <a:r>
              <a:t>That isn't a prompting problem. The team just has nowhere to write it down.</a:t>
            </a:r>
          </a:p>
          <a:p>
            <a:pPr/>
          </a:p>
          <a:p>
            <a:pPr/>
            <a:r>
              <a:t>The conventions that bite are the ones that live in people's heads. The agent reads code, so anything the code already shows, it usually gets right. What guests call things isn't in any file.</a:t>
            </a:r>
          </a:p>
          <a:p>
            <a:pPr/>
          </a:p>
          <a:p>
            <a:pPr/>
            <a:r>
              <a:t>What this looks like at work: a company buys Cursor seats, a few people become power users, and most people end up pasting the same sentence over and over.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6" name="Shape 86"/>
          <p:cNvSpPr/>
          <p:nvPr>
            <p:ph type="sldImg"/>
          </p:nvPr>
        </p:nvSpPr>
        <p:spPr>
          <a:prstGeom prst="rect">
            <a:avLst/>
          </a:prstGeom>
        </p:spPr>
        <p:txBody>
          <a:bodyPr/>
          <a:lstStyle/>
          <a:p>
            <a:pPr/>
          </a:p>
        </p:txBody>
      </p:sp>
      <p:sp>
        <p:nvSpPr>
          <p:cNvPr id="87" name="Shape 87"/>
          <p:cNvSpPr/>
          <p:nvPr>
            <p:ph type="body" sz="quarter" idx="1"/>
          </p:nvPr>
        </p:nvSpPr>
        <p:spPr>
          <a:prstGeom prst="rect">
            <a:avLst/>
          </a:prstGeom>
        </p:spPr>
        <p:txBody>
          <a:bodyPr/>
          <a:lstStyle/>
          <a:p>
            <a:pPr/>
            <a:r>
              <a:t>These are the three outcomes, and I can watch each one happen in the room. To fit them in, I cut skills, user and team rules, Plan mode, and fixing LiftBoard. We go through one loop: see the miss, write the rule, test it in a new chat, and commit it.</a:t>
            </a:r>
          </a:p>
          <a:p>
            <a:pPr/>
          </a:p>
          <a:p>
            <a:pPr/>
            <a:r>
              <a:t>Spot it has two halves. You've corrected it more than once, and it's something the code can't show the agent. If the code already shows it, the agent usually gets it right without a rule.</a:t>
            </a:r>
          </a:p>
          <a:p>
            <a:pPr/>
          </a:p>
          <a:p>
            <a:pPr/>
            <a:r>
              <a:t>No icebreakers. We go straight into the product, because fifteen minutes is already tight.</a:t>
            </a:r>
          </a:p>
          <a:p>
            <a:pPr/>
          </a:p>
          <a:p>
            <a:pPr/>
            <a:r>
              <a:t>They already know React, so the only unfamiliar thing is the team's convention.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3" name="Shape 103"/>
          <p:cNvSpPr/>
          <p:nvPr>
            <p:ph type="sldImg"/>
          </p:nvPr>
        </p:nvSpPr>
        <p:spPr>
          <a:prstGeom prst="rect">
            <a:avLst/>
          </a:prstGeom>
        </p:spPr>
        <p:txBody>
          <a:bodyPr/>
          <a:lstStyle/>
          <a:p>
            <a:pPr/>
          </a:p>
        </p:txBody>
      </p:sp>
      <p:sp>
        <p:nvSpPr>
          <p:cNvPr id="104" name="Shape 104"/>
          <p:cNvSpPr/>
          <p:nvPr>
            <p:ph type="body" sz="quarter" idx="1"/>
          </p:nvPr>
        </p:nvSpPr>
        <p:spPr>
          <a:prstGeom prst="rect">
            <a:avLst/>
          </a:prstGeom>
        </p:spPr>
        <p:txBody>
          <a:bodyPr/>
          <a:lstStyle/>
          <a:p>
            <a:pPr/>
            <a:r>
              <a:t>We're on main, in a new Agent chat, using the exact prompt on the slide. Everyone sends it in their own Cursor at the same time, and we read the diff in two passes.</a:t>
            </a:r>
          </a:p>
          <a:p>
            <a:pPr/>
          </a:p>
          <a:p>
            <a:pPr/>
            <a:r>
              <a:t>First, the data. It almost always calls getTrails(). I open lib/snowtooth.ts and point at the comment on top: the code already says how data works, so the agent followed it. We don't need a rule for that.</a:t>
            </a:r>
          </a:p>
          <a:p>
            <a:pPr/>
          </a:p>
          <a:p>
            <a:pPr/>
            <a:r>
              <a:t>Second, the words. The heading says Trails, and the status is often a hand-styled span. I ask: where in this repo could the agent have learned that guests say runs? Nowhere. That's what a rule is for.</a:t>
            </a:r>
          </a:p>
          <a:p>
            <a:pPr/>
          </a:p>
          <a:p>
            <a:pPr/>
            <a:r>
              <a:t>This is the core idea: a rule is for what the code can't tell the agent. If someone's agent used fetch anyway, that's a good catch, and a fine pick for the challenge.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2" name="Shape 122"/>
          <p:cNvSpPr/>
          <p:nvPr>
            <p:ph type="sldImg"/>
          </p:nvPr>
        </p:nvSpPr>
        <p:spPr>
          <a:prstGeom prst="rect">
            <a:avLst/>
          </a:prstGeom>
        </p:spPr>
        <p:txBody>
          <a:bodyPr/>
          <a:lstStyle/>
          <a:p>
            <a:pPr/>
          </a:p>
        </p:txBody>
      </p:sp>
      <p:sp>
        <p:nvSpPr>
          <p:cNvPr id="123" name="Shape 123"/>
          <p:cNvSpPr/>
          <p:nvPr>
            <p:ph type="body" sz="quarter" idx="1"/>
          </p:nvPr>
        </p:nvSpPr>
        <p:spPr>
          <a:prstGeom prst="rect">
            <a:avLst/>
          </a:prstGeom>
        </p:spPr>
        <p:txBody>
          <a:bodyPr/>
          <a:lstStyle/>
          <a:p>
            <a:pPr/>
            <a:r>
              <a:t>We write this live with /create-rule, then read the file together. That's how Cursor expects you to create rules, and people still learn how to read an .mdc file.</a:t>
            </a:r>
          </a:p>
          <a:p>
            <a:pPr/>
          </a:p>
          <a:p>
            <a:pPr/>
            <a:r>
              <a:t>The description tells the agent when the rule applies. The do and don't are written as real code. And we point at @components/StatusBadge.tsx instead of pasting it in, because pasted copies go stale. An @ reference isn't pasted into the prompt: the agent reads the file only when it decides it needs to. So anything that must always apply goes in the rule's own text.</a:t>
            </a:r>
          </a:p>
          <a:p>
            <a:pPr/>
          </a:p>
          <a:p>
            <a:pPr/>
            <a:r>
              <a:t>For the live session I use alwaysApply: true so the rule definitely fires in the next two minutes. At work, letting Cursor decide is usually the better default, but I don't want a 15-minute session to depend on the model making that call.</a:t>
            </a:r>
          </a:p>
          <a:p>
            <a:pPr/>
          </a:p>
          <a:p>
            <a:pPr/>
            <a:r>
              <a:t>Cursor's docs recommend keeping each rule small and focused: one convention per rule, under 500 lines.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5" name="Shape 135"/>
          <p:cNvSpPr/>
          <p:nvPr>
            <p:ph type="sldImg"/>
          </p:nvPr>
        </p:nvSpPr>
        <p:spPr>
          <a:prstGeom prst="rect">
            <a:avLst/>
          </a:prstGeom>
        </p:spPr>
        <p:txBody>
          <a:bodyPr/>
          <a:lstStyle/>
          <a:p>
            <a:pPr/>
          </a:p>
        </p:txBody>
      </p:sp>
      <p:sp>
        <p:nvSpPr>
          <p:cNvPr id="136" name="Shape 136"/>
          <p:cNvSpPr/>
          <p:nvPr>
            <p:ph type="body" sz="quarter" idx="1"/>
          </p:nvPr>
        </p:nvSpPr>
        <p:spPr>
          <a:prstGeom prst="rect">
            <a:avLst/>
          </a:prstGeom>
        </p:spPr>
        <p:txBody>
          <a:bodyPr/>
          <a:lstStyle/>
          <a:p>
            <a:pPr/>
            <a:r>
              <a:t>Same prompt, new chat. This time the heading should say Open Runs and the status should use StatusBadge. The rule was included this time. It has nothing to do with the last chat remembering anything.</a:t>
            </a:r>
          </a:p>
          <a:p>
            <a:pPr/>
          </a:p>
          <a:p>
            <a:pPr/>
            <a:r>
              <a:t>Then everyone commits. This is the point of the whole session: a rule that only lives on your laptop is a personal preference, and a rule in git is how the whole team gets the same behavior tomorrow.</a:t>
            </a:r>
          </a:p>
          <a:p>
            <a:pPr/>
          </a:p>
          <a:p>
            <a:pPr/>
            <a:r>
              <a:t>If it doesn't work, I check that the file ends in .mdc, confirm alwaysApply is set, and try one more new chat. If it still fails, I switch to the checkpoint branch and play the 90-second recording.</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8" name="Shape 148"/>
          <p:cNvSpPr/>
          <p:nvPr>
            <p:ph type="sldImg"/>
          </p:nvPr>
        </p:nvSpPr>
        <p:spPr>
          <a:prstGeom prst="rect">
            <a:avLst/>
          </a:prstGeom>
        </p:spPr>
        <p:txBody>
          <a:bodyPr/>
          <a:lstStyle/>
          <a:p>
            <a:pPr/>
          </a:p>
        </p:txBody>
      </p:sp>
      <p:sp>
        <p:nvSpPr>
          <p:cNvPr id="149" name="Shape 149"/>
          <p:cNvSpPr/>
          <p:nvPr>
            <p:ph type="body" sz="quarter" idx="1"/>
          </p:nvPr>
        </p:nvSpPr>
        <p:spPr>
          <a:prstGeom prst="rect">
            <a:avLst/>
          </a:prstGeom>
        </p:spPr>
        <p:txBody>
          <a:bodyPr/>
          <a:lstStyle/>
          <a:p>
            <a:pPr/>
            <a:r>
              <a:t>I do each step on my screen first, then give the room a few seconds.</a:t>
            </a:r>
          </a:p>
          <a:p>
            <a:pPr/>
          </a:p>
          <a:p>
            <a:pPr/>
            <a:r>
              <a:t>git stash -u resets everyone the same way. The next chat has to start from a clean folder, or it will copy the panel the last chat left behind. Restore Checkpoint also works, but it only shows up when you hover over an earlier message, and people lose minutes hunting for it on a call.</a:t>
            </a:r>
          </a:p>
          <a:p>
            <a:pPr/>
          </a:p>
          <a:p>
            <a:pPr/>
            <a:r>
              <a:t>I count the skis in chat to see how it's going. Anyone who's behind runs git stash -u &amp;&amp; git checkout checkpoint and goes straight to the challenge.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8" name="Shape 168"/>
          <p:cNvSpPr/>
          <p:nvPr>
            <p:ph type="sldImg"/>
          </p:nvPr>
        </p:nvSpPr>
        <p:spPr>
          <a:prstGeom prst="rect">
            <a:avLst/>
          </a:prstGeom>
        </p:spPr>
        <p:txBody>
          <a:bodyPr/>
          <a:lstStyle/>
          <a:p>
            <a:pPr/>
          </a:p>
        </p:txBody>
      </p:sp>
      <p:sp>
        <p:nvSpPr>
          <p:cNvPr id="169" name="Shape 169"/>
          <p:cNvSpPr/>
          <p:nvPr>
            <p:ph type="body" sz="quarter" idx="1"/>
          </p:nvPr>
        </p:nvSpPr>
        <p:spPr>
          <a:prstGeom prst="rect">
            <a:avLst/>
          </a:prstGeom>
        </p:spPr>
        <p:txBody>
          <a:bodyPr/>
          <a:lstStyle/>
          <a:p>
            <a:pPr/>
            <a:r>
              <a:t>If people screenshot one slide, I want it to be this one.</a:t>
            </a:r>
          </a:p>
          <a:p>
            <a:pPr/>
          </a:p>
          <a:p>
            <a:pPr/>
            <a:r>
              <a:t>The new first row ties back to Part 1: the data client didn't need a rule, because lib/snowtooth.ts explains itself. Rules are for what the code can't say.</a:t>
            </a:r>
          </a:p>
          <a:p>
            <a:pPr/>
          </a:p>
          <a:p>
            <a:pPr/>
            <a:r>
              <a:t>I go through the rest quickly, but I slow down on security: a rule is guidance for the AI, not a security control. Rules don't apply to Tab or Cmd+K, so if completions still say trails, the rule isn't broken.</a:t>
            </a:r>
          </a:p>
          <a:p>
            <a:pPr/>
          </a:p>
          <a:p>
            <a:pPr/>
            <a:r>
              <a:t>Skills get one sentence: a skill is for when you keep explaining a whole routine, not a single sentence. That's why they get their own session.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8" name="Shape 168"/>
          <p:cNvSpPr/>
          <p:nvPr>
            <p:ph type="sldImg"/>
          </p:nvPr>
        </p:nvSpPr>
        <p:spPr>
          <a:prstGeom prst="rect">
            <a:avLst/>
          </a:prstGeom>
        </p:spPr>
        <p:txBody>
          <a:bodyPr/>
          <a:lstStyle/>
          <a:p>
            <a:pPr/>
          </a:p>
        </p:txBody>
      </p:sp>
      <p:sp>
        <p:nvSpPr>
          <p:cNvPr id="169" name="Shape 169"/>
          <p:cNvSpPr/>
          <p:nvPr>
            <p:ph type="body" sz="quarter" idx="1"/>
          </p:nvPr>
        </p:nvSpPr>
        <p:spPr>
          <a:prstGeom prst="rect">
            <a:avLst/>
          </a:prstGeom>
        </p:spPr>
        <p:txBody>
          <a:bodyPr/>
          <a:lstStyle/>
          <a:p>
            <a:pPr/>
            <a:r>
              <a:t>This is the last stop, and it's how I know the session worked. Everyone writes one rule on their own, for something the code doesn't already say, and pastes it into chat.</a:t>
            </a:r>
          </a:p>
          <a:p>
            <a:pPr/>
          </a:p>
          <a:p>
            <a:pPr/>
            <a:r>
              <a:t>If anyone's stuck: guests read difficulty from the trail map symbols, green circle, blue square, black diamond, double black diamond, never the words. The prompt on the slide shows the miss. The complete branch has one possible answer.</a:t>
            </a:r>
          </a:p>
          <a:p>
            <a:pPr/>
          </a:p>
          <a:p>
            <a:pPr/>
            <a:r>
              <a:t>If the rules people post have a description, a do and a don't, and a pointer to a real file, they can do this without me. If they picked something the code couldn't have told the agent, they understood when to reach for a rule.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3" name="Shape 53"/>
          <p:cNvSpPr/>
          <p:nvPr>
            <p:ph type="sldImg"/>
          </p:nvPr>
        </p:nvSpPr>
        <p:spPr>
          <a:prstGeom prst="rect">
            <a:avLst/>
          </a:prstGeom>
        </p:spPr>
        <p:txBody>
          <a:bodyPr/>
          <a:lstStyle/>
          <a:p>
            <a:pPr/>
          </a:p>
        </p:txBody>
      </p:sp>
      <p:sp>
        <p:nvSpPr>
          <p:cNvPr id="54" name="Shape 54"/>
          <p:cNvSpPr/>
          <p:nvPr>
            <p:ph type="body" sz="quarter" idx="1"/>
          </p:nvPr>
        </p:nvSpPr>
        <p:spPr>
          <a:prstGeom prst="rect">
            <a:avLst/>
          </a:prstGeom>
        </p:spPr>
        <p:txBody>
          <a:bodyPr/>
          <a:lstStyle/>
          <a:p>
            <a:pPr/>
            <a:r>
              <a:t>Welcome to your first day at Snowtooth Mountain. This is the mountain: eleven lifts and sixty-nine runs. Every name on this map comes from the data in the repo you're about to clone.</a:t>
            </a:r>
          </a:p>
          <a:p>
            <a:pPr/>
          </a:p>
          <a:p>
            <a:pPr/>
            <a:r>
              <a:t>Our team builds the lift board, the screens in the lodge that tell guests which lifts and runs are open. You've got the repo, and you've got Cursor. Cursor is new here too, and nobody has told it how we do things yet.</a:t>
            </a:r>
          </a:p>
          <a:p>
            <a:pPr/>
          </a:p>
          <a:p>
            <a:pPr/>
            <a:r>
              <a:t>Notice I keep saying runs, not trails. That's on purpose, and it comes back later.</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EFAULT">
    <p:spTree>
      <p:nvGrpSpPr>
        <p:cNvPr id="1" name=""/>
        <p:cNvGrpSpPr/>
        <p:nvPr/>
      </p:nvGrpSpPr>
      <p:grpSpPr>
        <a:xfrm>
          <a:off x="0" y="0"/>
          <a:ext cx="0" cy="0"/>
          <a:chOff x="0" y="0"/>
          <a:chExt cx="0" cy="0"/>
        </a:xfrm>
      </p:grpSpPr>
      <p:sp>
        <p:nvSpPr>
          <p:cNvPr id="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p:bg>
      <p:bgPr>
        <a:solidFill>
          <a:srgbClr val="0A0A0A"/>
        </a:solidFill>
      </p:bgPr>
    </p:bg>
    <p:spTree>
      <p:nvGrpSpPr>
        <p:cNvPr id="1" name=""/>
        <p:cNvGrpSpPr/>
        <p:nvPr/>
      </p:nvGrpSpPr>
      <p:grpSpPr>
        <a:xfrm>
          <a:off x="0" y="0"/>
          <a:ext cx="0" cy="0"/>
          <a:chOff x="0" y="0"/>
          <a:chExt cx="0" cy="0"/>
        </a:xfrm>
      </p:grpSpPr>
      <p:sp>
        <p:nvSpPr>
          <p:cNvPr id="18" name="Click to add title"/>
          <p:cNvSpPr txBox="1"/>
          <p:nvPr>
            <p:ph type="title" hasCustomPrompt="1"/>
          </p:nvPr>
        </p:nvSpPr>
        <p:spPr>
          <a:xfrm>
            <a:off x="548640" y="1554480"/>
            <a:ext cx="8046720" cy="1554481"/>
          </a:xfrm>
          <a:prstGeom prst="rect">
            <a:avLst/>
          </a:prstGeom>
        </p:spPr>
        <p:txBody>
          <a:bodyPr anchor="t">
            <a:normAutofit fontScale="100000" lnSpcReduction="0"/>
          </a:bodyPr>
          <a:lstStyle>
            <a:lvl1pPr algn="l">
              <a:defRPr>
                <a:solidFill>
                  <a:schemeClr val="accent1"/>
                </a:solidFill>
              </a:defRPr>
            </a:lvl1pPr>
          </a:lstStyle>
          <a:p>
            <a:pPr/>
            <a:r>
              <a:t>Click to add title</a:t>
            </a:r>
          </a:p>
        </p:txBody>
      </p:sp>
      <p:sp>
        <p:nvSpPr>
          <p:cNvPr id="1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NTENT">
    <p:bg>
      <p:bgPr>
        <a:solidFill>
          <a:srgbClr val="0A0A0A"/>
        </a:solidFill>
      </p:bgPr>
    </p:bg>
    <p:spTree>
      <p:nvGrpSpPr>
        <p:cNvPr id="1" name=""/>
        <p:cNvGrpSpPr/>
        <p:nvPr/>
      </p:nvGrpSpPr>
      <p:grpSpPr>
        <a:xfrm>
          <a:off x="0" y="0"/>
          <a:ext cx="0" cy="0"/>
          <a:chOff x="0" y="0"/>
          <a:chExt cx="0" cy="0"/>
        </a:xfrm>
      </p:grpSpPr>
      <p:sp>
        <p:nvSpPr>
          <p:cNvPr id="26" name="Click to add title"/>
          <p:cNvSpPr txBox="1"/>
          <p:nvPr>
            <p:ph type="title" hasCustomPrompt="1"/>
          </p:nvPr>
        </p:nvSpPr>
        <p:spPr>
          <a:xfrm>
            <a:off x="457200" y="292608"/>
            <a:ext cx="8229600" cy="530352"/>
          </a:xfrm>
          <a:prstGeom prst="rect">
            <a:avLst/>
          </a:prstGeom>
        </p:spPr>
        <p:txBody>
          <a:bodyPr anchor="t">
            <a:normAutofit fontScale="100000" lnSpcReduction="0"/>
          </a:bodyPr>
          <a:lstStyle>
            <a:lvl1pPr algn="l">
              <a:defRPr sz="2600">
                <a:solidFill>
                  <a:schemeClr val="accent1"/>
                </a:solidFill>
              </a:defRPr>
            </a:lvl1pPr>
          </a:lstStyle>
          <a:p>
            <a:pPr/>
            <a:r>
              <a:t>Click to add title</a:t>
            </a:r>
          </a:p>
        </p:txBody>
      </p:sp>
      <p:sp>
        <p:nvSpPr>
          <p:cNvPr id="27" name="Slide Number"/>
          <p:cNvSpPr txBox="1"/>
          <p:nvPr>
            <p:ph type="sldNum" sz="quarter" idx="2"/>
          </p:nvPr>
        </p:nvSpPr>
        <p:spPr>
          <a:xfrm>
            <a:off x="8549640" y="4828032"/>
            <a:ext cx="245403" cy="226986"/>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chemeClr val="accent1"/>
        </a:solidFill>
      </p:bgPr>
    </p:bg>
    <p:spTree>
      <p:nvGrpSpPr>
        <p:cNvPr id="1" name=""/>
        <p:cNvGrpSpPr/>
        <p:nvPr/>
      </p:nvGrpSpPr>
      <p:grpSpPr>
        <a:xfrm>
          <a:off x="0" y="0"/>
          <a:ext cx="0" cy="0"/>
          <a:chOff x="0" y="0"/>
          <a:chExt cx="0" cy="0"/>
        </a:xfrm>
      </p:grpSpPr>
      <p:sp>
        <p:nvSpPr>
          <p:cNvPr id="2" name="Title Text"/>
          <p:cNvSpPr txBox="1"/>
          <p:nvPr>
            <p:ph type="title"/>
          </p:nvPr>
        </p:nvSpPr>
        <p:spPr>
          <a:xfrm>
            <a:off x="457200" y="69056"/>
            <a:ext cx="8229600" cy="1131094"/>
          </a:xfrm>
          <a:prstGeom prst="rect">
            <a:avLst/>
          </a:prstGeom>
          <a:ln w="12700">
            <a:miter lim="400000"/>
          </a:ln>
          <a:extLst>
            <a:ext uri="{C572A759-6A51-4108-AA02-DFA0A04FC94B}">
              <ma14:wrappingTextBoxFlag xmlns:ma14="http://schemas.microsoft.com/office/mac/drawingml/2011/main" val="1"/>
            </a:ext>
          </a:extLst>
        </p:spPr>
        <p:txBody>
          <a:bodyPr lIns="45719" rIns="45719" anchor="ctr"/>
          <a:lstStyle/>
          <a:p>
            <a:pPr/>
            <a:r>
              <a:t>Title Text</a:t>
            </a:r>
          </a:p>
        </p:txBody>
      </p:sp>
      <p:sp>
        <p:nvSpPr>
          <p:cNvPr id="3" name="Body Level One…"/>
          <p:cNvSpPr txBox="1"/>
          <p:nvPr>
            <p:ph type="body" idx="1"/>
          </p:nvPr>
        </p:nvSpPr>
        <p:spPr>
          <a:xfrm>
            <a:off x="457200" y="1200150"/>
            <a:ext cx="8229600" cy="3943350"/>
          </a:xfrm>
          <a:prstGeom prst="rect">
            <a:avLst/>
          </a:prstGeom>
          <a:ln w="12700">
            <a:miter lim="400000"/>
          </a:ln>
          <a:extLst>
            <a:ext uri="{C572A759-6A51-4108-AA02-DFA0A04FC94B}">
              <ma14:wrappingTextBoxFlag xmlns:ma14="http://schemas.microsoft.com/office/mac/drawingml/2011/main" val="1"/>
            </a:ext>
          </a:extLst>
        </p:spPr>
        <p:txBody>
          <a:bodyPr lIns="45719" rIns="45719"/>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6553200" y="4767262"/>
            <a:ext cx="2133600" cy="279401"/>
          </a:xfrm>
          <a:prstGeom prst="rect">
            <a:avLst/>
          </a:prstGeom>
          <a:ln w="12700">
            <a:miter lim="400000"/>
          </a:ln>
        </p:spPr>
        <p:txBody>
          <a:bodyPr wrap="none" lIns="45719" rIns="45719">
            <a:spAutoFit/>
          </a:bodyPr>
          <a:lstStyle>
            <a:lvl1pPr>
              <a:defRPr sz="1000">
                <a:solidFill>
                  <a:schemeClr val="accent2"/>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Lst>
  <p:transition xmlns:p14="http://schemas.microsoft.com/office/powerpoint/2010/main" spd="med" advClick="1"/>
  <p:txStyles>
    <p:titleStyle>
      <a:lvl1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1pPr>
      <a:lvl2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2pPr>
      <a:lvl3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3pPr>
      <a:lvl4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4pPr>
      <a:lvl5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5pPr>
      <a:lvl6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6pPr>
      <a:lvl7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7pPr>
      <a:lvl8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8pPr>
      <a:lvl9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9pPr>
    </p:titleStyle>
    <p:bodyStyle>
      <a:lvl1pPr marL="342900" marR="0" indent="-3429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1pPr>
      <a:lvl2pPr marL="783771" marR="0" indent="-326571"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2pPr>
      <a:lvl3pPr marL="1219200" marR="0" indent="-3048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3pPr>
      <a:lvl4pPr marL="17373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4pPr>
      <a:lvl5pPr marL="21945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5pPr>
      <a:lvl6pPr marL="26517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6pPr>
      <a:lvl7pPr marL="31089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7pPr>
      <a:lvl8pPr marL="35661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8pPr>
      <a:lvl9pPr marL="40233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9pPr>
    </p:bodyStyle>
    <p:otherStyle>
      <a:lvl1pPr marL="0" marR="0" indent="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1pPr>
      <a:lvl2pPr marL="0" marR="0" indent="4572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2pPr>
      <a:lvl3pPr marL="0" marR="0" indent="9144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3pPr>
      <a:lvl4pPr marL="0" marR="0" indent="13716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4pPr>
      <a:lvl5pPr marL="0" marR="0" indent="18288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5pPr>
      <a:lvl6pPr marL="0" marR="0" indent="22860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6pPr>
      <a:lvl7pPr marL="0" marR="0" indent="27432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7pPr>
      <a:lvl8pPr marL="0" marR="0" indent="32004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8pPr>
      <a:lvl9pPr marL="0" marR="0" indent="36576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50" name="mountain-back-1" descr="Decorative mountain"/>
          <p:cNvSpPr/>
          <p:nvPr/>
        </p:nvSpPr>
        <p:spPr>
          <a:xfrm>
            <a:off x="0" y="4274820"/>
            <a:ext cx="3840480" cy="868680"/>
          </a:xfrm>
          <a:prstGeom prst="triangle">
            <a:avLst>
              <a:gd name="adj" fmla="val 40000"/>
            </a:avLst>
          </a:prstGeom>
          <a:solidFill>
            <a:srgbClr val="262626"/>
          </a:solidFill>
          <a:ln>
            <a:noFill/>
          </a:ln>
        </p:spPr>
        <p:txBody>
          <a:bodyPr/>
          <a:lstStyle/>
          <a:p>
            <a:endParaRPr lang="en-US"/>
          </a:p>
        </p:txBody>
      </p:sp>
      <p:sp>
        <p:nvSpPr>
          <p:cNvPr id="951" name="mountain-back-2" descr="Decorative mountain"/>
          <p:cNvSpPr/>
          <p:nvPr/>
        </p:nvSpPr>
        <p:spPr>
          <a:xfrm>
            <a:off x="2194560" y="3909060"/>
            <a:ext cx="4572000" cy="1234440"/>
          </a:xfrm>
          <a:prstGeom prst="triangle">
            <a:avLst>
              <a:gd name="adj" fmla="val 50000"/>
            </a:avLst>
          </a:prstGeom>
          <a:solidFill>
            <a:srgbClr val="262626"/>
          </a:solidFill>
          <a:ln>
            <a:noFill/>
          </a:ln>
        </p:spPr>
        <p:txBody>
          <a:bodyPr/>
          <a:lstStyle/>
          <a:p>
            <a:endParaRPr lang="en-US"/>
          </a:p>
        </p:txBody>
      </p:sp>
      <p:sp>
        <p:nvSpPr>
          <p:cNvPr id="952" name="mountain-back-3" descr="Decorative mountain"/>
          <p:cNvSpPr/>
          <p:nvPr/>
        </p:nvSpPr>
        <p:spPr>
          <a:xfrm>
            <a:off x="5303520" y="4183380"/>
            <a:ext cx="3840480" cy="960120"/>
          </a:xfrm>
          <a:prstGeom prst="triangle">
            <a:avLst>
              <a:gd name="adj" fmla="val 55000"/>
            </a:avLst>
          </a:prstGeom>
          <a:solidFill>
            <a:srgbClr val="262626"/>
          </a:solidFill>
          <a:ln>
            <a:noFill/>
          </a:ln>
        </p:spPr>
        <p:txBody>
          <a:bodyPr/>
          <a:lstStyle/>
          <a:p>
            <a:endParaRPr lang="en-US"/>
          </a:p>
        </p:txBody>
      </p:sp>
      <p:sp>
        <p:nvSpPr>
          <p:cNvPr id="953" name="snowcap-1" descr="Decorative snowcap"/>
          <p:cNvSpPr/>
          <p:nvPr/>
        </p:nvSpPr>
        <p:spPr>
          <a:xfrm>
            <a:off x="1167505" y="4274820"/>
            <a:ext cx="921715" cy="208483"/>
          </a:xfrm>
          <a:prstGeom prst="triangle">
            <a:avLst>
              <a:gd name="adj" fmla="val 40000"/>
            </a:avLst>
          </a:prstGeom>
          <a:solidFill>
            <a:srgbClr val="5C5C5C"/>
          </a:solidFill>
          <a:ln>
            <a:noFill/>
          </a:ln>
        </p:spPr>
        <p:txBody>
          <a:bodyPr/>
          <a:lstStyle/>
          <a:p>
            <a:endParaRPr lang="en-US"/>
          </a:p>
        </p:txBody>
      </p:sp>
      <p:sp>
        <p:nvSpPr>
          <p:cNvPr id="954" name="snowcap-2" descr="Decorative snowcap"/>
          <p:cNvSpPr/>
          <p:nvPr/>
        </p:nvSpPr>
        <p:spPr>
          <a:xfrm>
            <a:off x="3931920" y="3909060"/>
            <a:ext cx="1097280" cy="296265"/>
          </a:xfrm>
          <a:prstGeom prst="triangle">
            <a:avLst>
              <a:gd name="adj" fmla="val 50000"/>
            </a:avLst>
          </a:prstGeom>
          <a:solidFill>
            <a:srgbClr val="5C5C5C"/>
          </a:solidFill>
          <a:ln>
            <a:noFill/>
          </a:ln>
        </p:spPr>
        <p:txBody>
          <a:bodyPr/>
          <a:lstStyle/>
          <a:p>
            <a:endParaRPr lang="en-US"/>
          </a:p>
        </p:txBody>
      </p:sp>
      <p:sp>
        <p:nvSpPr>
          <p:cNvPr id="955" name="snowcap-3" descr="Decorative snowcap"/>
          <p:cNvSpPr/>
          <p:nvPr/>
        </p:nvSpPr>
        <p:spPr>
          <a:xfrm>
            <a:off x="6908840" y="4183380"/>
            <a:ext cx="921715" cy="230428"/>
          </a:xfrm>
          <a:prstGeom prst="triangle">
            <a:avLst>
              <a:gd name="adj" fmla="val 55000"/>
            </a:avLst>
          </a:prstGeom>
          <a:solidFill>
            <a:srgbClr val="5C5C5C"/>
          </a:solidFill>
          <a:ln>
            <a:noFill/>
          </a:ln>
        </p:spPr>
        <p:txBody>
          <a:bodyPr/>
          <a:lstStyle/>
          <a:p>
            <a:endParaRPr lang="en-US"/>
          </a:p>
        </p:txBody>
      </p:sp>
      <p:sp>
        <p:nvSpPr>
          <p:cNvPr id="956" name="mountain-front-1" descr="Decorative mountain"/>
          <p:cNvSpPr/>
          <p:nvPr/>
        </p:nvSpPr>
        <p:spPr>
          <a:xfrm>
            <a:off x="0" y="4640580"/>
            <a:ext cx="4206240" cy="502920"/>
          </a:xfrm>
          <a:prstGeom prst="triangle">
            <a:avLst>
              <a:gd name="adj" fmla="val 35000"/>
            </a:avLst>
          </a:prstGeom>
          <a:solidFill>
            <a:srgbClr val="171717"/>
          </a:solidFill>
          <a:ln>
            <a:noFill/>
          </a:ln>
        </p:spPr>
        <p:txBody>
          <a:bodyPr/>
          <a:lstStyle/>
          <a:p>
            <a:endParaRPr lang="en-US"/>
          </a:p>
        </p:txBody>
      </p:sp>
      <p:sp>
        <p:nvSpPr>
          <p:cNvPr id="957" name="mountain-front-2" descr="Decorative mountain"/>
          <p:cNvSpPr/>
          <p:nvPr/>
        </p:nvSpPr>
        <p:spPr>
          <a:xfrm>
            <a:off x="2743200" y="4485132"/>
            <a:ext cx="4572000" cy="658368"/>
          </a:xfrm>
          <a:prstGeom prst="triangle">
            <a:avLst>
              <a:gd name="adj" fmla="val 55000"/>
            </a:avLst>
          </a:prstGeom>
          <a:solidFill>
            <a:srgbClr val="171717"/>
          </a:solidFill>
          <a:ln>
            <a:noFill/>
          </a:ln>
        </p:spPr>
        <p:txBody>
          <a:bodyPr/>
          <a:lstStyle/>
          <a:p>
            <a:endParaRPr lang="en-US"/>
          </a:p>
        </p:txBody>
      </p:sp>
      <p:sp>
        <p:nvSpPr>
          <p:cNvPr id="958" name="mountain-front-3" descr="Decorative mountain"/>
          <p:cNvSpPr/>
          <p:nvPr/>
        </p:nvSpPr>
        <p:spPr>
          <a:xfrm>
            <a:off x="5669280" y="4686300"/>
            <a:ext cx="3474720" cy="457200"/>
          </a:xfrm>
          <a:prstGeom prst="triangle">
            <a:avLst>
              <a:gd name="adj" fmla="val 45000"/>
            </a:avLst>
          </a:prstGeom>
          <a:solidFill>
            <a:srgbClr val="171717"/>
          </a:solidFill>
          <a:ln>
            <a:noFill/>
          </a:ln>
        </p:spPr>
        <p:txBody>
          <a:bodyPr/>
          <a:lstStyle/>
          <a:p>
            <a:endParaRPr lang="en-US"/>
          </a:p>
        </p:txBody>
      </p:sp>
      <p:sp>
        <p:nvSpPr>
          <p:cNvPr id="36" name="Text 0"/>
          <p:cNvSpPr txBox="1"/>
          <p:nvPr>
            <p:ph type="title"/>
          </p:nvPr>
        </p:nvSpPr>
        <p:spPr>
          <a:xfrm>
            <a:off x="548640" y="1554480"/>
            <a:ext cx="8046719" cy="1554481"/>
          </a:xfrm>
          <a:prstGeom prst="rect">
            <a:avLst/>
          </a:prstGeom>
        </p:spPr>
        <p:txBody>
          <a:bodyPr lIns="0" tIns="0" rIns="0" bIns="0" anchor="ctr"/>
          <a:lstStyle/>
          <a:p>
            <a:pPr/>
            <a:r>
              <a:t>Stop repeating yourself</a:t>
            </a:r>
          </a:p>
          <a:p>
            <a:pPr/>
            <a:r>
              <a:t>to Cursor</a:t>
            </a:r>
          </a:p>
        </p:txBody>
      </p:sp>
      <p:sp>
        <p:nvSpPr>
          <p:cNvPr id="37" name="eyebrow"/>
          <p:cNvSpPr txBox="1"/>
          <p:nvPr/>
        </p:nvSpPr>
        <p:spPr>
          <a:xfrm>
            <a:off x="548640" y="1209548"/>
            <a:ext cx="804671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chemeClr val="accent2"/>
                </a:solidFill>
                <a:latin typeface="Courier New"/>
                <a:ea typeface="Courier New"/>
                <a:cs typeface="Courier New"/>
                <a:sym typeface="Courier New"/>
              </a:defRPr>
            </a:lvl1pPr>
          </a:lstStyle>
          <a:p>
            <a:pPr/>
            <a:r>
              <a:t>SNOWTOOTH</a:t>
            </a:r>
          </a:p>
        </p:txBody>
      </p:sp>
      <p:sp>
        <p:nvSpPr>
          <p:cNvPr id="38" name="byline"/>
          <p:cNvSpPr txBox="1"/>
          <p:nvPr/>
        </p:nvSpPr>
        <p:spPr>
          <a:xfrm>
            <a:off x="548640" y="3339452"/>
            <a:ext cx="8046719"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15 min   Eve Porcello   a rule the team can use tomorrow</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 name="Text 0"/>
          <p:cNvSpPr txBox="1"/>
          <p:nvPr>
            <p:ph type="title"/>
          </p:nvPr>
        </p:nvSpPr>
        <p:spPr>
          <a:xfrm>
            <a:off x="457200" y="292608"/>
            <a:ext cx="8229600" cy="530353"/>
          </a:xfrm>
          <a:prstGeom prst="rect">
            <a:avLst/>
          </a:prstGeom>
        </p:spPr>
        <p:txBody>
          <a:bodyPr lIns="0" tIns="0" rIns="0" bIns="0" anchor="ctr"/>
          <a:lstStyle/>
          <a:p>
            <a:pPr/>
            <a:r>
              <a:t>Clone the repo and open it in Cursor</a:t>
            </a:r>
          </a:p>
        </p:txBody>
      </p:sp>
      <p:sp>
        <p:nvSpPr>
          <p:cNvPr id="43" name="clone-card"/>
          <p:cNvSpPr/>
          <p:nvPr/>
        </p:nvSpPr>
        <p:spPr>
          <a:xfrm>
            <a:off x="457200" y="987552"/>
            <a:ext cx="8229600" cy="1188721"/>
          </a:xfrm>
          <a:prstGeom prst="rect">
            <a:avLst/>
          </a:prstGeom>
          <a:solidFill>
            <a:srgbClr val="141414"/>
          </a:solidFill>
          <a:ln w="12700">
            <a:miter lim="400000"/>
          </a:ln>
        </p:spPr>
        <p:txBody>
          <a:bodyPr lIns="45719" rIns="45719"/>
          <a:lstStyle/>
          <a:p>
            <a:pPr/>
          </a:p>
        </p:txBody>
      </p:sp>
      <p:sp>
        <p:nvSpPr>
          <p:cNvPr id="44" name="clone-label"/>
          <p:cNvSpPr txBox="1"/>
          <p:nvPr/>
        </p:nvSpPr>
        <p:spPr>
          <a:xfrm>
            <a:off x="658368" y="1167383"/>
            <a:ext cx="7772401"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chemeClr val="accent2"/>
                </a:solidFill>
                <a:latin typeface="Courier New"/>
                <a:ea typeface="Courier New"/>
                <a:cs typeface="Courier New"/>
                <a:sym typeface="Courier New"/>
              </a:defRPr>
            </a:lvl1pPr>
          </a:lstStyle>
          <a:p>
            <a:pPr/>
            <a:r>
              <a:t>TERMINAL</a:t>
            </a:r>
          </a:p>
        </p:txBody>
      </p:sp>
      <p:sp>
        <p:nvSpPr>
          <p:cNvPr id="45" name="clone-command"/>
          <p:cNvSpPr txBox="1"/>
          <p:nvPr/>
        </p:nvSpPr>
        <p:spPr>
          <a:xfrm>
            <a:off x="658367" y="1604772"/>
            <a:ext cx="7827266" cy="228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latin typeface="Courier New"/>
                <a:ea typeface="Courier New"/>
                <a:cs typeface="Courier New"/>
                <a:sym typeface="Courier New"/>
              </a:defRPr>
            </a:lvl1pPr>
          </a:lstStyle>
          <a:p>
            <a:pPr/>
            <a:r>
              <a:t>git clone https://github.com/eveporcello/snowtooth-rules.git</a:t>
            </a:r>
          </a:p>
        </p:txBody>
      </p:sp>
      <p:sp>
        <p:nvSpPr>
          <p:cNvPr id="900" name="trail-1" descr="Green circle: easiest"/>
          <p:cNvSpPr/>
          <p:nvPr/>
        </p:nvSpPr>
        <p:spPr>
          <a:xfrm>
            <a:off x="475487" y="2478023"/>
            <a:ext cx="182880" cy="182880"/>
          </a:xfrm>
          <a:prstGeom prst="ellipse">
            <a:avLst/>
          </a:prstGeom>
          <a:solidFill>
            <a:srgbClr val="1F9D55"/>
          </a:solidFill>
          <a:ln>
            <a:noFill/>
          </a:ln>
        </p:spPr>
        <p:txBody>
          <a:bodyPr/>
          <a:lstStyle/>
          <a:p>
            <a:endParaRPr lang="en-US"/>
          </a:p>
        </p:txBody>
      </p:sp>
      <p:sp>
        <p:nvSpPr>
          <p:cNvPr id="47" name="setup-text-01"/>
          <p:cNvSpPr txBox="1"/>
          <p:nvPr/>
        </p:nvSpPr>
        <p:spPr>
          <a:xfrm>
            <a:off x="1051559" y="2458487"/>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Open the snowtooth-rules folder in Cursor. Stay on main.</a:t>
            </a:r>
          </a:p>
        </p:txBody>
      </p:sp>
      <p:sp>
        <p:nvSpPr>
          <p:cNvPr id="901" name="trail-2" descr="Blue square: more difficult"/>
          <p:cNvSpPr/>
          <p:nvPr/>
        </p:nvSpPr>
        <p:spPr>
          <a:xfrm>
            <a:off x="484631" y="2944367"/>
            <a:ext cx="164592" cy="164592"/>
          </a:xfrm>
          <a:prstGeom prst="rect">
            <a:avLst/>
          </a:prstGeom>
          <a:solidFill>
            <a:srgbClr val="3B82F6"/>
          </a:solidFill>
          <a:ln>
            <a:noFill/>
          </a:ln>
        </p:spPr>
        <p:txBody>
          <a:bodyPr/>
          <a:lstStyle/>
          <a:p>
            <a:endParaRPr lang="en-US"/>
          </a:p>
        </p:txBody>
      </p:sp>
      <p:sp>
        <p:nvSpPr>
          <p:cNvPr id="49" name="setup-text-02"/>
          <p:cNvSpPr txBox="1"/>
          <p:nvPr/>
        </p:nvSpPr>
        <p:spPr>
          <a:xfrm>
            <a:off x="1051559" y="2915687"/>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Open the handout from chat. We'll follow it together.</a:t>
            </a:r>
          </a:p>
        </p:txBody>
      </p:sp>
      <p:sp>
        <p:nvSpPr>
          <p:cNvPr id="902" name="trail-3" descr="Black diamond: most difficult"/>
          <p:cNvSpPr/>
          <p:nvPr/>
        </p:nvSpPr>
        <p:spPr>
          <a:xfrm>
            <a:off x="461771" y="3378708"/>
            <a:ext cx="210312" cy="210312"/>
          </a:xfrm>
          <a:prstGeom prst="diamond">
            <a:avLst/>
          </a:prstGeom>
          <a:solidFill>
            <a:srgbClr val="0A0A0A"/>
          </a:solidFill>
          <a:ln w="19050">
            <a:solidFill>
              <a:srgbClr val="F2F2F2"/>
            </a:solidFill>
          </a:ln>
        </p:spPr>
        <p:txBody>
          <a:bodyPr/>
          <a:lstStyle/>
          <a:p>
            <a:endParaRPr lang="en-US"/>
          </a:p>
        </p:txBody>
      </p:sp>
      <p:sp>
        <p:nvSpPr>
          <p:cNvPr id="51" name="setup-text-03"/>
          <p:cNvSpPr txBox="1"/>
          <p:nvPr/>
        </p:nvSpPr>
        <p:spPr>
          <a:xfrm>
            <a:off x="1051559" y="3372887"/>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You don't need npm install. We'll be reading diffs, not the app.</a:t>
            </a:r>
          </a:p>
        </p:txBody>
      </p:sp>
      <p:sp>
        <p:nvSpPr>
          <p:cNvPr id="52"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6" name="Text 0"/>
          <p:cNvSpPr txBox="1"/>
          <p:nvPr>
            <p:ph type="title"/>
          </p:nvPr>
        </p:nvSpPr>
        <p:spPr>
          <a:xfrm>
            <a:off x="457200" y="292608"/>
            <a:ext cx="8229600" cy="530353"/>
          </a:xfrm>
          <a:prstGeom prst="rect">
            <a:avLst/>
          </a:prstGeom>
        </p:spPr>
        <p:txBody>
          <a:bodyPr lIns="0" tIns="0" rIns="0" bIns="0" anchor="ctr"/>
          <a:lstStyle/>
          <a:p>
            <a:pPr/>
            <a:r>
              <a:t>You keep typing the same correction</a:t>
            </a:r>
          </a:p>
        </p:txBody>
      </p:sp>
      <p:sp>
        <p:nvSpPr>
          <p:cNvPr id="57" name="quote-card"/>
          <p:cNvSpPr/>
          <p:nvPr/>
        </p:nvSpPr>
        <p:spPr>
          <a:xfrm>
            <a:off x="457200" y="987552"/>
            <a:ext cx="8229600" cy="1115569"/>
          </a:xfrm>
          <a:prstGeom prst="rect">
            <a:avLst/>
          </a:prstGeom>
          <a:solidFill>
            <a:srgbClr val="141414"/>
          </a:solidFill>
          <a:ln w="12700">
            <a:miter lim="400000"/>
          </a:ln>
        </p:spPr>
        <p:txBody>
          <a:bodyPr lIns="45719" rIns="45719"/>
          <a:lstStyle/>
          <a:p>
            <a:pPr/>
          </a:p>
        </p:txBody>
      </p:sp>
      <p:sp>
        <p:nvSpPr>
          <p:cNvPr id="58" name="quote"/>
          <p:cNvSpPr txBox="1"/>
          <p:nvPr/>
        </p:nvSpPr>
        <p:spPr>
          <a:xfrm>
            <a:off x="676655" y="1224278"/>
            <a:ext cx="7790689" cy="6512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200">
                <a:solidFill>
                  <a:schemeClr val="accent1"/>
                </a:solidFill>
              </a:defRPr>
            </a:lvl1pPr>
          </a:lstStyle>
          <a:p>
            <a:pPr/>
            <a:r>
              <a:t>“Remember, guests call them runs, not trails.”</a:t>
            </a:r>
          </a:p>
        </p:txBody>
      </p:sp>
      <p:sp>
        <p:nvSpPr>
          <p:cNvPr id="59" name="problem-card-1"/>
          <p:cNvSpPr/>
          <p:nvPr/>
        </p:nvSpPr>
        <p:spPr>
          <a:xfrm>
            <a:off x="457199" y="2286000"/>
            <a:ext cx="2697482" cy="1371600"/>
          </a:xfrm>
          <a:prstGeom prst="rect">
            <a:avLst/>
          </a:prstGeom>
          <a:solidFill>
            <a:srgbClr val="141414"/>
          </a:solidFill>
          <a:ln w="12700">
            <a:miter lim="400000"/>
          </a:ln>
        </p:spPr>
        <p:txBody>
          <a:bodyPr lIns="45719" rIns="45719"/>
          <a:lstStyle/>
          <a:p>
            <a:pPr/>
          </a:p>
        </p:txBody>
      </p:sp>
      <p:sp>
        <p:nvSpPr>
          <p:cNvPr id="60" name="problem-title-1"/>
          <p:cNvSpPr txBox="1"/>
          <p:nvPr/>
        </p:nvSpPr>
        <p:spPr>
          <a:xfrm>
            <a:off x="621792" y="2492062"/>
            <a:ext cx="2377440"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Chat closes</a:t>
            </a:r>
          </a:p>
        </p:txBody>
      </p:sp>
      <p:sp>
        <p:nvSpPr>
          <p:cNvPr id="61" name="problem-body-1"/>
          <p:cNvSpPr txBox="1"/>
          <p:nvPr/>
        </p:nvSpPr>
        <p:spPr>
          <a:xfrm>
            <a:off x="621792" y="2954388"/>
            <a:ext cx="2377440" cy="4005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Close the tab and the correction is gone.</a:t>
            </a:r>
          </a:p>
        </p:txBody>
      </p:sp>
      <p:sp>
        <p:nvSpPr>
          <p:cNvPr id="62" name="problem-card-2"/>
          <p:cNvSpPr/>
          <p:nvPr/>
        </p:nvSpPr>
        <p:spPr>
          <a:xfrm>
            <a:off x="3291840" y="2286000"/>
            <a:ext cx="2697481" cy="1371600"/>
          </a:xfrm>
          <a:prstGeom prst="rect">
            <a:avLst/>
          </a:prstGeom>
          <a:solidFill>
            <a:srgbClr val="141414"/>
          </a:solidFill>
          <a:ln w="12700">
            <a:miter lim="400000"/>
          </a:ln>
        </p:spPr>
        <p:txBody>
          <a:bodyPr lIns="45719" rIns="45719"/>
          <a:lstStyle/>
          <a:p>
            <a:pPr/>
          </a:p>
        </p:txBody>
      </p:sp>
      <p:sp>
        <p:nvSpPr>
          <p:cNvPr id="63" name="problem-title-2"/>
          <p:cNvSpPr txBox="1"/>
          <p:nvPr/>
        </p:nvSpPr>
        <p:spPr>
          <a:xfrm>
            <a:off x="3456432" y="2492062"/>
            <a:ext cx="237744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Teammate never saw it</a:t>
            </a:r>
          </a:p>
        </p:txBody>
      </p:sp>
      <p:sp>
        <p:nvSpPr>
          <p:cNvPr id="64" name="problem-body-2"/>
          <p:cNvSpPr txBox="1"/>
          <p:nvPr/>
        </p:nvSpPr>
        <p:spPr>
          <a:xfrm>
            <a:off x="3456432" y="2954388"/>
            <a:ext cx="2377441" cy="4005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Tomorrow, Alex's agent still writes “Trails.”</a:t>
            </a:r>
          </a:p>
        </p:txBody>
      </p:sp>
      <p:sp>
        <p:nvSpPr>
          <p:cNvPr id="65" name="problem-card-3"/>
          <p:cNvSpPr/>
          <p:nvPr/>
        </p:nvSpPr>
        <p:spPr>
          <a:xfrm>
            <a:off x="6126479" y="2286000"/>
            <a:ext cx="2697481" cy="1371600"/>
          </a:xfrm>
          <a:prstGeom prst="rect">
            <a:avLst/>
          </a:prstGeom>
          <a:solidFill>
            <a:srgbClr val="141414"/>
          </a:solidFill>
          <a:ln w="12700">
            <a:miter lim="400000"/>
          </a:ln>
        </p:spPr>
        <p:txBody>
          <a:bodyPr lIns="45719" rIns="45719"/>
          <a:lstStyle/>
          <a:p>
            <a:pPr/>
          </a:p>
        </p:txBody>
      </p:sp>
      <p:sp>
        <p:nvSpPr>
          <p:cNvPr id="66" name="problem-title-3"/>
          <p:cNvSpPr txBox="1"/>
          <p:nvPr/>
        </p:nvSpPr>
        <p:spPr>
          <a:xfrm>
            <a:off x="6291071" y="2492062"/>
            <a:ext cx="237744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The code can't say it</a:t>
            </a:r>
          </a:p>
        </p:txBody>
      </p:sp>
      <p:sp>
        <p:nvSpPr>
          <p:cNvPr id="67" name="problem-body-3"/>
          <p:cNvSpPr txBox="1"/>
          <p:nvPr/>
        </p:nvSpPr>
        <p:spPr>
          <a:xfrm>
            <a:off x="6291071" y="2954388"/>
            <a:ext cx="2377441" cy="4005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No file in the repo says what guests call a run.</a:t>
            </a:r>
          </a:p>
        </p:txBody>
      </p:sp>
      <p:sp>
        <p:nvSpPr>
          <p:cNvPr id="68"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2" name="Text 0"/>
          <p:cNvSpPr txBox="1"/>
          <p:nvPr>
            <p:ph type="title"/>
          </p:nvPr>
        </p:nvSpPr>
        <p:spPr>
          <a:xfrm>
            <a:off x="457200" y="292608"/>
            <a:ext cx="8229600" cy="530353"/>
          </a:xfrm>
          <a:prstGeom prst="rect">
            <a:avLst/>
          </a:prstGeom>
        </p:spPr>
        <p:txBody>
          <a:bodyPr lIns="0" tIns="0" rIns="0" bIns="0" anchor="ctr"/>
          <a:lstStyle/>
          <a:p>
            <a:pPr/>
            <a:r>
              <a:t>Write it down once, then stop repeating it</a:t>
            </a:r>
          </a:p>
        </p:txBody>
      </p:sp>
      <p:sp>
        <p:nvSpPr>
          <p:cNvPr id="73" name="outcome-row-01"/>
          <p:cNvSpPr/>
          <p:nvPr/>
        </p:nvSpPr>
        <p:spPr>
          <a:xfrm>
            <a:off x="457200" y="1005839"/>
            <a:ext cx="8229600" cy="841249"/>
          </a:xfrm>
          <a:prstGeom prst="rect">
            <a:avLst/>
          </a:prstGeom>
          <a:solidFill>
            <a:srgbClr val="141414"/>
          </a:solidFill>
          <a:ln w="12700">
            <a:miter lim="400000"/>
          </a:ln>
        </p:spPr>
        <p:txBody>
          <a:bodyPr lIns="45719" rIns="45719"/>
          <a:lstStyle/>
          <a:p>
            <a:pPr/>
          </a:p>
        </p:txBody>
      </p:sp>
      <p:sp>
        <p:nvSpPr>
          <p:cNvPr id="74" name="outcome-n-01"/>
          <p:cNvSpPr txBox="1"/>
          <p:nvPr/>
        </p:nvSpPr>
        <p:spPr>
          <a:xfrm>
            <a:off x="621791" y="1299463"/>
            <a:ext cx="640081"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2"/>
                </a:solidFill>
                <a:latin typeface="Courier New"/>
                <a:ea typeface="Courier New"/>
                <a:cs typeface="Courier New"/>
                <a:sym typeface="Courier New"/>
              </a:defRPr>
            </a:lvl1pPr>
          </a:lstStyle>
          <a:p>
            <a:pPr/>
            <a:r>
              <a:t>01</a:t>
            </a:r>
          </a:p>
        </p:txBody>
      </p:sp>
      <p:sp>
        <p:nvSpPr>
          <p:cNvPr id="75" name="outcome-title-01"/>
          <p:cNvSpPr txBox="1"/>
          <p:nvPr/>
        </p:nvSpPr>
        <p:spPr>
          <a:xfrm>
            <a:off x="1371600" y="1123117"/>
            <a:ext cx="7086600" cy="25922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1"/>
                </a:solidFill>
              </a:defRPr>
            </a:lvl1pPr>
          </a:lstStyle>
          <a:p>
            <a:pPr/>
            <a:r>
              <a:t>Spot it</a:t>
            </a:r>
          </a:p>
        </p:txBody>
      </p:sp>
      <p:sp>
        <p:nvSpPr>
          <p:cNvPr id="76" name="outcome-body-01"/>
          <p:cNvSpPr txBox="1"/>
          <p:nvPr/>
        </p:nvSpPr>
        <p:spPr>
          <a:xfrm>
            <a:off x="1371600" y="1483220"/>
            <a:ext cx="7086600"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Corrected it twice, and the code can't show it? You need a rule.</a:t>
            </a:r>
          </a:p>
        </p:txBody>
      </p:sp>
      <p:sp>
        <p:nvSpPr>
          <p:cNvPr id="77" name="outcome-row-02"/>
          <p:cNvSpPr/>
          <p:nvPr/>
        </p:nvSpPr>
        <p:spPr>
          <a:xfrm>
            <a:off x="457200" y="1965960"/>
            <a:ext cx="8229600" cy="841249"/>
          </a:xfrm>
          <a:prstGeom prst="rect">
            <a:avLst/>
          </a:prstGeom>
          <a:solidFill>
            <a:srgbClr val="141414"/>
          </a:solidFill>
          <a:ln w="12700">
            <a:miter lim="400000"/>
          </a:ln>
        </p:spPr>
        <p:txBody>
          <a:bodyPr lIns="45719" rIns="45719"/>
          <a:lstStyle/>
          <a:p>
            <a:pPr/>
          </a:p>
        </p:txBody>
      </p:sp>
      <p:sp>
        <p:nvSpPr>
          <p:cNvPr id="78" name="outcome-n-02"/>
          <p:cNvSpPr txBox="1"/>
          <p:nvPr/>
        </p:nvSpPr>
        <p:spPr>
          <a:xfrm>
            <a:off x="621791" y="2259584"/>
            <a:ext cx="640081"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2"/>
                </a:solidFill>
                <a:latin typeface="Courier New"/>
                <a:ea typeface="Courier New"/>
                <a:cs typeface="Courier New"/>
                <a:sym typeface="Courier New"/>
              </a:defRPr>
            </a:lvl1pPr>
          </a:lstStyle>
          <a:p>
            <a:pPr/>
            <a:r>
              <a:t>02</a:t>
            </a:r>
          </a:p>
        </p:txBody>
      </p:sp>
      <p:sp>
        <p:nvSpPr>
          <p:cNvPr id="79" name="outcome-title-02"/>
          <p:cNvSpPr txBox="1"/>
          <p:nvPr/>
        </p:nvSpPr>
        <p:spPr>
          <a:xfrm>
            <a:off x="1371600" y="2083237"/>
            <a:ext cx="7086600" cy="25922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1"/>
                </a:solidFill>
              </a:defRPr>
            </a:lvl1pPr>
          </a:lstStyle>
          <a:p>
            <a:pPr/>
            <a:r>
              <a:t>Write it</a:t>
            </a:r>
          </a:p>
        </p:txBody>
      </p:sp>
      <p:sp>
        <p:nvSpPr>
          <p:cNvPr id="80" name="outcome-body-02"/>
          <p:cNvSpPr txBox="1"/>
          <p:nvPr/>
        </p:nvSpPr>
        <p:spPr>
          <a:xfrm>
            <a:off x="1371600" y="2443340"/>
            <a:ext cx="7086600"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One project rule: a description, a do, a don't, and an @ pointer to the real file.</a:t>
            </a:r>
          </a:p>
        </p:txBody>
      </p:sp>
      <p:sp>
        <p:nvSpPr>
          <p:cNvPr id="81" name="outcome-row-03"/>
          <p:cNvSpPr/>
          <p:nvPr/>
        </p:nvSpPr>
        <p:spPr>
          <a:xfrm>
            <a:off x="457200" y="2926079"/>
            <a:ext cx="8229600" cy="841249"/>
          </a:xfrm>
          <a:prstGeom prst="rect">
            <a:avLst/>
          </a:prstGeom>
          <a:solidFill>
            <a:srgbClr val="141414"/>
          </a:solidFill>
          <a:ln w="12700">
            <a:miter lim="400000"/>
          </a:ln>
        </p:spPr>
        <p:txBody>
          <a:bodyPr lIns="45719" rIns="45719"/>
          <a:lstStyle/>
          <a:p>
            <a:pPr/>
          </a:p>
        </p:txBody>
      </p:sp>
      <p:sp>
        <p:nvSpPr>
          <p:cNvPr id="82" name="outcome-n-03"/>
          <p:cNvSpPr txBox="1"/>
          <p:nvPr/>
        </p:nvSpPr>
        <p:spPr>
          <a:xfrm>
            <a:off x="621791" y="3219703"/>
            <a:ext cx="640081"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2"/>
                </a:solidFill>
                <a:latin typeface="Courier New"/>
                <a:ea typeface="Courier New"/>
                <a:cs typeface="Courier New"/>
                <a:sym typeface="Courier New"/>
              </a:defRPr>
            </a:lvl1pPr>
          </a:lstStyle>
          <a:p>
            <a:pPr/>
            <a:r>
              <a:t>03</a:t>
            </a:r>
          </a:p>
        </p:txBody>
      </p:sp>
      <p:sp>
        <p:nvSpPr>
          <p:cNvPr id="83" name="outcome-title-03"/>
          <p:cNvSpPr txBox="1"/>
          <p:nvPr/>
        </p:nvSpPr>
        <p:spPr>
          <a:xfrm>
            <a:off x="1371600" y="3043357"/>
            <a:ext cx="7086600" cy="25922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1"/>
                </a:solidFill>
              </a:defRPr>
            </a:lvl1pPr>
          </a:lstStyle>
          <a:p>
            <a:pPr/>
            <a:r>
              <a:t>Prove it</a:t>
            </a:r>
          </a:p>
        </p:txBody>
      </p:sp>
      <p:sp>
        <p:nvSpPr>
          <p:cNvPr id="84" name="outcome-body-03"/>
          <p:cNvSpPr txBox="1"/>
          <p:nvPr/>
        </p:nvSpPr>
        <p:spPr>
          <a:xfrm>
            <a:off x="1371600" y="3403460"/>
            <a:ext cx="7086600"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Rerun the prompt in a new chat, then commit so the next person gets it.</a:t>
            </a:r>
          </a:p>
        </p:txBody>
      </p:sp>
      <p:sp>
        <p:nvSpPr>
          <p:cNvPr id="85"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9" name="Text 0"/>
          <p:cNvSpPr txBox="1"/>
          <p:nvPr>
            <p:ph type="title"/>
          </p:nvPr>
        </p:nvSpPr>
        <p:spPr>
          <a:xfrm>
            <a:off x="457200" y="292608"/>
            <a:ext cx="8229600" cy="530353"/>
          </a:xfrm>
          <a:prstGeom prst="rect">
            <a:avLst/>
          </a:prstGeom>
        </p:spPr>
        <p:txBody>
          <a:bodyPr lIns="0" tIns="0" rIns="0" bIns="0" anchor="ctr"/>
          <a:lstStyle/>
          <a:p>
            <a:pPr/>
            <a:r>
              <a:t>It knows what the code tells it</a:t>
            </a:r>
          </a:p>
        </p:txBody>
      </p:sp>
      <p:sp>
        <p:nvSpPr>
          <p:cNvPr id="90" name="prompt-card"/>
          <p:cNvSpPr/>
          <p:nvPr/>
        </p:nvSpPr>
        <p:spPr>
          <a:xfrm>
            <a:off x="457199" y="987551"/>
            <a:ext cx="4892042" cy="2697482"/>
          </a:xfrm>
          <a:prstGeom prst="rect">
            <a:avLst/>
          </a:prstGeom>
          <a:solidFill>
            <a:srgbClr val="141414"/>
          </a:solidFill>
          <a:ln w="12700">
            <a:miter lim="400000"/>
          </a:ln>
        </p:spPr>
        <p:txBody>
          <a:bodyPr lIns="45719" rIns="45719"/>
          <a:lstStyle/>
          <a:p>
            <a:pPr/>
          </a:p>
        </p:txBody>
      </p:sp>
      <p:sp>
        <p:nvSpPr>
          <p:cNvPr id="91" name="prompt-label"/>
          <p:cNvSpPr txBox="1"/>
          <p:nvPr/>
        </p:nvSpPr>
        <p:spPr>
          <a:xfrm>
            <a:off x="658368" y="1167383"/>
            <a:ext cx="4526280"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chemeClr val="accent2"/>
                </a:solidFill>
                <a:latin typeface="Courier New"/>
                <a:ea typeface="Courier New"/>
                <a:cs typeface="Courier New"/>
                <a:sym typeface="Courier New"/>
              </a:defRPr>
            </a:lvl1pPr>
          </a:lstStyle>
          <a:p>
            <a:pPr/>
            <a:r>
              <a:t>NEW AGENT CHAT</a:t>
            </a:r>
          </a:p>
        </p:txBody>
      </p:sp>
      <p:sp>
        <p:nvSpPr>
          <p:cNvPr id="92" name="prompt-text"/>
          <p:cNvSpPr txBox="1"/>
          <p:nvPr/>
        </p:nvSpPr>
        <p:spPr>
          <a:xfrm>
            <a:off x="658368" y="1719162"/>
            <a:ext cx="4526280" cy="57589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000">
                <a:solidFill>
                  <a:schemeClr val="accent1"/>
                </a:solidFill>
              </a:defRPr>
            </a:lvl1pPr>
          </a:lstStyle>
          <a:p>
            <a:pPr/>
            <a:r>
              <a:t>Add a panel that lists the trails that are open right now, with each one's status.</a:t>
            </a:r>
          </a:p>
        </p:txBody>
      </p:sp>
      <p:sp>
        <p:nvSpPr>
          <p:cNvPr id="93" name="prompt-aside"/>
          <p:cNvSpPr txBox="1"/>
          <p:nvPr/>
        </p:nvSpPr>
        <p:spPr>
          <a:xfrm>
            <a:off x="658368" y="3254154"/>
            <a:ext cx="4526280"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Send it in your own chat, then read the diff.</a:t>
            </a:r>
          </a:p>
        </p:txBody>
      </p:sp>
      <p:sp>
        <p:nvSpPr>
          <p:cNvPr id="94" name="expect-card"/>
          <p:cNvSpPr/>
          <p:nvPr/>
        </p:nvSpPr>
        <p:spPr>
          <a:xfrm>
            <a:off x="5532120" y="987551"/>
            <a:ext cx="3154681" cy="2697482"/>
          </a:xfrm>
          <a:prstGeom prst="rect">
            <a:avLst/>
          </a:prstGeom>
          <a:solidFill>
            <a:srgbClr val="141414"/>
          </a:solidFill>
          <a:ln w="12700">
            <a:miter lim="400000"/>
          </a:ln>
        </p:spPr>
        <p:txBody>
          <a:bodyPr lIns="45719" rIns="45719"/>
          <a:lstStyle/>
          <a:p>
            <a:pPr/>
          </a:p>
        </p:txBody>
      </p:sp>
      <p:sp>
        <p:nvSpPr>
          <p:cNvPr id="95" name="expect-title"/>
          <p:cNvSpPr txBox="1"/>
          <p:nvPr/>
        </p:nvSpPr>
        <p:spPr>
          <a:xfrm>
            <a:off x="5714999" y="1167383"/>
            <a:ext cx="2788922"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chemeClr val="accent2"/>
                </a:solidFill>
                <a:latin typeface="Courier New"/>
                <a:ea typeface="Courier New"/>
                <a:cs typeface="Courier New"/>
                <a:sym typeface="Courier New"/>
              </a:defRPr>
            </a:lvl1pPr>
          </a:lstStyle>
          <a:p>
            <a:pPr/>
            <a:r>
              <a:t>WHAT YOU'LL SEE</a:t>
            </a:r>
          </a:p>
        </p:txBody>
      </p:sp>
      <p:sp>
        <p:nvSpPr>
          <p:cNvPr id="96" name="miss-label-1"/>
          <p:cNvSpPr txBox="1"/>
          <p:nvPr/>
        </p:nvSpPr>
        <p:spPr>
          <a:xfrm>
            <a:off x="5714999" y="1571751"/>
            <a:ext cx="2788922"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1"/>
                </a:solidFill>
                <a:latin typeface="Courier New"/>
                <a:ea typeface="Courier New"/>
                <a:cs typeface="Courier New"/>
                <a:sym typeface="Courier New"/>
              </a:defRPr>
            </a:lvl1pPr>
          </a:lstStyle>
          <a:p>
            <a:pPr/>
            <a:r>
              <a:t>getTrails()</a:t>
            </a:r>
          </a:p>
        </p:txBody>
      </p:sp>
      <p:sp>
        <p:nvSpPr>
          <p:cNvPr id="97" name="miss-note-1"/>
          <p:cNvSpPr txBox="1"/>
          <p:nvPr/>
        </p:nvSpPr>
        <p:spPr>
          <a:xfrm>
            <a:off x="5714999" y="1827690"/>
            <a:ext cx="2788922"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Right: lib/snowtooth.ts says how</a:t>
            </a:r>
          </a:p>
        </p:txBody>
      </p:sp>
      <p:sp>
        <p:nvSpPr>
          <p:cNvPr id="98" name="miss-label-2"/>
          <p:cNvSpPr txBox="1"/>
          <p:nvPr/>
        </p:nvSpPr>
        <p:spPr>
          <a:xfrm>
            <a:off x="5714999" y="2211832"/>
            <a:ext cx="2788922"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1"/>
                </a:solidFill>
                <a:latin typeface="Courier New"/>
                <a:ea typeface="Courier New"/>
                <a:cs typeface="Courier New"/>
                <a:sym typeface="Courier New"/>
              </a:defRPr>
            </a:lvl1pPr>
          </a:lstStyle>
          <a:p>
            <a:pPr/>
            <a:r>
              <a:t>&lt;h2&gt;Trails&lt;/h2&gt;</a:t>
            </a:r>
          </a:p>
        </p:txBody>
      </p:sp>
      <p:sp>
        <p:nvSpPr>
          <p:cNvPr id="99" name="miss-note-2"/>
          <p:cNvSpPr txBox="1"/>
          <p:nvPr/>
        </p:nvSpPr>
        <p:spPr>
          <a:xfrm>
            <a:off x="5714999" y="2467770"/>
            <a:ext cx="2788922"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Wrong: nothing says “runs”</a:t>
            </a:r>
          </a:p>
        </p:txBody>
      </p:sp>
      <p:sp>
        <p:nvSpPr>
          <p:cNvPr id="100" name="miss-label-3"/>
          <p:cNvSpPr txBox="1"/>
          <p:nvPr/>
        </p:nvSpPr>
        <p:spPr>
          <a:xfrm>
            <a:off x="5714999" y="2851911"/>
            <a:ext cx="2788922"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1"/>
                </a:solidFill>
                <a:latin typeface="Courier New"/>
                <a:ea typeface="Courier New"/>
                <a:cs typeface="Courier New"/>
                <a:sym typeface="Courier New"/>
              </a:defRPr>
            </a:lvl1pPr>
          </a:lstStyle>
          <a:p>
            <a:pPr/>
            <a:r>
              <a:t>Hand-styled status</a:t>
            </a:r>
          </a:p>
        </p:txBody>
      </p:sp>
      <p:sp>
        <p:nvSpPr>
          <p:cNvPr id="101" name="miss-note-3"/>
          <p:cNvSpPr txBox="1"/>
          <p:nvPr/>
        </p:nvSpPr>
        <p:spPr>
          <a:xfrm>
            <a:off x="5714999" y="3107850"/>
            <a:ext cx="2788922"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StatusBadge goes unused</a:t>
            </a:r>
          </a:p>
        </p:txBody>
      </p:sp>
      <p:sp>
        <p:nvSpPr>
          <p:cNvPr id="102"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6" name="Text 0"/>
          <p:cNvSpPr txBox="1"/>
          <p:nvPr>
            <p:ph type="title"/>
          </p:nvPr>
        </p:nvSpPr>
        <p:spPr>
          <a:xfrm>
            <a:off x="457200" y="292608"/>
            <a:ext cx="8229600" cy="530353"/>
          </a:xfrm>
          <a:prstGeom prst="rect">
            <a:avLst/>
          </a:prstGeom>
        </p:spPr>
        <p:txBody>
          <a:bodyPr lIns="0" tIns="0" rIns="0" bIns="0" anchor="ctr"/>
          <a:lstStyle/>
          <a:p>
            <a:pPr/>
            <a:r>
              <a:t>A rule only needs three things</a:t>
            </a:r>
          </a:p>
        </p:txBody>
      </p:sp>
      <p:sp>
        <p:nvSpPr>
          <p:cNvPr id="107" name="code-card"/>
          <p:cNvSpPr/>
          <p:nvPr/>
        </p:nvSpPr>
        <p:spPr>
          <a:xfrm>
            <a:off x="457200" y="960119"/>
            <a:ext cx="4709160" cy="2743201"/>
          </a:xfrm>
          <a:prstGeom prst="rect">
            <a:avLst/>
          </a:prstGeom>
          <a:solidFill>
            <a:srgbClr val="141414"/>
          </a:solidFill>
          <a:ln w="12700">
            <a:miter lim="400000"/>
          </a:ln>
        </p:spPr>
        <p:txBody>
          <a:bodyPr lIns="45719" rIns="45719"/>
          <a:lstStyle/>
          <a:p>
            <a:pPr/>
          </a:p>
        </p:txBody>
      </p:sp>
      <p:sp>
        <p:nvSpPr>
          <p:cNvPr id="108" name="rule-code"/>
          <p:cNvSpPr txBox="1"/>
          <p:nvPr/>
        </p:nvSpPr>
        <p:spPr>
          <a:xfrm>
            <a:off x="640079" y="1193291"/>
            <a:ext cx="4389122" cy="2286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300">
                <a:solidFill>
                  <a:schemeClr val="accent2"/>
                </a:solidFill>
                <a:latin typeface="Courier New"/>
                <a:ea typeface="Courier New"/>
                <a:cs typeface="Courier New"/>
                <a:sym typeface="Courier New"/>
              </a:defRPr>
            </a:pPr>
            <a:r>
              <a:t>---</a:t>
            </a:r>
          </a:p>
          <a:p>
            <a:pPr>
              <a:defRPr sz="1300">
                <a:solidFill>
                  <a:schemeClr val="accent2"/>
                </a:solidFill>
                <a:latin typeface="Courier New"/>
                <a:ea typeface="Courier New"/>
                <a:cs typeface="Courier New"/>
                <a:sym typeface="Courier New"/>
              </a:defRPr>
            </a:pPr>
            <a:r>
              <a:t>description: </a:t>
            </a:r>
            <a:r>
              <a:rPr>
                <a:solidFill>
                  <a:schemeClr val="accent1"/>
                </a:solidFill>
              </a:rPr>
              <a:t>Words guests see on the board</a:t>
            </a:r>
            <a:endParaRPr>
              <a:solidFill>
                <a:schemeClr val="accent1"/>
              </a:solidFill>
            </a:endParaRPr>
          </a:p>
          <a:p>
            <a:pPr>
              <a:defRPr sz="1300">
                <a:solidFill>
                  <a:schemeClr val="accent2"/>
                </a:solidFill>
                <a:latin typeface="Courier New"/>
                <a:ea typeface="Courier New"/>
                <a:cs typeface="Courier New"/>
                <a:sym typeface="Courier New"/>
              </a:defRPr>
            </a:pPr>
            <a:r>
              <a:t>alwaysApply: </a:t>
            </a:r>
            <a:r>
              <a:rPr>
                <a:solidFill>
                  <a:schemeClr val="accent1"/>
                </a:solidFill>
              </a:rPr>
              <a:t>true</a:t>
            </a:r>
            <a:endParaRPr>
              <a:solidFill>
                <a:schemeClr val="accent1"/>
              </a:solidFill>
            </a:endParaRPr>
          </a:p>
          <a:p>
            <a:pPr>
              <a:defRPr sz="1300">
                <a:solidFill>
                  <a:schemeClr val="accent2"/>
                </a:solidFill>
                <a:latin typeface="Courier New"/>
                <a:ea typeface="Courier New"/>
                <a:cs typeface="Courier New"/>
                <a:sym typeface="Courier New"/>
              </a:defRPr>
            </a:pPr>
            <a:r>
              <a:t>---</a:t>
            </a:r>
          </a:p>
          <a:p>
            <a:pPr>
              <a:defRPr sz="1300">
                <a:solidFill>
                  <a:schemeClr val="accent2"/>
                </a:solidFill>
                <a:latin typeface="Courier New"/>
                <a:ea typeface="Courier New"/>
                <a:cs typeface="Courier New"/>
                <a:sym typeface="Courier New"/>
              </a:defRPr>
            </a:pPr>
          </a:p>
          <a:p>
            <a:pPr>
              <a:defRPr sz="1300">
                <a:solidFill>
                  <a:schemeClr val="accent2"/>
                </a:solidFill>
                <a:latin typeface="Courier New"/>
                <a:ea typeface="Courier New"/>
                <a:cs typeface="Courier New"/>
                <a:sym typeface="Courier New"/>
              </a:defRPr>
            </a:pPr>
            <a:r>
              <a:rPr>
                <a:solidFill>
                  <a:schemeClr val="accent1"/>
                </a:solidFill>
              </a:rPr>
              <a:t>Guests call them runs, never trails.</a:t>
            </a:r>
            <a:endParaRPr>
              <a:solidFill>
                <a:schemeClr val="accent1"/>
              </a:solidFill>
            </a:endParaRPr>
          </a:p>
          <a:p>
            <a:pPr>
              <a:defRPr sz="1300">
                <a:solidFill>
                  <a:schemeClr val="accent2"/>
                </a:solidFill>
                <a:latin typeface="Courier New"/>
                <a:ea typeface="Courier New"/>
                <a:cs typeface="Courier New"/>
                <a:sym typeface="Courier New"/>
              </a:defRPr>
            </a:pPr>
            <a:r>
              <a:rPr>
                <a:solidFill>
                  <a:schemeClr val="accent1"/>
                </a:solidFill>
              </a:rPr>
              <a:t>Every status uses &lt;StatusBadge&gt;.</a:t>
            </a:r>
            <a:endParaRPr>
              <a:solidFill>
                <a:schemeClr val="accent1"/>
              </a:solidFill>
            </a:endParaRPr>
          </a:p>
          <a:p>
            <a:pPr>
              <a:defRPr sz="1300">
                <a:solidFill>
                  <a:schemeClr val="accent2"/>
                </a:solidFill>
                <a:latin typeface="Courier New"/>
                <a:ea typeface="Courier New"/>
                <a:cs typeface="Courier New"/>
                <a:sym typeface="Courier New"/>
              </a:defRPr>
            </a:pPr>
            <a:endParaRPr>
              <a:solidFill>
                <a:schemeClr val="accent1"/>
              </a:solidFill>
            </a:endParaRPr>
          </a:p>
          <a:p>
            <a:pPr>
              <a:defRPr sz="1300">
                <a:solidFill>
                  <a:schemeClr val="accent2"/>
                </a:solidFill>
                <a:latin typeface="Courier New"/>
                <a:ea typeface="Courier New"/>
                <a:cs typeface="Courier New"/>
                <a:sym typeface="Courier New"/>
              </a:defRPr>
            </a:pPr>
            <a:r>
              <a:t>Do:    </a:t>
            </a:r>
            <a:r>
              <a:rPr>
                <a:solidFill>
                  <a:schemeClr val="accent1"/>
                </a:solidFill>
              </a:rPr>
              <a:t>&lt;h2&gt;Open Runs&lt;/h2&gt;</a:t>
            </a:r>
            <a:endParaRPr>
              <a:solidFill>
                <a:schemeClr val="accent1"/>
              </a:solidFill>
            </a:endParaRPr>
          </a:p>
          <a:p>
            <a:pPr>
              <a:defRPr sz="1300">
                <a:solidFill>
                  <a:schemeClr val="accent2"/>
                </a:solidFill>
                <a:latin typeface="Courier New"/>
                <a:ea typeface="Courier New"/>
                <a:cs typeface="Courier New"/>
                <a:sym typeface="Courier New"/>
              </a:defRPr>
            </a:pPr>
            <a:r>
              <a:t>Don't: </a:t>
            </a:r>
            <a:r>
              <a:rPr>
                <a:solidFill>
                  <a:schemeClr val="accent1"/>
                </a:solidFill>
              </a:rPr>
              <a:t>&lt;h2&gt;Open Trails&lt;/h2&gt;</a:t>
            </a:r>
            <a:endParaRPr>
              <a:solidFill>
                <a:schemeClr val="accent1"/>
              </a:solidFill>
            </a:endParaRPr>
          </a:p>
          <a:p>
            <a:pPr>
              <a:defRPr sz="1300">
                <a:solidFill>
                  <a:schemeClr val="accent2"/>
                </a:solidFill>
                <a:latin typeface="Courier New"/>
                <a:ea typeface="Courier New"/>
                <a:cs typeface="Courier New"/>
                <a:sym typeface="Courier New"/>
              </a:defRPr>
            </a:pPr>
            <a:endParaRPr>
              <a:solidFill>
                <a:schemeClr val="accent1"/>
              </a:solidFill>
            </a:endParaRPr>
          </a:p>
          <a:p>
            <a:pPr>
              <a:defRPr sz="1300">
                <a:solidFill>
                  <a:schemeClr val="accent2"/>
                </a:solidFill>
                <a:latin typeface="Courier New"/>
                <a:ea typeface="Courier New"/>
                <a:cs typeface="Courier New"/>
                <a:sym typeface="Courier New"/>
              </a:defRPr>
            </a:pPr>
            <a:r>
              <a:t>See @components/StatusBadge.tsx</a:t>
            </a:r>
          </a:p>
        </p:txBody>
      </p:sp>
      <p:sp>
        <p:nvSpPr>
          <p:cNvPr id="109" name="part-card-01"/>
          <p:cNvSpPr/>
          <p:nvPr/>
        </p:nvSpPr>
        <p:spPr>
          <a:xfrm>
            <a:off x="5349240" y="960119"/>
            <a:ext cx="3337560" cy="841249"/>
          </a:xfrm>
          <a:prstGeom prst="rect">
            <a:avLst/>
          </a:prstGeom>
          <a:solidFill>
            <a:srgbClr val="141414"/>
          </a:solidFill>
          <a:ln w="12700">
            <a:miter lim="400000"/>
          </a:ln>
        </p:spPr>
        <p:txBody>
          <a:bodyPr lIns="45719" rIns="45719"/>
          <a:lstStyle/>
          <a:p>
            <a:pPr/>
          </a:p>
        </p:txBody>
      </p:sp>
      <p:sp>
        <p:nvSpPr>
          <p:cNvPr id="110" name="part-n-01"/>
          <p:cNvSpPr txBox="1"/>
          <p:nvPr/>
        </p:nvSpPr>
        <p:spPr>
          <a:xfrm>
            <a:off x="5486400" y="1279143"/>
            <a:ext cx="457200"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01</a:t>
            </a:r>
          </a:p>
        </p:txBody>
      </p:sp>
      <p:sp>
        <p:nvSpPr>
          <p:cNvPr id="111" name="part-title-01"/>
          <p:cNvSpPr txBox="1"/>
          <p:nvPr/>
        </p:nvSpPr>
        <p:spPr>
          <a:xfrm>
            <a:off x="5989320" y="1111318"/>
            <a:ext cx="2514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Description</a:t>
            </a:r>
          </a:p>
        </p:txBody>
      </p:sp>
      <p:sp>
        <p:nvSpPr>
          <p:cNvPr id="112" name="part-body-01"/>
          <p:cNvSpPr txBox="1"/>
          <p:nvPr/>
        </p:nvSpPr>
        <p:spPr>
          <a:xfrm>
            <a:off x="5989320" y="1348392"/>
            <a:ext cx="2514601" cy="375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So the agent knows when this applies.</a:t>
            </a:r>
          </a:p>
        </p:txBody>
      </p:sp>
      <p:sp>
        <p:nvSpPr>
          <p:cNvPr id="113" name="part-card-02"/>
          <p:cNvSpPr/>
          <p:nvPr/>
        </p:nvSpPr>
        <p:spPr>
          <a:xfrm>
            <a:off x="5349240" y="1892807"/>
            <a:ext cx="3337560" cy="841249"/>
          </a:xfrm>
          <a:prstGeom prst="rect">
            <a:avLst/>
          </a:prstGeom>
          <a:solidFill>
            <a:srgbClr val="141414"/>
          </a:solidFill>
          <a:ln w="12700">
            <a:miter lim="400000"/>
          </a:ln>
        </p:spPr>
        <p:txBody>
          <a:bodyPr lIns="45719" rIns="45719"/>
          <a:lstStyle/>
          <a:p>
            <a:pPr/>
          </a:p>
        </p:txBody>
      </p:sp>
      <p:sp>
        <p:nvSpPr>
          <p:cNvPr id="114" name="part-n-02"/>
          <p:cNvSpPr txBox="1"/>
          <p:nvPr/>
        </p:nvSpPr>
        <p:spPr>
          <a:xfrm>
            <a:off x="5486400" y="2211831"/>
            <a:ext cx="457200"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02</a:t>
            </a:r>
          </a:p>
        </p:txBody>
      </p:sp>
      <p:sp>
        <p:nvSpPr>
          <p:cNvPr id="115" name="part-title-02"/>
          <p:cNvSpPr txBox="1"/>
          <p:nvPr/>
        </p:nvSpPr>
        <p:spPr>
          <a:xfrm>
            <a:off x="5989320" y="2044006"/>
            <a:ext cx="2514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Do and don't</a:t>
            </a:r>
          </a:p>
        </p:txBody>
      </p:sp>
      <p:sp>
        <p:nvSpPr>
          <p:cNvPr id="116" name="part-body-02"/>
          <p:cNvSpPr txBox="1"/>
          <p:nvPr/>
        </p:nvSpPr>
        <p:spPr>
          <a:xfrm>
            <a:off x="5989320" y="2281080"/>
            <a:ext cx="2514601" cy="375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One of each, written as real code.</a:t>
            </a:r>
          </a:p>
        </p:txBody>
      </p:sp>
      <p:sp>
        <p:nvSpPr>
          <p:cNvPr id="117" name="part-card-03"/>
          <p:cNvSpPr/>
          <p:nvPr/>
        </p:nvSpPr>
        <p:spPr>
          <a:xfrm>
            <a:off x="5349240" y="2825495"/>
            <a:ext cx="3337560" cy="841249"/>
          </a:xfrm>
          <a:prstGeom prst="rect">
            <a:avLst/>
          </a:prstGeom>
          <a:solidFill>
            <a:srgbClr val="141414"/>
          </a:solidFill>
          <a:ln w="12700">
            <a:miter lim="400000"/>
          </a:ln>
        </p:spPr>
        <p:txBody>
          <a:bodyPr lIns="45719" rIns="45719"/>
          <a:lstStyle/>
          <a:p>
            <a:pPr/>
          </a:p>
        </p:txBody>
      </p:sp>
      <p:sp>
        <p:nvSpPr>
          <p:cNvPr id="118" name="part-n-03"/>
          <p:cNvSpPr txBox="1"/>
          <p:nvPr/>
        </p:nvSpPr>
        <p:spPr>
          <a:xfrm>
            <a:off x="5486400" y="3144519"/>
            <a:ext cx="457200"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03</a:t>
            </a:r>
          </a:p>
        </p:txBody>
      </p:sp>
      <p:sp>
        <p:nvSpPr>
          <p:cNvPr id="119" name="part-title-03"/>
          <p:cNvSpPr txBox="1"/>
          <p:nvPr/>
        </p:nvSpPr>
        <p:spPr>
          <a:xfrm>
            <a:off x="5989320" y="2976694"/>
            <a:ext cx="2514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A pointer</a:t>
            </a:r>
          </a:p>
        </p:txBody>
      </p:sp>
      <p:sp>
        <p:nvSpPr>
          <p:cNvPr id="120" name="part-body-03"/>
          <p:cNvSpPr txBox="1"/>
          <p:nvPr/>
        </p:nvSpPr>
        <p:spPr>
          <a:xfrm>
            <a:off x="5989320" y="3213768"/>
            <a:ext cx="2514601" cy="375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 the real file, not a pasted copy that goes stale.</a:t>
            </a:r>
          </a:p>
        </p:txBody>
      </p:sp>
      <p:sp>
        <p:nvSpPr>
          <p:cNvPr id="121"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5" name="Text 0"/>
          <p:cNvSpPr txBox="1"/>
          <p:nvPr>
            <p:ph type="title"/>
          </p:nvPr>
        </p:nvSpPr>
        <p:spPr>
          <a:xfrm>
            <a:off x="457200" y="292608"/>
            <a:ext cx="8229600" cy="530353"/>
          </a:xfrm>
          <a:prstGeom prst="rect">
            <a:avLst/>
          </a:prstGeom>
        </p:spPr>
        <p:txBody>
          <a:bodyPr lIns="0" tIns="0" rIns="0" bIns="0" anchor="ctr"/>
          <a:lstStyle/>
          <a:p>
            <a:pPr/>
            <a:r>
              <a:t>Test it with the same prompt in a new chat</a:t>
            </a:r>
          </a:p>
        </p:txBody>
      </p:sp>
      <p:sp>
        <p:nvSpPr>
          <p:cNvPr id="126" name="before-card"/>
          <p:cNvSpPr/>
          <p:nvPr/>
        </p:nvSpPr>
        <p:spPr>
          <a:xfrm>
            <a:off x="457199" y="987551"/>
            <a:ext cx="3977642" cy="2697482"/>
          </a:xfrm>
          <a:prstGeom prst="rect">
            <a:avLst/>
          </a:prstGeom>
          <a:solidFill>
            <a:srgbClr val="141414"/>
          </a:solidFill>
          <a:ln w="12700">
            <a:miter lim="400000"/>
          </a:ln>
        </p:spPr>
        <p:txBody>
          <a:bodyPr lIns="45719" rIns="45719"/>
          <a:lstStyle/>
          <a:p>
            <a:pPr/>
          </a:p>
        </p:txBody>
      </p:sp>
      <p:sp>
        <p:nvSpPr>
          <p:cNvPr id="127" name="before-label"/>
          <p:cNvSpPr txBox="1"/>
          <p:nvPr/>
        </p:nvSpPr>
        <p:spPr>
          <a:xfrm>
            <a:off x="640080" y="1167383"/>
            <a:ext cx="3611880"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chemeClr val="accent2"/>
                </a:solidFill>
                <a:latin typeface="Courier New"/>
                <a:ea typeface="Courier New"/>
                <a:cs typeface="Courier New"/>
                <a:sym typeface="Courier New"/>
              </a:defRPr>
            </a:lvl1pPr>
          </a:lstStyle>
          <a:p>
            <a:pPr/>
            <a:r>
              <a:t>BEFORE THE RULE</a:t>
            </a:r>
          </a:p>
        </p:txBody>
      </p:sp>
      <p:sp>
        <p:nvSpPr>
          <p:cNvPr id="128" name="before-code"/>
          <p:cNvSpPr txBox="1"/>
          <p:nvPr/>
        </p:nvSpPr>
        <p:spPr>
          <a:xfrm>
            <a:off x="640080" y="1659889"/>
            <a:ext cx="3611880" cy="292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000">
                <a:solidFill>
                  <a:schemeClr val="accent1"/>
                </a:solidFill>
                <a:latin typeface="Courier New"/>
                <a:ea typeface="Courier New"/>
                <a:cs typeface="Courier New"/>
                <a:sym typeface="Courier New"/>
              </a:defRPr>
            </a:lvl1pPr>
          </a:lstStyle>
          <a:p>
            <a:pPr/>
            <a:r>
              <a:t>&lt;h2&gt;Open Trails&lt;/h2&gt;</a:t>
            </a:r>
          </a:p>
        </p:txBody>
      </p:sp>
      <p:sp>
        <p:nvSpPr>
          <p:cNvPr id="129" name="before-body"/>
          <p:cNvSpPr txBox="1"/>
          <p:nvPr/>
        </p:nvSpPr>
        <p:spPr>
          <a:xfrm>
            <a:off x="640080" y="2468186"/>
            <a:ext cx="3611880" cy="6414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A correction you type in chat only lasts until you close the tab.</a:t>
            </a:r>
          </a:p>
        </p:txBody>
      </p:sp>
      <p:sp>
        <p:nvSpPr>
          <p:cNvPr id="130" name="after-card"/>
          <p:cNvSpPr/>
          <p:nvPr/>
        </p:nvSpPr>
        <p:spPr>
          <a:xfrm>
            <a:off x="4709159" y="987551"/>
            <a:ext cx="3977641" cy="2697482"/>
          </a:xfrm>
          <a:prstGeom prst="rect">
            <a:avLst/>
          </a:prstGeom>
          <a:solidFill>
            <a:srgbClr val="141414"/>
          </a:solidFill>
          <a:ln w="12700">
            <a:miter lim="400000"/>
          </a:ln>
        </p:spPr>
        <p:txBody>
          <a:bodyPr lIns="45719" rIns="45719"/>
          <a:lstStyle/>
          <a:p>
            <a:pPr/>
          </a:p>
        </p:txBody>
      </p:sp>
      <p:sp>
        <p:nvSpPr>
          <p:cNvPr id="131" name="after-label"/>
          <p:cNvSpPr txBox="1"/>
          <p:nvPr/>
        </p:nvSpPr>
        <p:spPr>
          <a:xfrm>
            <a:off x="4892040" y="1167383"/>
            <a:ext cx="3611881"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chemeClr val="accent2"/>
                </a:solidFill>
                <a:latin typeface="Courier New"/>
                <a:ea typeface="Courier New"/>
                <a:cs typeface="Courier New"/>
                <a:sym typeface="Courier New"/>
              </a:defRPr>
            </a:lvl1pPr>
          </a:lstStyle>
          <a:p>
            <a:pPr/>
            <a:r>
              <a:t>AFTER YOU COMMIT IT</a:t>
            </a:r>
          </a:p>
        </p:txBody>
      </p:sp>
      <p:sp>
        <p:nvSpPr>
          <p:cNvPr id="132" name="after-code"/>
          <p:cNvSpPr txBox="1"/>
          <p:nvPr/>
        </p:nvSpPr>
        <p:spPr>
          <a:xfrm>
            <a:off x="4892040" y="1659889"/>
            <a:ext cx="3611881" cy="292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000">
                <a:solidFill>
                  <a:schemeClr val="accent1"/>
                </a:solidFill>
                <a:latin typeface="Courier New"/>
                <a:ea typeface="Courier New"/>
                <a:cs typeface="Courier New"/>
                <a:sym typeface="Courier New"/>
              </a:defRPr>
            </a:lvl1pPr>
          </a:lstStyle>
          <a:p>
            <a:pPr/>
            <a:r>
              <a:t>&lt;h2&gt;Open Runs&lt;/h2&gt;</a:t>
            </a:r>
          </a:p>
        </p:txBody>
      </p:sp>
      <p:sp>
        <p:nvSpPr>
          <p:cNvPr id="133" name="after-body"/>
          <p:cNvSpPr txBox="1"/>
          <p:nvPr/>
        </p:nvSpPr>
        <p:spPr>
          <a:xfrm>
            <a:off x="4892040" y="2576136"/>
            <a:ext cx="3611881" cy="4255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Once the rule is committed, Alex gets it tomorrow without you saying a word.</a:t>
            </a:r>
          </a:p>
        </p:txBody>
      </p:sp>
      <p:sp>
        <p:nvSpPr>
          <p:cNvPr id="134"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8" name="Text 0"/>
          <p:cNvSpPr txBox="1"/>
          <p:nvPr>
            <p:ph type="title"/>
          </p:nvPr>
        </p:nvSpPr>
        <p:spPr>
          <a:xfrm>
            <a:off x="457200" y="292608"/>
            <a:ext cx="8229600" cy="530353"/>
          </a:xfrm>
          <a:prstGeom prst="rect">
            <a:avLst/>
          </a:prstGeom>
        </p:spPr>
        <p:txBody>
          <a:bodyPr lIns="0" tIns="0" rIns="0" bIns="0" anchor="ctr"/>
          <a:lstStyle/>
          <a:p>
            <a:pPr/>
            <a:r>
              <a:t>Write the rule together</a:t>
            </a:r>
          </a:p>
        </p:txBody>
      </p:sp>
      <p:sp>
        <p:nvSpPr>
          <p:cNvPr id="139" name="marketing-card"/>
          <p:cNvSpPr/>
          <p:nvPr/>
        </p:nvSpPr>
        <p:spPr>
          <a:xfrm>
            <a:off x="457200" y="960119"/>
            <a:ext cx="8229600" cy="658369"/>
          </a:xfrm>
          <a:prstGeom prst="rect">
            <a:avLst/>
          </a:prstGeom>
          <a:solidFill>
            <a:srgbClr val="141414"/>
          </a:solidFill>
          <a:ln w="12700">
            <a:miter lim="400000"/>
          </a:ln>
        </p:spPr>
        <p:txBody>
          <a:bodyPr lIns="45719" rIns="45719"/>
          <a:lstStyle/>
          <a:p>
            <a:pPr/>
          </a:p>
        </p:txBody>
      </p:sp>
      <p:sp>
        <p:nvSpPr>
          <p:cNvPr id="140" name="marketing-copy"/>
          <p:cNvSpPr txBox="1"/>
          <p:nvPr/>
        </p:nvSpPr>
        <p:spPr>
          <a:xfrm>
            <a:off x="640079" y="1178327"/>
            <a:ext cx="78638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Guests call them runs, never “trails.” Every status uses StatusBadge.</a:t>
            </a:r>
          </a:p>
        </p:txBody>
      </p:sp>
      <p:sp>
        <p:nvSpPr>
          <p:cNvPr id="141" name="lab-n-01"/>
          <p:cNvSpPr txBox="1"/>
          <p:nvPr/>
        </p:nvSpPr>
        <p:spPr>
          <a:xfrm>
            <a:off x="457199" y="1937511"/>
            <a:ext cx="50292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01</a:t>
            </a:r>
          </a:p>
        </p:txBody>
      </p:sp>
      <p:sp>
        <p:nvSpPr>
          <p:cNvPr id="142" name="lab-text-01"/>
          <p:cNvSpPr txBox="1"/>
          <p:nvPr/>
        </p:nvSpPr>
        <p:spPr>
          <a:xfrm>
            <a:off x="1051559" y="1928135"/>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Run git stash -u to throw away the agent's changes.</a:t>
            </a:r>
          </a:p>
        </p:txBody>
      </p:sp>
      <p:sp>
        <p:nvSpPr>
          <p:cNvPr id="143" name="lab-n-02"/>
          <p:cNvSpPr txBox="1"/>
          <p:nvPr/>
        </p:nvSpPr>
        <p:spPr>
          <a:xfrm>
            <a:off x="457199" y="2559304"/>
            <a:ext cx="50292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02</a:t>
            </a:r>
          </a:p>
        </p:txBody>
      </p:sp>
      <p:sp>
        <p:nvSpPr>
          <p:cNvPr id="144" name="lab-text-02"/>
          <p:cNvSpPr txBox="1"/>
          <p:nvPr/>
        </p:nvSpPr>
        <p:spPr>
          <a:xfrm>
            <a:off x="1051559" y="2549927"/>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New chat. Type /create-rule and paste the prompt from the handout.</a:t>
            </a:r>
          </a:p>
        </p:txBody>
      </p:sp>
      <p:sp>
        <p:nvSpPr>
          <p:cNvPr id="145" name="lab-n-03"/>
          <p:cNvSpPr txBox="1"/>
          <p:nvPr/>
        </p:nvSpPr>
        <p:spPr>
          <a:xfrm>
            <a:off x="457199" y="3181096"/>
            <a:ext cx="50292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03</a:t>
            </a:r>
          </a:p>
        </p:txBody>
      </p:sp>
      <p:sp>
        <p:nvSpPr>
          <p:cNvPr id="146" name="lab-text-03"/>
          <p:cNvSpPr txBox="1"/>
          <p:nvPr/>
        </p:nvSpPr>
        <p:spPr>
          <a:xfrm>
            <a:off x="1051559" y="3171719"/>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New chat, same prompt. Post a ski in chat when you see Open Runs.</a:t>
            </a:r>
          </a:p>
        </p:txBody>
      </p:sp>
      <p:sp>
        <p:nvSpPr>
          <p:cNvPr id="147"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1" name="Text 0"/>
          <p:cNvSpPr txBox="1"/>
          <p:nvPr>
            <p:ph type="title"/>
          </p:nvPr>
        </p:nvSpPr>
        <p:spPr>
          <a:xfrm>
            <a:off x="457200" y="292608"/>
            <a:ext cx="8229600" cy="530353"/>
          </a:xfrm>
          <a:prstGeom prst="rect">
            <a:avLst/>
          </a:prstGeom>
        </p:spPr>
        <p:txBody>
          <a:bodyPr lIns="0" tIns="0" rIns="0" bIns="0" anchor="ctr"/>
          <a:lstStyle/>
          <a:p>
            <a:pPr/>
            <a:r>
              <a:t>Should it be a rule?</a:t>
            </a:r>
          </a:p>
        </p:txBody>
      </p:sp>
      <p:sp>
        <p:nvSpPr>
          <p:cNvPr id="152" name="row-1"/>
          <p:cNvSpPr/>
          <p:nvPr/>
        </p:nvSpPr>
        <p:spPr>
          <a:xfrm>
            <a:off x="457200" y="932688"/>
            <a:ext cx="8229600" cy="402337"/>
          </a:xfrm>
          <a:prstGeom prst="rect">
            <a:avLst/>
          </a:prstGeom>
          <a:solidFill>
            <a:srgbClr val="141414"/>
          </a:solidFill>
          <a:ln w="12700">
            <a:miter lim="400000"/>
          </a:ln>
        </p:spPr>
        <p:txBody>
          <a:bodyPr lIns="45719" rIns="45719"/>
          <a:lstStyle/>
          <a:p>
            <a:pPr/>
          </a:p>
        </p:txBody>
      </p:sp>
      <p:sp>
        <p:nvSpPr>
          <p:cNvPr id="153" name="if-1"/>
          <p:cNvSpPr txBox="1"/>
          <p:nvPr/>
        </p:nvSpPr>
        <p:spPr>
          <a:xfrm>
            <a:off x="621791" y="1029022"/>
            <a:ext cx="41148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The code already shows it</a:t>
            </a:r>
          </a:p>
        </p:txBody>
      </p:sp>
      <p:sp>
        <p:nvSpPr>
          <p:cNvPr id="154" name="then-1"/>
          <p:cNvSpPr txBox="1"/>
          <p:nvPr/>
        </p:nvSpPr>
        <p:spPr>
          <a:xfrm>
            <a:off x="4846320" y="1029022"/>
            <a:ext cx="3657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Skip the rule. The agent reads code.</a:t>
            </a:r>
          </a:p>
        </p:txBody>
      </p:sp>
      <p:sp>
        <p:nvSpPr>
          <p:cNvPr id="155" name="if-2"/>
          <p:cNvSpPr txBox="1"/>
          <p:nvPr/>
        </p:nvSpPr>
        <p:spPr>
          <a:xfrm>
            <a:off x="621791" y="1467934"/>
            <a:ext cx="41148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You've had to say it twice</a:t>
            </a:r>
          </a:p>
        </p:txBody>
      </p:sp>
      <p:sp>
        <p:nvSpPr>
          <p:cNvPr id="156" name="then-2"/>
          <p:cNvSpPr txBox="1"/>
          <p:nvPr/>
        </p:nvSpPr>
        <p:spPr>
          <a:xfrm>
            <a:off x="4846320" y="1467934"/>
            <a:ext cx="3657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Write a rule</a:t>
            </a:r>
          </a:p>
        </p:txBody>
      </p:sp>
      <p:sp>
        <p:nvSpPr>
          <p:cNvPr id="157" name="row-3"/>
          <p:cNvSpPr/>
          <p:nvPr/>
        </p:nvSpPr>
        <p:spPr>
          <a:xfrm>
            <a:off x="457200" y="1810511"/>
            <a:ext cx="8229600" cy="402337"/>
          </a:xfrm>
          <a:prstGeom prst="rect">
            <a:avLst/>
          </a:prstGeom>
          <a:solidFill>
            <a:srgbClr val="141414"/>
          </a:solidFill>
          <a:ln w="12700">
            <a:miter lim="400000"/>
          </a:ln>
        </p:spPr>
        <p:txBody>
          <a:bodyPr lIns="45719" rIns="45719"/>
          <a:lstStyle/>
          <a:p>
            <a:pPr/>
          </a:p>
        </p:txBody>
      </p:sp>
      <p:sp>
        <p:nvSpPr>
          <p:cNvPr id="158" name="if-3"/>
          <p:cNvSpPr txBox="1"/>
          <p:nvPr/>
        </p:nvSpPr>
        <p:spPr>
          <a:xfrm>
            <a:off x="621791" y="1906846"/>
            <a:ext cx="41148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A linter or test could check it</a:t>
            </a:r>
          </a:p>
        </p:txBody>
      </p:sp>
      <p:sp>
        <p:nvSpPr>
          <p:cNvPr id="159" name="then-3"/>
          <p:cNvSpPr txBox="1"/>
          <p:nvPr/>
        </p:nvSpPr>
        <p:spPr>
          <a:xfrm>
            <a:off x="4846320" y="1906846"/>
            <a:ext cx="3657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Use the linter or test instead</a:t>
            </a:r>
          </a:p>
        </p:txBody>
      </p:sp>
      <p:sp>
        <p:nvSpPr>
          <p:cNvPr id="160" name="if-4"/>
          <p:cNvSpPr txBox="1"/>
          <p:nvPr/>
        </p:nvSpPr>
        <p:spPr>
          <a:xfrm>
            <a:off x="621791" y="2345758"/>
            <a:ext cx="41148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It only applies to some files</a:t>
            </a:r>
          </a:p>
        </p:txBody>
      </p:sp>
      <p:sp>
        <p:nvSpPr>
          <p:cNvPr id="161" name="then-4"/>
          <p:cNvSpPr txBox="1"/>
          <p:nvPr/>
        </p:nvSpPr>
        <p:spPr>
          <a:xfrm>
            <a:off x="4846320" y="2345758"/>
            <a:ext cx="3657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Add globs</a:t>
            </a:r>
          </a:p>
        </p:txBody>
      </p:sp>
      <p:sp>
        <p:nvSpPr>
          <p:cNvPr id="162" name="row-5"/>
          <p:cNvSpPr/>
          <p:nvPr/>
        </p:nvSpPr>
        <p:spPr>
          <a:xfrm>
            <a:off x="457200" y="2688335"/>
            <a:ext cx="8229600" cy="402337"/>
          </a:xfrm>
          <a:prstGeom prst="rect">
            <a:avLst/>
          </a:prstGeom>
          <a:solidFill>
            <a:srgbClr val="141414"/>
          </a:solidFill>
          <a:ln w="12700">
            <a:miter lim="400000"/>
          </a:ln>
        </p:spPr>
        <p:txBody>
          <a:bodyPr lIns="45719" rIns="45719"/>
          <a:lstStyle/>
          <a:p>
            <a:pPr/>
          </a:p>
        </p:txBody>
      </p:sp>
      <p:sp>
        <p:nvSpPr>
          <p:cNvPr id="163" name="if-5"/>
          <p:cNvSpPr txBox="1"/>
          <p:nvPr/>
        </p:nvSpPr>
        <p:spPr>
          <a:xfrm>
            <a:off x="621791" y="2784670"/>
            <a:ext cx="41148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It should always be on</a:t>
            </a:r>
          </a:p>
        </p:txBody>
      </p:sp>
      <p:sp>
        <p:nvSpPr>
          <p:cNvPr id="164" name="then-5"/>
          <p:cNvSpPr txBox="1"/>
          <p:nvPr/>
        </p:nvSpPr>
        <p:spPr>
          <a:xfrm>
            <a:off x="4846320" y="2784670"/>
            <a:ext cx="3657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Set alwaysApply: true</a:t>
            </a:r>
          </a:p>
        </p:txBody>
      </p:sp>
      <p:sp>
        <p:nvSpPr>
          <p:cNvPr id="168" name="if-6"/>
          <p:cNvSpPr txBox="1"/>
          <p:nvPr/>
        </p:nvSpPr>
        <p:spPr>
          <a:xfrm>
            <a:off x="621791" y="3223582"/>
            <a:ext cx="41148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It's about security</a:t>
            </a:r>
          </a:p>
        </p:txBody>
      </p:sp>
      <p:sp>
        <p:nvSpPr>
          <p:cNvPr id="169" name="then-6"/>
          <p:cNvSpPr txBox="1"/>
          <p:nvPr/>
        </p:nvSpPr>
        <p:spPr>
          <a:xfrm>
            <a:off x="4846320" y="3223582"/>
            <a:ext cx="3657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Don't rely on a rule alone</a:t>
            </a:r>
          </a:p>
        </p:txBody>
      </p:sp>
      <p:sp>
        <p:nvSpPr>
          <p:cNvPr id="165" name="tip"/>
          <p:cNvSpPr txBox="1"/>
          <p:nvPr/>
        </p:nvSpPr>
        <p:spPr>
          <a:xfrm>
            <a:off x="457200" y="3733292"/>
            <a:ext cx="8229600"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chemeClr val="accent2"/>
                </a:solidFill>
                <a:latin typeface="Courier New"/>
                <a:ea typeface="Courier New"/>
                <a:cs typeface="Courier New"/>
                <a:sym typeface="Courier New"/>
              </a:defRPr>
            </a:lvl1pPr>
          </a:lstStyle>
          <a:p>
            <a:pPr/>
            <a:r>
              <a:t>/  Rules don't apply to Tab, so completions might still say trails.</a:t>
            </a:r>
          </a:p>
        </p:txBody>
      </p:sp>
      <p:sp>
        <p:nvSpPr>
          <p:cNvPr id="167"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50" name="mountain-back-1" descr="Decorative mountain"/>
          <p:cNvSpPr/>
          <p:nvPr/>
        </p:nvSpPr>
        <p:spPr>
          <a:xfrm>
            <a:off x="0" y="4518051"/>
            <a:ext cx="3840480" cy="625449"/>
          </a:xfrm>
          <a:prstGeom prst="triangle">
            <a:avLst>
              <a:gd name="adj" fmla="val 40000"/>
            </a:avLst>
          </a:prstGeom>
          <a:solidFill>
            <a:srgbClr val="262626"/>
          </a:solidFill>
          <a:ln>
            <a:noFill/>
          </a:ln>
        </p:spPr>
        <p:txBody>
          <a:bodyPr/>
          <a:lstStyle/>
          <a:p>
            <a:endParaRPr lang="en-US"/>
          </a:p>
        </p:txBody>
      </p:sp>
      <p:sp>
        <p:nvSpPr>
          <p:cNvPr id="951" name="mountain-back-2" descr="Decorative mountain"/>
          <p:cNvSpPr/>
          <p:nvPr/>
        </p:nvSpPr>
        <p:spPr>
          <a:xfrm>
            <a:off x="2194560" y="4254704"/>
            <a:ext cx="4572000" cy="888796"/>
          </a:xfrm>
          <a:prstGeom prst="triangle">
            <a:avLst>
              <a:gd name="adj" fmla="val 50000"/>
            </a:avLst>
          </a:prstGeom>
          <a:solidFill>
            <a:srgbClr val="262626"/>
          </a:solidFill>
          <a:ln>
            <a:noFill/>
          </a:ln>
        </p:spPr>
        <p:txBody>
          <a:bodyPr/>
          <a:lstStyle/>
          <a:p>
            <a:endParaRPr lang="en-US"/>
          </a:p>
        </p:txBody>
      </p:sp>
      <p:sp>
        <p:nvSpPr>
          <p:cNvPr id="952" name="mountain-back-3" descr="Decorative mountain"/>
          <p:cNvSpPr/>
          <p:nvPr/>
        </p:nvSpPr>
        <p:spPr>
          <a:xfrm>
            <a:off x="5303520" y="4452214"/>
            <a:ext cx="3840480" cy="691286"/>
          </a:xfrm>
          <a:prstGeom prst="triangle">
            <a:avLst>
              <a:gd name="adj" fmla="val 55000"/>
            </a:avLst>
          </a:prstGeom>
          <a:solidFill>
            <a:srgbClr val="262626"/>
          </a:solidFill>
          <a:ln>
            <a:noFill/>
          </a:ln>
        </p:spPr>
        <p:txBody>
          <a:bodyPr/>
          <a:lstStyle/>
          <a:p>
            <a:endParaRPr lang="en-US"/>
          </a:p>
        </p:txBody>
      </p:sp>
      <p:sp>
        <p:nvSpPr>
          <p:cNvPr id="953" name="snowcap-1" descr="Decorative snowcap"/>
          <p:cNvSpPr/>
          <p:nvPr/>
        </p:nvSpPr>
        <p:spPr>
          <a:xfrm>
            <a:off x="1167505" y="4518051"/>
            <a:ext cx="921715" cy="150107"/>
          </a:xfrm>
          <a:prstGeom prst="triangle">
            <a:avLst>
              <a:gd name="adj" fmla="val 40000"/>
            </a:avLst>
          </a:prstGeom>
          <a:solidFill>
            <a:srgbClr val="5C5C5C"/>
          </a:solidFill>
          <a:ln>
            <a:noFill/>
          </a:ln>
        </p:spPr>
        <p:txBody>
          <a:bodyPr/>
          <a:lstStyle/>
          <a:p>
            <a:endParaRPr lang="en-US"/>
          </a:p>
        </p:txBody>
      </p:sp>
      <p:sp>
        <p:nvSpPr>
          <p:cNvPr id="954" name="snowcap-2" descr="Decorative snowcap"/>
          <p:cNvSpPr/>
          <p:nvPr/>
        </p:nvSpPr>
        <p:spPr>
          <a:xfrm>
            <a:off x="3931920" y="4254704"/>
            <a:ext cx="1097280" cy="213311"/>
          </a:xfrm>
          <a:prstGeom prst="triangle">
            <a:avLst>
              <a:gd name="adj" fmla="val 50000"/>
            </a:avLst>
          </a:prstGeom>
          <a:solidFill>
            <a:srgbClr val="5C5C5C"/>
          </a:solidFill>
          <a:ln>
            <a:noFill/>
          </a:ln>
        </p:spPr>
        <p:txBody>
          <a:bodyPr/>
          <a:lstStyle/>
          <a:p>
            <a:endParaRPr lang="en-US"/>
          </a:p>
        </p:txBody>
      </p:sp>
      <p:sp>
        <p:nvSpPr>
          <p:cNvPr id="955" name="snowcap-3" descr="Decorative snowcap"/>
          <p:cNvSpPr/>
          <p:nvPr/>
        </p:nvSpPr>
        <p:spPr>
          <a:xfrm>
            <a:off x="6908840" y="4452214"/>
            <a:ext cx="921715" cy="165908"/>
          </a:xfrm>
          <a:prstGeom prst="triangle">
            <a:avLst>
              <a:gd name="adj" fmla="val 55000"/>
            </a:avLst>
          </a:prstGeom>
          <a:solidFill>
            <a:srgbClr val="5C5C5C"/>
          </a:solidFill>
          <a:ln>
            <a:noFill/>
          </a:ln>
        </p:spPr>
        <p:txBody>
          <a:bodyPr/>
          <a:lstStyle/>
          <a:p>
            <a:endParaRPr lang="en-US"/>
          </a:p>
        </p:txBody>
      </p:sp>
      <p:sp>
        <p:nvSpPr>
          <p:cNvPr id="956" name="mountain-front-1" descr="Decorative mountain"/>
          <p:cNvSpPr/>
          <p:nvPr/>
        </p:nvSpPr>
        <p:spPr>
          <a:xfrm>
            <a:off x="0" y="4781398"/>
            <a:ext cx="4206240" cy="362102"/>
          </a:xfrm>
          <a:prstGeom prst="triangle">
            <a:avLst>
              <a:gd name="adj" fmla="val 35000"/>
            </a:avLst>
          </a:prstGeom>
          <a:solidFill>
            <a:srgbClr val="171717"/>
          </a:solidFill>
          <a:ln>
            <a:noFill/>
          </a:ln>
        </p:spPr>
        <p:txBody>
          <a:bodyPr/>
          <a:lstStyle/>
          <a:p>
            <a:endParaRPr lang="en-US"/>
          </a:p>
        </p:txBody>
      </p:sp>
      <p:sp>
        <p:nvSpPr>
          <p:cNvPr id="957" name="mountain-front-2" descr="Decorative mountain"/>
          <p:cNvSpPr/>
          <p:nvPr/>
        </p:nvSpPr>
        <p:spPr>
          <a:xfrm>
            <a:off x="2743200" y="4669476"/>
            <a:ext cx="4572000" cy="474024"/>
          </a:xfrm>
          <a:prstGeom prst="triangle">
            <a:avLst>
              <a:gd name="adj" fmla="val 55000"/>
            </a:avLst>
          </a:prstGeom>
          <a:solidFill>
            <a:srgbClr val="171717"/>
          </a:solidFill>
          <a:ln>
            <a:noFill/>
          </a:ln>
        </p:spPr>
        <p:txBody>
          <a:bodyPr/>
          <a:lstStyle/>
          <a:p>
            <a:endParaRPr lang="en-US"/>
          </a:p>
        </p:txBody>
      </p:sp>
      <p:sp>
        <p:nvSpPr>
          <p:cNvPr id="958" name="mountain-front-3" descr="Decorative mountain"/>
          <p:cNvSpPr/>
          <p:nvPr/>
        </p:nvSpPr>
        <p:spPr>
          <a:xfrm>
            <a:off x="5669280" y="4814316"/>
            <a:ext cx="3474720" cy="329184"/>
          </a:xfrm>
          <a:prstGeom prst="triangle">
            <a:avLst>
              <a:gd name="adj" fmla="val 45000"/>
            </a:avLst>
          </a:prstGeom>
          <a:solidFill>
            <a:srgbClr val="171717"/>
          </a:solidFill>
          <a:ln>
            <a:noFill/>
          </a:ln>
        </p:spPr>
        <p:txBody>
          <a:bodyPr/>
          <a:lstStyle/>
          <a:p>
            <a:endParaRPr lang="en-US"/>
          </a:p>
        </p:txBody>
      </p:sp>
      <p:sp>
        <p:nvSpPr>
          <p:cNvPr id="138" name="Text 0"/>
          <p:cNvSpPr txBox="1"/>
          <p:nvPr>
            <p:ph type="title"/>
          </p:nvPr>
        </p:nvSpPr>
        <p:spPr>
          <a:xfrm>
            <a:off x="457200" y="292608"/>
            <a:ext cx="8229600" cy="530353"/>
          </a:xfrm>
          <a:prstGeom prst="rect">
            <a:avLst/>
          </a:prstGeom>
        </p:spPr>
        <p:txBody>
          <a:bodyPr lIns="0" tIns="0" rIns="0" bIns="0" anchor="ctr"/>
          <a:lstStyle/>
          <a:p>
            <a:pPr/>
            <a:r>
              <a:t>Your challenge</a:t>
            </a:r>
          </a:p>
        </p:txBody>
      </p:sp>
      <p:sp>
        <p:nvSpPr>
          <p:cNvPr id="139" name="marketing-card"/>
          <p:cNvSpPr/>
          <p:nvPr/>
        </p:nvSpPr>
        <p:spPr>
          <a:xfrm>
            <a:off x="457200" y="960119"/>
            <a:ext cx="8229600" cy="658369"/>
          </a:xfrm>
          <a:prstGeom prst="rect">
            <a:avLst/>
          </a:prstGeom>
          <a:solidFill>
            <a:srgbClr val="141414"/>
          </a:solidFill>
          <a:ln w="12700">
            <a:miter lim="400000"/>
          </a:ln>
        </p:spPr>
        <p:txBody>
          <a:bodyPr lIns="45719" rIns="45719"/>
          <a:lstStyle/>
          <a:p>
            <a:pPr/>
          </a:p>
        </p:txBody>
      </p:sp>
      <p:sp>
        <p:nvSpPr>
          <p:cNvPr id="140" name="marketing-copy"/>
          <p:cNvSpPr txBox="1"/>
          <p:nvPr/>
        </p:nvSpPr>
        <p:spPr>
          <a:xfrm>
            <a:off x="640079" y="1178327"/>
            <a:ext cx="78638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Write one more rule on your own, then paste it in chat.</a:t>
            </a:r>
          </a:p>
        </p:txBody>
      </p:sp>
      <p:sp>
        <p:nvSpPr>
          <p:cNvPr id="900" name="trail-1" descr="Green circle: easiest"/>
          <p:cNvSpPr/>
          <p:nvPr/>
        </p:nvSpPr>
        <p:spPr>
          <a:xfrm>
            <a:off x="475487" y="1947671"/>
            <a:ext cx="182880" cy="182880"/>
          </a:xfrm>
          <a:prstGeom prst="ellipse">
            <a:avLst/>
          </a:prstGeom>
          <a:solidFill>
            <a:srgbClr val="1F9D55"/>
          </a:solidFill>
          <a:ln>
            <a:noFill/>
          </a:ln>
        </p:spPr>
        <p:txBody>
          <a:bodyPr/>
          <a:lstStyle/>
          <a:p>
            <a:endParaRPr lang="en-US"/>
          </a:p>
        </p:txBody>
      </p:sp>
      <p:sp>
        <p:nvSpPr>
          <p:cNvPr id="142" name="lab-text-01"/>
          <p:cNvSpPr txBox="1"/>
          <p:nvPr/>
        </p:nvSpPr>
        <p:spPr>
          <a:xfrm>
            <a:off x="1051559" y="1928135"/>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Pick something the code doesn't already say, at work or in Snowtooth.</a:t>
            </a:r>
          </a:p>
        </p:txBody>
      </p:sp>
      <p:sp>
        <p:nvSpPr>
          <p:cNvPr id="901" name="trail-2" descr="Blue square: more difficult"/>
          <p:cNvSpPr/>
          <p:nvPr/>
        </p:nvSpPr>
        <p:spPr>
          <a:xfrm>
            <a:off x="484631" y="2578608"/>
            <a:ext cx="164592" cy="164592"/>
          </a:xfrm>
          <a:prstGeom prst="rect">
            <a:avLst/>
          </a:prstGeom>
          <a:solidFill>
            <a:srgbClr val="3B82F6"/>
          </a:solidFill>
          <a:ln>
            <a:noFill/>
          </a:ln>
        </p:spPr>
        <p:txBody>
          <a:bodyPr/>
          <a:lstStyle/>
          <a:p>
            <a:endParaRPr lang="en-US"/>
          </a:p>
        </p:txBody>
      </p:sp>
      <p:sp>
        <p:nvSpPr>
          <p:cNvPr id="144" name="lab-text-02"/>
          <p:cNvSpPr txBox="1"/>
          <p:nvPr/>
        </p:nvSpPr>
        <p:spPr>
          <a:xfrm>
            <a:off x="1051559" y="2549927"/>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Write the rule: a description, a do, a don't, and an @ pointer.</a:t>
            </a:r>
          </a:p>
        </p:txBody>
      </p:sp>
      <p:sp>
        <p:nvSpPr>
          <p:cNvPr id="902" name="trail-3" descr="Black diamond: most difficult"/>
          <p:cNvSpPr/>
          <p:nvPr/>
        </p:nvSpPr>
        <p:spPr>
          <a:xfrm>
            <a:off x="461771" y="3177540"/>
            <a:ext cx="210312" cy="210312"/>
          </a:xfrm>
          <a:prstGeom prst="diamond">
            <a:avLst/>
          </a:prstGeom>
          <a:solidFill>
            <a:srgbClr val="0A0A0A"/>
          </a:solidFill>
          <a:ln w="19050">
            <a:solidFill>
              <a:srgbClr val="F2F2F2"/>
            </a:solidFill>
          </a:ln>
        </p:spPr>
        <p:txBody>
          <a:bodyPr/>
          <a:lstStyle/>
          <a:p>
            <a:endParaRPr lang="en-US"/>
          </a:p>
        </p:txBody>
      </p:sp>
      <p:sp>
        <p:nvSpPr>
          <p:cNvPr id="146" name="lab-text-03"/>
          <p:cNvSpPr txBox="1"/>
          <p:nvPr/>
        </p:nvSpPr>
        <p:spPr>
          <a:xfrm>
            <a:off x="1051559" y="3171719"/>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Test it with the same prompt in a new chat, then paste it in chat.</a:t>
            </a:r>
          </a:p>
        </p:txBody>
      </p:sp>
      <p:sp>
        <p:nvSpPr>
          <p:cNvPr id="147"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
        <p:nvSpPr>
          <p:cNvPr id="960" name="stuck"/>
          <p:cNvSpPr txBox="1"/>
          <p:nvPr/>
        </p:nvSpPr>
        <p:spPr>
          <a:xfrm>
            <a:off x="457200" y="3639312"/>
            <a:ext cx="8229600" cy="457200"/>
          </a:xfrm>
          <a:prstGeom prst="rect">
            <a:avLst/>
          </a:prstGeom>
          <a:noFill/>
        </p:spPr>
        <p:txBody>
          <a:bodyPr wrap="square" lIns="0" tIns="0" rIns="0" bIns="0" anchor="t"/>
          <a:lstStyle/>
          <a:p>
            <a:r>
              <a:rPr lang="en-US" sz="1200">
                <a:solidFill>
                  <a:srgbClr val="8A8A8A"/>
                </a:solidFill>
                <a:latin typeface="Courier New"/>
                <a:cs typeface="Courier New"/>
              </a:rPr>
              <a:t>Stuck? Guests read difficulty from trail map symbols, never words.</a:t>
            </a:r>
          </a:p>
          <a:p>
            <a:r>
              <a:rPr lang="en-US" sz="1200">
                <a:solidFill>
                  <a:srgbClr val="8A8A8A"/>
                </a:solidFill>
                <a:latin typeface="Courier New"/>
                <a:cs typeface="Courier New"/>
              </a:rPr>
              <a:t>Test it: “Add a panel that lists every run and its difficulty.”</a:t>
            </a: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 name="Text 0"/>
          <p:cNvSpPr txBox="1"/>
          <p:nvPr>
            <p:ph type="title"/>
          </p:nvPr>
        </p:nvSpPr>
        <p:spPr>
          <a:xfrm>
            <a:off x="457200" y="292608"/>
            <a:ext cx="8229600" cy="530353"/>
          </a:xfrm>
          <a:prstGeom prst="rect">
            <a:avLst/>
          </a:prstGeom>
        </p:spPr>
        <p:txBody>
          <a:bodyPr lIns="0" tIns="0" rIns="0" bIns="0" anchor="ctr"/>
          <a:lstStyle/>
          <a:p>
            <a:pPr/>
            <a:r>
              <a:t>Welcome to Snowtooth Mountain</a:t>
            </a:r>
          </a:p>
        </p:txBody>
      </p:sp>
      <p:sp>
        <p:nvSpPr>
          <p:cNvPr id="1001" name="peak" descr="Decorative mountain"/>
          <p:cNvSpPr/>
          <p:nvPr/>
        </p:nvSpPr>
        <p:spPr>
          <a:xfrm>
            <a:off x="0" y="2400300"/>
            <a:ext cx="4023360" cy="2743200"/>
          </a:xfrm>
          <a:prstGeom prst="triangle">
            <a:avLst>
              <a:gd name="adj" fmla="val 45000"/>
            </a:avLst>
          </a:prstGeom>
          <a:solidFill>
            <a:srgbClr val="171717"/>
          </a:solidFill>
          <a:ln>
            <a:noFill/>
          </a:ln>
        </p:spPr>
        <p:txBody>
          <a:bodyPr/>
          <a:lstStyle/>
          <a:p>
            <a:endParaRPr lang="en-US"/>
          </a:p>
        </p:txBody>
      </p:sp>
      <p:sp>
        <p:nvSpPr>
          <p:cNvPr id="1002" name="snowcap" descr="Decorative snowcap"/>
          <p:cNvSpPr/>
          <p:nvPr/>
        </p:nvSpPr>
        <p:spPr>
          <a:xfrm>
            <a:off x="1575145" y="2400300"/>
            <a:ext cx="523037" cy="356616"/>
          </a:xfrm>
          <a:prstGeom prst="triangle">
            <a:avLst>
              <a:gd name="adj" fmla="val 45000"/>
            </a:avLst>
          </a:prstGeom>
          <a:solidFill>
            <a:srgbClr val="3A3A3A"/>
          </a:solidFill>
          <a:ln>
            <a:noFill/>
          </a:ln>
        </p:spPr>
        <p:txBody>
          <a:bodyPr/>
          <a:lstStyle/>
          <a:p>
            <a:endParaRPr lang="en-US"/>
          </a:p>
        </p:txBody>
      </p:sp>
      <p:sp>
        <p:nvSpPr>
          <p:cNvPr id="1003" name="peak" descr="Decorative mountain"/>
          <p:cNvSpPr/>
          <p:nvPr/>
        </p:nvSpPr>
        <p:spPr>
          <a:xfrm>
            <a:off x="5852160" y="2766060"/>
            <a:ext cx="3291840" cy="2377440"/>
          </a:xfrm>
          <a:prstGeom prst="triangle">
            <a:avLst>
              <a:gd name="adj" fmla="val 55000"/>
            </a:avLst>
          </a:prstGeom>
          <a:solidFill>
            <a:srgbClr val="171717"/>
          </a:solidFill>
          <a:ln>
            <a:noFill/>
          </a:ln>
        </p:spPr>
        <p:txBody>
          <a:bodyPr/>
          <a:lstStyle/>
          <a:p>
            <a:endParaRPr lang="en-US"/>
          </a:p>
        </p:txBody>
      </p:sp>
      <p:sp>
        <p:nvSpPr>
          <p:cNvPr id="1004" name="snowcap" descr="Decorative snowcap"/>
          <p:cNvSpPr/>
          <p:nvPr/>
        </p:nvSpPr>
        <p:spPr>
          <a:xfrm>
            <a:off x="7427305" y="2766060"/>
            <a:ext cx="427939" cy="309067"/>
          </a:xfrm>
          <a:prstGeom prst="triangle">
            <a:avLst>
              <a:gd name="adj" fmla="val 55000"/>
            </a:avLst>
          </a:prstGeom>
          <a:solidFill>
            <a:srgbClr val="3A3A3A"/>
          </a:solidFill>
          <a:ln>
            <a:noFill/>
          </a:ln>
        </p:spPr>
        <p:txBody>
          <a:bodyPr/>
          <a:lstStyle/>
          <a:p>
            <a:endParaRPr lang="en-US"/>
          </a:p>
        </p:txBody>
      </p:sp>
      <p:sp>
        <p:nvSpPr>
          <p:cNvPr id="1005" name="peak" descr="Decorative mountain"/>
          <p:cNvSpPr/>
          <p:nvPr/>
        </p:nvSpPr>
        <p:spPr>
          <a:xfrm>
            <a:off x="1463040" y="1303020"/>
            <a:ext cx="6583680" cy="3840480"/>
          </a:xfrm>
          <a:prstGeom prst="triangle">
            <a:avLst>
              <a:gd name="adj" fmla="val 50000"/>
            </a:avLst>
          </a:prstGeom>
          <a:solidFill>
            <a:srgbClr val="1E1E1E"/>
          </a:solidFill>
          <a:ln>
            <a:noFill/>
          </a:ln>
        </p:spPr>
        <p:txBody>
          <a:bodyPr/>
          <a:lstStyle/>
          <a:p>
            <a:endParaRPr lang="en-US"/>
          </a:p>
        </p:txBody>
      </p:sp>
      <p:sp>
        <p:nvSpPr>
          <p:cNvPr id="1006" name="snowcap" descr="Decorative snowcap"/>
          <p:cNvSpPr/>
          <p:nvPr/>
        </p:nvSpPr>
        <p:spPr>
          <a:xfrm>
            <a:off x="4326941" y="1303020"/>
            <a:ext cx="855878" cy="499262"/>
          </a:xfrm>
          <a:prstGeom prst="triangle">
            <a:avLst>
              <a:gd name="adj" fmla="val 50000"/>
            </a:avLst>
          </a:prstGeom>
          <a:solidFill>
            <a:srgbClr val="3A3A3A"/>
          </a:solidFill>
          <a:ln>
            <a:noFill/>
          </a:ln>
        </p:spPr>
        <p:txBody>
          <a:bodyPr/>
          <a:lstStyle/>
          <a:p>
            <a:endParaRPr lang="en-US"/>
          </a:p>
        </p:txBody>
      </p:sp>
      <p:cxnSp>
        <p:nvCxnSpPr>
          <p:cNvPr id="1007" name="lift"/>
          <p:cNvCxnSpPr/>
          <p:nvPr/>
        </p:nvCxnSpPr>
        <p:spPr>
          <a:xfrm>
            <a:off x="4791456" y="2011680"/>
            <a:ext cx="192024" cy="2057400"/>
          </a:xfrm>
          <a:prstGeom prst="line">
            <a:avLst/>
          </a:prstGeom>
          <a:ln w="12700" cap="rnd">
            <a:solidFill>
              <a:srgbClr val="8A8A8A"/>
            </a:solidFill>
            <a:prstDash val="sysDot"/>
            <a:round/>
          </a:ln>
        </p:spPr>
      </p:cxnSp>
      <p:sp>
        <p:nvSpPr>
          <p:cNvPr id="1008" name="lift-top"/>
          <p:cNvSpPr/>
          <p:nvPr/>
        </p:nvSpPr>
        <p:spPr>
          <a:xfrm>
            <a:off x="4759452" y="1979676"/>
            <a:ext cx="64008" cy="64008"/>
          </a:xfrm>
          <a:prstGeom prst="ellipse">
            <a:avLst/>
          </a:prstGeom>
          <a:solidFill>
            <a:srgbClr val="8A8A8A"/>
          </a:solidFill>
          <a:ln>
            <a:noFill/>
          </a:ln>
        </p:spPr>
        <p:txBody>
          <a:bodyPr/>
          <a:lstStyle/>
          <a:p>
            <a:endParaRPr lang="en-US"/>
          </a:p>
        </p:txBody>
      </p:sp>
      <p:cxnSp>
        <p:nvCxnSpPr>
          <p:cNvPr id="1009" name="lift"/>
          <p:cNvCxnSpPr/>
          <p:nvPr/>
        </p:nvCxnSpPr>
        <p:spPr>
          <a:xfrm>
            <a:off x="1847088" y="2788920"/>
            <a:ext cx="393192" cy="1554480"/>
          </a:xfrm>
          <a:prstGeom prst="line">
            <a:avLst/>
          </a:prstGeom>
          <a:ln w="12700" cap="rnd">
            <a:solidFill>
              <a:srgbClr val="8A8A8A"/>
            </a:solidFill>
            <a:prstDash val="sysDot"/>
            <a:round/>
          </a:ln>
        </p:spPr>
      </p:cxnSp>
      <p:sp>
        <p:nvSpPr>
          <p:cNvPr id="1010" name="lift-top"/>
          <p:cNvSpPr/>
          <p:nvPr/>
        </p:nvSpPr>
        <p:spPr>
          <a:xfrm>
            <a:off x="1815084" y="2756916"/>
            <a:ext cx="64008" cy="64008"/>
          </a:xfrm>
          <a:prstGeom prst="ellipse">
            <a:avLst/>
          </a:prstGeom>
          <a:solidFill>
            <a:srgbClr val="8A8A8A"/>
          </a:solidFill>
          <a:ln>
            <a:noFill/>
          </a:ln>
        </p:spPr>
        <p:txBody>
          <a:bodyPr/>
          <a:lstStyle/>
          <a:p>
            <a:endParaRPr lang="en-US"/>
          </a:p>
        </p:txBody>
      </p:sp>
      <p:cxnSp>
        <p:nvCxnSpPr>
          <p:cNvPr id="1011" name="run-Sneaky Pete"/>
          <p:cNvCxnSpPr/>
          <p:nvPr/>
        </p:nvCxnSpPr>
        <p:spPr>
          <a:xfrm flipH="1">
            <a:off x="1280160" y="2697480"/>
            <a:ext cx="502920" cy="868680"/>
          </a:xfrm>
          <a:prstGeom prst="line">
            <a:avLst/>
          </a:prstGeom>
          <a:ln w="28575" cap="rnd">
            <a:solidFill>
              <a:srgbClr val="1F9D55"/>
            </a:solidFill>
            <a:round/>
          </a:ln>
        </p:spPr>
      </p:cxnSp>
      <p:cxnSp>
        <p:nvCxnSpPr>
          <p:cNvPr id="1012" name="run-Sneaky Pete"/>
          <p:cNvCxnSpPr/>
          <p:nvPr/>
        </p:nvCxnSpPr>
        <p:spPr>
          <a:xfrm flipH="1">
            <a:off x="1188720" y="3566160"/>
            <a:ext cx="91440" cy="822960"/>
          </a:xfrm>
          <a:prstGeom prst="line">
            <a:avLst/>
          </a:prstGeom>
          <a:ln w="28575" cap="rnd">
            <a:solidFill>
              <a:srgbClr val="1F9D55"/>
            </a:solidFill>
            <a:round/>
          </a:ln>
        </p:spPr>
      </p:cxnSp>
      <p:sp>
        <p:nvSpPr>
          <p:cNvPr id="1013" name="marker-green" descr="Beginner"/>
          <p:cNvSpPr/>
          <p:nvPr/>
        </p:nvSpPr>
        <p:spPr>
          <a:xfrm>
            <a:off x="1723644" y="2638044"/>
            <a:ext cx="118872" cy="118872"/>
          </a:xfrm>
          <a:prstGeom prst="ellipse">
            <a:avLst/>
          </a:prstGeom>
          <a:solidFill>
            <a:srgbClr val="1F9D55"/>
          </a:solidFill>
          <a:ln>
            <a:noFill/>
          </a:ln>
        </p:spPr>
        <p:txBody>
          <a:bodyPr/>
          <a:lstStyle/>
          <a:p>
            <a:endParaRPr lang="en-US"/>
          </a:p>
        </p:txBody>
      </p:sp>
      <p:sp>
        <p:nvSpPr>
          <p:cNvPr id="1014" name="run-label-Sneaky Pete"/>
          <p:cNvSpPr txBox="1"/>
          <p:nvPr/>
        </p:nvSpPr>
        <p:spPr>
          <a:xfrm>
            <a:off x="502920" y="4498848"/>
            <a:ext cx="1371600" cy="201168"/>
          </a:xfrm>
          <a:prstGeom prst="rect">
            <a:avLst/>
          </a:prstGeom>
          <a:noFill/>
        </p:spPr>
        <p:txBody>
          <a:bodyPr wrap="none" lIns="0" tIns="0" rIns="0" bIns="0" anchor="ctr"/>
          <a:lstStyle/>
          <a:p>
            <a:pPr algn="ctr"/>
            <a:r>
              <a:rPr lang="en-US" sz="900">
                <a:solidFill>
                  <a:srgbClr val="F2F2F2"/>
                </a:solidFill>
                <a:latin typeface="Arial"/>
                <a:cs typeface="Arial"/>
              </a:rPr>
              <a:t>Sneaky Pete</a:t>
            </a:r>
          </a:p>
        </p:txBody>
      </p:sp>
      <p:cxnSp>
        <p:nvCxnSpPr>
          <p:cNvPr id="1015" name="run-Meow Face"/>
          <p:cNvCxnSpPr/>
          <p:nvPr/>
        </p:nvCxnSpPr>
        <p:spPr>
          <a:xfrm flipH="1">
            <a:off x="3566160" y="2103120"/>
            <a:ext cx="713232" cy="822960"/>
          </a:xfrm>
          <a:prstGeom prst="line">
            <a:avLst/>
          </a:prstGeom>
          <a:ln w="28575" cap="rnd">
            <a:solidFill>
              <a:srgbClr val="3B82F6"/>
            </a:solidFill>
            <a:round/>
          </a:ln>
        </p:spPr>
      </p:cxnSp>
      <p:cxnSp>
        <p:nvCxnSpPr>
          <p:cNvPr id="1016" name="run-Meow Face"/>
          <p:cNvCxnSpPr/>
          <p:nvPr/>
        </p:nvCxnSpPr>
        <p:spPr>
          <a:xfrm flipH="1">
            <a:off x="2651760" y="2926080"/>
            <a:ext cx="914400" cy="1463040"/>
          </a:xfrm>
          <a:prstGeom prst="line">
            <a:avLst/>
          </a:prstGeom>
          <a:ln w="28575" cap="rnd">
            <a:solidFill>
              <a:srgbClr val="3B82F6"/>
            </a:solidFill>
            <a:round/>
          </a:ln>
        </p:spPr>
      </p:cxnSp>
      <p:sp>
        <p:nvSpPr>
          <p:cNvPr id="1017" name="marker-blue" descr="Intermediate"/>
          <p:cNvSpPr/>
          <p:nvPr/>
        </p:nvSpPr>
        <p:spPr>
          <a:xfrm>
            <a:off x="4225900" y="2049628"/>
            <a:ext cx="106985" cy="106985"/>
          </a:xfrm>
          <a:prstGeom prst="rect">
            <a:avLst/>
          </a:prstGeom>
          <a:solidFill>
            <a:srgbClr val="3B82F6"/>
          </a:solidFill>
          <a:ln>
            <a:noFill/>
          </a:ln>
        </p:spPr>
        <p:txBody>
          <a:bodyPr/>
          <a:lstStyle/>
          <a:p>
            <a:endParaRPr lang="en-US"/>
          </a:p>
        </p:txBody>
      </p:sp>
      <p:sp>
        <p:nvSpPr>
          <p:cNvPr id="1018" name="run-label-Meow Face"/>
          <p:cNvSpPr txBox="1"/>
          <p:nvPr/>
        </p:nvSpPr>
        <p:spPr>
          <a:xfrm>
            <a:off x="1965960" y="4498848"/>
            <a:ext cx="1371600" cy="201168"/>
          </a:xfrm>
          <a:prstGeom prst="rect">
            <a:avLst/>
          </a:prstGeom>
          <a:noFill/>
        </p:spPr>
        <p:txBody>
          <a:bodyPr wrap="none" lIns="0" tIns="0" rIns="0" bIns="0" anchor="ctr"/>
          <a:lstStyle/>
          <a:p>
            <a:pPr algn="ctr"/>
            <a:r>
              <a:rPr lang="en-US" sz="900">
                <a:solidFill>
                  <a:srgbClr val="F2F2F2"/>
                </a:solidFill>
                <a:latin typeface="Arial"/>
                <a:cs typeface="Arial"/>
              </a:rPr>
              <a:t>Meow Face</a:t>
            </a:r>
          </a:p>
        </p:txBody>
      </p:sp>
      <p:cxnSp>
        <p:nvCxnSpPr>
          <p:cNvPr id="1019" name="run-Golden Ticket"/>
          <p:cNvCxnSpPr/>
          <p:nvPr/>
        </p:nvCxnSpPr>
        <p:spPr>
          <a:xfrm flipH="1">
            <a:off x="4160520" y="1691640"/>
            <a:ext cx="393192" cy="1143000"/>
          </a:xfrm>
          <a:prstGeom prst="line">
            <a:avLst/>
          </a:prstGeom>
          <a:ln w="28575" cap="rnd">
            <a:solidFill>
              <a:srgbClr val="F2F2F2"/>
            </a:solidFill>
            <a:prstDash val="dash"/>
            <a:round/>
          </a:ln>
        </p:spPr>
      </p:cxnSp>
      <p:cxnSp>
        <p:nvCxnSpPr>
          <p:cNvPr id="1020" name="run-Golden Ticket"/>
          <p:cNvCxnSpPr/>
          <p:nvPr/>
        </p:nvCxnSpPr>
        <p:spPr>
          <a:xfrm flipH="1">
            <a:off x="3931920" y="2834640"/>
            <a:ext cx="228600" cy="1554480"/>
          </a:xfrm>
          <a:prstGeom prst="line">
            <a:avLst/>
          </a:prstGeom>
          <a:ln w="28575" cap="rnd">
            <a:solidFill>
              <a:srgbClr val="F2F2F2"/>
            </a:solidFill>
            <a:prstDash val="dash"/>
            <a:round/>
          </a:ln>
        </p:spPr>
      </p:cxnSp>
      <p:sp>
        <p:nvSpPr>
          <p:cNvPr id="1021" name="marker-black" descr="Expert"/>
          <p:cNvSpPr/>
          <p:nvPr/>
        </p:nvSpPr>
        <p:spPr>
          <a:xfrm>
            <a:off x="4407865" y="1623289"/>
            <a:ext cx="136703" cy="136703"/>
          </a:xfrm>
          <a:prstGeom prst="diamond">
            <a:avLst/>
          </a:prstGeom>
          <a:solidFill>
            <a:srgbClr val="0A0A0A"/>
          </a:solidFill>
          <a:ln w="12700">
            <a:solidFill>
              <a:srgbClr val="F2F2F2"/>
            </a:solidFill>
          </a:ln>
        </p:spPr>
        <p:txBody>
          <a:bodyPr/>
          <a:lstStyle/>
          <a:p>
            <a:endParaRPr lang="en-US"/>
          </a:p>
        </p:txBody>
      </p:sp>
      <p:sp>
        <p:nvSpPr>
          <p:cNvPr id="1022" name="marker-black" descr="Expert"/>
          <p:cNvSpPr/>
          <p:nvPr/>
        </p:nvSpPr>
        <p:spPr>
          <a:xfrm>
            <a:off x="4562856" y="1623289"/>
            <a:ext cx="136703" cy="136703"/>
          </a:xfrm>
          <a:prstGeom prst="diamond">
            <a:avLst/>
          </a:prstGeom>
          <a:solidFill>
            <a:srgbClr val="0A0A0A"/>
          </a:solidFill>
          <a:ln w="12700">
            <a:solidFill>
              <a:srgbClr val="F2F2F2"/>
            </a:solidFill>
          </a:ln>
        </p:spPr>
        <p:txBody>
          <a:bodyPr/>
          <a:lstStyle/>
          <a:p>
            <a:endParaRPr lang="en-US"/>
          </a:p>
        </p:txBody>
      </p:sp>
      <p:sp>
        <p:nvSpPr>
          <p:cNvPr id="1023" name="run-label-Golden Ticket"/>
          <p:cNvSpPr txBox="1"/>
          <p:nvPr/>
        </p:nvSpPr>
        <p:spPr>
          <a:xfrm>
            <a:off x="3246120" y="4498848"/>
            <a:ext cx="1371600" cy="201168"/>
          </a:xfrm>
          <a:prstGeom prst="rect">
            <a:avLst/>
          </a:prstGeom>
          <a:noFill/>
        </p:spPr>
        <p:txBody>
          <a:bodyPr wrap="none" lIns="0" tIns="0" rIns="0" bIns="0" anchor="ctr"/>
          <a:lstStyle/>
          <a:p>
            <a:pPr algn="ctr"/>
            <a:r>
              <a:rPr lang="en-US" sz="900">
                <a:solidFill>
                  <a:srgbClr val="F2F2F2"/>
                </a:solidFill>
                <a:latin typeface="Arial"/>
                <a:cs typeface="Arial"/>
              </a:rPr>
              <a:t>Golden Ticket</a:t>
            </a:r>
          </a:p>
        </p:txBody>
      </p:sp>
      <p:cxnSp>
        <p:nvCxnSpPr>
          <p:cNvPr id="1024" name="run-Parker Downhill"/>
          <p:cNvCxnSpPr/>
          <p:nvPr/>
        </p:nvCxnSpPr>
        <p:spPr>
          <a:xfrm>
            <a:off x="5029200" y="1920240"/>
            <a:ext cx="457200" cy="822960"/>
          </a:xfrm>
          <a:prstGeom prst="line">
            <a:avLst/>
          </a:prstGeom>
          <a:ln w="28575" cap="rnd">
            <a:solidFill>
              <a:srgbClr val="F2F2F2"/>
            </a:solidFill>
            <a:round/>
          </a:ln>
        </p:spPr>
      </p:cxnSp>
      <p:cxnSp>
        <p:nvCxnSpPr>
          <p:cNvPr id="1025" name="run-Parker Downhill"/>
          <p:cNvCxnSpPr/>
          <p:nvPr/>
        </p:nvCxnSpPr>
        <p:spPr>
          <a:xfrm>
            <a:off x="5486400" y="2743200"/>
            <a:ext cx="137160" cy="1645920"/>
          </a:xfrm>
          <a:prstGeom prst="line">
            <a:avLst/>
          </a:prstGeom>
          <a:ln w="28575" cap="rnd">
            <a:solidFill>
              <a:srgbClr val="F2F2F2"/>
            </a:solidFill>
            <a:round/>
          </a:ln>
        </p:spPr>
      </p:cxnSp>
      <p:sp>
        <p:nvSpPr>
          <p:cNvPr id="1026" name="marker-black" descr="Advanced"/>
          <p:cNvSpPr/>
          <p:nvPr/>
        </p:nvSpPr>
        <p:spPr>
          <a:xfrm>
            <a:off x="4960849" y="1851889"/>
            <a:ext cx="136703" cy="136703"/>
          </a:xfrm>
          <a:prstGeom prst="diamond">
            <a:avLst/>
          </a:prstGeom>
          <a:solidFill>
            <a:srgbClr val="0A0A0A"/>
          </a:solidFill>
          <a:ln w="12700">
            <a:solidFill>
              <a:srgbClr val="F2F2F2"/>
            </a:solidFill>
          </a:ln>
        </p:spPr>
        <p:txBody>
          <a:bodyPr/>
          <a:lstStyle/>
          <a:p>
            <a:endParaRPr lang="en-US"/>
          </a:p>
        </p:txBody>
      </p:sp>
      <p:sp>
        <p:nvSpPr>
          <p:cNvPr id="1027" name="run-label-Parker Downhill"/>
          <p:cNvSpPr txBox="1"/>
          <p:nvPr/>
        </p:nvSpPr>
        <p:spPr>
          <a:xfrm>
            <a:off x="4937760" y="4498848"/>
            <a:ext cx="1371600" cy="201168"/>
          </a:xfrm>
          <a:prstGeom prst="rect">
            <a:avLst/>
          </a:prstGeom>
          <a:noFill/>
        </p:spPr>
        <p:txBody>
          <a:bodyPr wrap="none" lIns="0" tIns="0" rIns="0" bIns="0" anchor="ctr"/>
          <a:lstStyle/>
          <a:p>
            <a:pPr algn="ctr"/>
            <a:r>
              <a:rPr lang="en-US" sz="900">
                <a:solidFill>
                  <a:srgbClr val="F2F2F2"/>
                </a:solidFill>
                <a:latin typeface="Arial"/>
                <a:cs typeface="Arial"/>
              </a:rPr>
              <a:t>Parker Downhill</a:t>
            </a:r>
          </a:p>
        </p:txBody>
      </p:sp>
      <p:cxnSp>
        <p:nvCxnSpPr>
          <p:cNvPr id="1028" name="run-Michigan Ave"/>
          <p:cNvCxnSpPr/>
          <p:nvPr/>
        </p:nvCxnSpPr>
        <p:spPr>
          <a:xfrm>
            <a:off x="5303520" y="2286000"/>
            <a:ext cx="731520" cy="685800"/>
          </a:xfrm>
          <a:prstGeom prst="line">
            <a:avLst/>
          </a:prstGeom>
          <a:ln w="28575" cap="rnd">
            <a:solidFill>
              <a:srgbClr val="3B82F6"/>
            </a:solidFill>
            <a:round/>
          </a:ln>
        </p:spPr>
      </p:cxnSp>
      <p:cxnSp>
        <p:nvCxnSpPr>
          <p:cNvPr id="1029" name="run-Michigan Ave"/>
          <p:cNvCxnSpPr/>
          <p:nvPr/>
        </p:nvCxnSpPr>
        <p:spPr>
          <a:xfrm>
            <a:off x="6035040" y="2971800"/>
            <a:ext cx="868680" cy="1417320"/>
          </a:xfrm>
          <a:prstGeom prst="line">
            <a:avLst/>
          </a:prstGeom>
          <a:ln w="28575" cap="rnd">
            <a:solidFill>
              <a:srgbClr val="3B82F6"/>
            </a:solidFill>
            <a:round/>
          </a:ln>
        </p:spPr>
      </p:cxnSp>
      <p:sp>
        <p:nvSpPr>
          <p:cNvPr id="1030" name="marker-blue" descr="Intermediate"/>
          <p:cNvSpPr/>
          <p:nvPr/>
        </p:nvSpPr>
        <p:spPr>
          <a:xfrm>
            <a:off x="5250028" y="2232508"/>
            <a:ext cx="106985" cy="106985"/>
          </a:xfrm>
          <a:prstGeom prst="rect">
            <a:avLst/>
          </a:prstGeom>
          <a:solidFill>
            <a:srgbClr val="3B82F6"/>
          </a:solidFill>
          <a:ln>
            <a:noFill/>
          </a:ln>
        </p:spPr>
        <p:txBody>
          <a:bodyPr/>
          <a:lstStyle/>
          <a:p>
            <a:endParaRPr lang="en-US"/>
          </a:p>
        </p:txBody>
      </p:sp>
      <p:sp>
        <p:nvSpPr>
          <p:cNvPr id="1031" name="run-label-Michigan Ave"/>
          <p:cNvSpPr txBox="1"/>
          <p:nvPr/>
        </p:nvSpPr>
        <p:spPr>
          <a:xfrm>
            <a:off x="6217920" y="4498848"/>
            <a:ext cx="1371600" cy="201168"/>
          </a:xfrm>
          <a:prstGeom prst="rect">
            <a:avLst/>
          </a:prstGeom>
          <a:noFill/>
        </p:spPr>
        <p:txBody>
          <a:bodyPr wrap="none" lIns="0" tIns="0" rIns="0" bIns="0" anchor="ctr"/>
          <a:lstStyle/>
          <a:p>
            <a:pPr algn="ctr"/>
            <a:r>
              <a:rPr lang="en-US" sz="900">
                <a:solidFill>
                  <a:srgbClr val="F2F2F2"/>
                </a:solidFill>
                <a:latin typeface="Arial"/>
                <a:cs typeface="Arial"/>
              </a:rPr>
              <a:t>Michigan Ave</a:t>
            </a:r>
          </a:p>
        </p:txBody>
      </p:sp>
      <p:cxnSp>
        <p:nvCxnSpPr>
          <p:cNvPr id="1032" name="run-Wiggle Waggle"/>
          <p:cNvCxnSpPr/>
          <p:nvPr/>
        </p:nvCxnSpPr>
        <p:spPr>
          <a:xfrm>
            <a:off x="7680960" y="3017520"/>
            <a:ext cx="320040" cy="640080"/>
          </a:xfrm>
          <a:prstGeom prst="line">
            <a:avLst/>
          </a:prstGeom>
          <a:ln w="28575" cap="rnd">
            <a:solidFill>
              <a:srgbClr val="1F9D55"/>
            </a:solidFill>
            <a:round/>
          </a:ln>
        </p:spPr>
      </p:cxnSp>
      <p:cxnSp>
        <p:nvCxnSpPr>
          <p:cNvPr id="1033" name="run-Wiggle Waggle"/>
          <p:cNvCxnSpPr/>
          <p:nvPr/>
        </p:nvCxnSpPr>
        <p:spPr>
          <a:xfrm>
            <a:off x="8001000" y="3657600"/>
            <a:ext cx="91440" cy="731520"/>
          </a:xfrm>
          <a:prstGeom prst="line">
            <a:avLst/>
          </a:prstGeom>
          <a:ln w="28575" cap="rnd">
            <a:solidFill>
              <a:srgbClr val="1F9D55"/>
            </a:solidFill>
            <a:round/>
          </a:ln>
        </p:spPr>
      </p:cxnSp>
      <p:sp>
        <p:nvSpPr>
          <p:cNvPr id="1034" name="marker-green" descr="Beginner"/>
          <p:cNvSpPr/>
          <p:nvPr/>
        </p:nvSpPr>
        <p:spPr>
          <a:xfrm>
            <a:off x="7621524" y="2958084"/>
            <a:ext cx="118872" cy="118872"/>
          </a:xfrm>
          <a:prstGeom prst="ellipse">
            <a:avLst/>
          </a:prstGeom>
          <a:solidFill>
            <a:srgbClr val="1F9D55"/>
          </a:solidFill>
          <a:ln>
            <a:noFill/>
          </a:ln>
        </p:spPr>
        <p:txBody>
          <a:bodyPr/>
          <a:lstStyle/>
          <a:p>
            <a:endParaRPr lang="en-US"/>
          </a:p>
        </p:txBody>
      </p:sp>
      <p:sp>
        <p:nvSpPr>
          <p:cNvPr id="1035" name="run-label-Wiggle Waggle"/>
          <p:cNvSpPr txBox="1"/>
          <p:nvPr/>
        </p:nvSpPr>
        <p:spPr>
          <a:xfrm>
            <a:off x="7406640" y="4498848"/>
            <a:ext cx="1371600" cy="201168"/>
          </a:xfrm>
          <a:prstGeom prst="rect">
            <a:avLst/>
          </a:prstGeom>
          <a:noFill/>
        </p:spPr>
        <p:txBody>
          <a:bodyPr wrap="none" lIns="0" tIns="0" rIns="0" bIns="0" anchor="ctr"/>
          <a:lstStyle/>
          <a:p>
            <a:pPr algn="ctr"/>
            <a:r>
              <a:rPr lang="en-US" sz="900">
                <a:solidFill>
                  <a:srgbClr val="F2F2F2"/>
                </a:solidFill>
                <a:latin typeface="Arial"/>
                <a:cs typeface="Arial"/>
              </a:rPr>
              <a:t>Wiggle Waggle</a:t>
            </a:r>
          </a:p>
        </p:txBody>
      </p:sp>
      <p:sp>
        <p:nvSpPr>
          <p:cNvPr id="1036" name="lodge" descr="Lodge"/>
          <p:cNvSpPr/>
          <p:nvPr/>
        </p:nvSpPr>
        <p:spPr>
          <a:xfrm>
            <a:off x="4526280" y="4069080"/>
            <a:ext cx="914400" cy="246888"/>
          </a:xfrm>
          <a:prstGeom prst="rect">
            <a:avLst/>
          </a:prstGeom>
          <a:solidFill>
            <a:srgbClr val="2E2E2E"/>
          </a:solidFill>
          <a:ln>
            <a:noFill/>
          </a:ln>
        </p:spPr>
        <p:txBody>
          <a:bodyPr/>
          <a:lstStyle/>
          <a:p>
            <a:endParaRPr lang="en-US"/>
          </a:p>
        </p:txBody>
      </p:sp>
      <p:sp>
        <p:nvSpPr>
          <p:cNvPr id="1037" name="lodge-label"/>
          <p:cNvSpPr txBox="1"/>
          <p:nvPr/>
        </p:nvSpPr>
        <p:spPr>
          <a:xfrm>
            <a:off x="4526280" y="4069080"/>
            <a:ext cx="914400" cy="246888"/>
          </a:xfrm>
          <a:prstGeom prst="rect">
            <a:avLst/>
          </a:prstGeom>
          <a:noFill/>
        </p:spPr>
        <p:txBody>
          <a:bodyPr wrap="none" lIns="0" tIns="0" rIns="0" bIns="0" anchor="ctr"/>
          <a:lstStyle/>
          <a:p>
            <a:pPr algn="ctr"/>
            <a:r>
              <a:rPr lang="en-US" sz="800">
                <a:solidFill>
                  <a:srgbClr val="F2F2F2"/>
                </a:solidFill>
                <a:latin typeface="Courier New"/>
                <a:cs typeface="Courier New"/>
              </a:rPr>
              <a:t>LODGE</a:t>
            </a:r>
          </a:p>
        </p:txBody>
      </p:sp>
      <p:sp>
        <p:nvSpPr>
          <p:cNvPr id="1038" name="marker-green" descr="Beginner"/>
          <p:cNvSpPr/>
          <p:nvPr/>
        </p:nvSpPr>
        <p:spPr>
          <a:xfrm>
            <a:off x="5449824" y="960120"/>
            <a:ext cx="109728" cy="109728"/>
          </a:xfrm>
          <a:prstGeom prst="ellipse">
            <a:avLst/>
          </a:prstGeom>
          <a:solidFill>
            <a:srgbClr val="1F9D55"/>
          </a:solidFill>
          <a:ln>
            <a:noFill/>
          </a:ln>
        </p:spPr>
        <p:txBody>
          <a:bodyPr/>
          <a:lstStyle/>
          <a:p>
            <a:endParaRPr lang="en-US"/>
          </a:p>
        </p:txBody>
      </p:sp>
      <p:sp>
        <p:nvSpPr>
          <p:cNvPr id="1039" name="legend-beginner"/>
          <p:cNvSpPr txBox="1"/>
          <p:nvPr/>
        </p:nvSpPr>
        <p:spPr>
          <a:xfrm>
            <a:off x="5623560" y="914400"/>
            <a:ext cx="868680" cy="201168"/>
          </a:xfrm>
          <a:prstGeom prst="rect">
            <a:avLst/>
          </a:prstGeom>
          <a:noFill/>
        </p:spPr>
        <p:txBody>
          <a:bodyPr wrap="none" lIns="0" tIns="0" rIns="0" bIns="0" anchor="ctr"/>
          <a:lstStyle/>
          <a:p>
            <a:pPr algn="l"/>
            <a:r>
              <a:rPr lang="en-US" sz="900">
                <a:solidFill>
                  <a:srgbClr val="8A8A8A"/>
                </a:solidFill>
                <a:latin typeface="Arial"/>
                <a:cs typeface="Arial"/>
              </a:rPr>
              <a:t>Beginner</a:t>
            </a:r>
          </a:p>
        </p:txBody>
      </p:sp>
      <p:sp>
        <p:nvSpPr>
          <p:cNvPr id="1040" name="marker-blue" descr="Intermediate"/>
          <p:cNvSpPr/>
          <p:nvPr/>
        </p:nvSpPr>
        <p:spPr>
          <a:xfrm>
            <a:off x="6323990" y="965606"/>
            <a:ext cx="98755" cy="98755"/>
          </a:xfrm>
          <a:prstGeom prst="rect">
            <a:avLst/>
          </a:prstGeom>
          <a:solidFill>
            <a:srgbClr val="3B82F6"/>
          </a:solidFill>
          <a:ln>
            <a:noFill/>
          </a:ln>
        </p:spPr>
        <p:txBody>
          <a:bodyPr/>
          <a:lstStyle/>
          <a:p>
            <a:endParaRPr lang="en-US"/>
          </a:p>
        </p:txBody>
      </p:sp>
      <p:sp>
        <p:nvSpPr>
          <p:cNvPr id="1041" name="legend-intermediate"/>
          <p:cNvSpPr txBox="1"/>
          <p:nvPr/>
        </p:nvSpPr>
        <p:spPr>
          <a:xfrm>
            <a:off x="6492240" y="914400"/>
            <a:ext cx="1097280" cy="201168"/>
          </a:xfrm>
          <a:prstGeom prst="rect">
            <a:avLst/>
          </a:prstGeom>
          <a:noFill/>
        </p:spPr>
        <p:txBody>
          <a:bodyPr wrap="none" lIns="0" tIns="0" rIns="0" bIns="0" anchor="ctr"/>
          <a:lstStyle/>
          <a:p>
            <a:pPr algn="l"/>
            <a:r>
              <a:rPr lang="en-US" sz="900">
                <a:solidFill>
                  <a:srgbClr val="8A8A8A"/>
                </a:solidFill>
                <a:latin typeface="Arial"/>
                <a:cs typeface="Arial"/>
              </a:rPr>
              <a:t>Intermediate</a:t>
            </a:r>
          </a:p>
        </p:txBody>
      </p:sp>
      <p:sp>
        <p:nvSpPr>
          <p:cNvPr id="1042" name="marker-black" descr="Advanced"/>
          <p:cNvSpPr/>
          <p:nvPr/>
        </p:nvSpPr>
        <p:spPr>
          <a:xfrm>
            <a:off x="7407554" y="951890"/>
            <a:ext cx="126187" cy="126187"/>
          </a:xfrm>
          <a:prstGeom prst="diamond">
            <a:avLst/>
          </a:prstGeom>
          <a:solidFill>
            <a:srgbClr val="0A0A0A"/>
          </a:solidFill>
          <a:ln w="12700">
            <a:solidFill>
              <a:srgbClr val="F2F2F2"/>
            </a:solidFill>
          </a:ln>
        </p:spPr>
        <p:txBody>
          <a:bodyPr/>
          <a:lstStyle/>
          <a:p>
            <a:endParaRPr lang="en-US"/>
          </a:p>
        </p:txBody>
      </p:sp>
      <p:sp>
        <p:nvSpPr>
          <p:cNvPr id="1043" name="legend-advanced"/>
          <p:cNvSpPr txBox="1"/>
          <p:nvPr/>
        </p:nvSpPr>
        <p:spPr>
          <a:xfrm>
            <a:off x="7589520" y="914400"/>
            <a:ext cx="960120" cy="201168"/>
          </a:xfrm>
          <a:prstGeom prst="rect">
            <a:avLst/>
          </a:prstGeom>
          <a:noFill/>
        </p:spPr>
        <p:txBody>
          <a:bodyPr wrap="none" lIns="0" tIns="0" rIns="0" bIns="0" anchor="ctr"/>
          <a:lstStyle/>
          <a:p>
            <a:pPr algn="l"/>
            <a:r>
              <a:rPr lang="en-US" sz="900">
                <a:solidFill>
                  <a:srgbClr val="8A8A8A"/>
                </a:solidFill>
                <a:latin typeface="Arial"/>
                <a:cs typeface="Arial"/>
              </a:rPr>
              <a:t>Advanced</a:t>
            </a:r>
          </a:p>
        </p:txBody>
      </p:sp>
      <p:sp>
        <p:nvSpPr>
          <p:cNvPr id="1044" name="marker-black" descr="Expert"/>
          <p:cNvSpPr/>
          <p:nvPr/>
        </p:nvSpPr>
        <p:spPr>
          <a:xfrm>
            <a:off x="8359445" y="951890"/>
            <a:ext cx="126187" cy="126187"/>
          </a:xfrm>
          <a:prstGeom prst="diamond">
            <a:avLst/>
          </a:prstGeom>
          <a:solidFill>
            <a:srgbClr val="0A0A0A"/>
          </a:solidFill>
          <a:ln w="12700">
            <a:solidFill>
              <a:srgbClr val="F2F2F2"/>
            </a:solidFill>
          </a:ln>
        </p:spPr>
        <p:txBody>
          <a:bodyPr/>
          <a:lstStyle/>
          <a:p>
            <a:endParaRPr lang="en-US"/>
          </a:p>
        </p:txBody>
      </p:sp>
      <p:sp>
        <p:nvSpPr>
          <p:cNvPr id="1045" name="marker-black" descr="Expert"/>
          <p:cNvSpPr/>
          <p:nvPr/>
        </p:nvSpPr>
        <p:spPr>
          <a:xfrm>
            <a:off x="8503920" y="951890"/>
            <a:ext cx="126187" cy="126187"/>
          </a:xfrm>
          <a:prstGeom prst="diamond">
            <a:avLst/>
          </a:prstGeom>
          <a:solidFill>
            <a:srgbClr val="0A0A0A"/>
          </a:solidFill>
          <a:ln w="12700">
            <a:solidFill>
              <a:srgbClr val="F2F2F2"/>
            </a:solidFill>
          </a:ln>
        </p:spPr>
        <p:txBody>
          <a:bodyPr/>
          <a:lstStyle/>
          <a:p>
            <a:endParaRPr lang="en-US"/>
          </a:p>
        </p:txBody>
      </p:sp>
      <p:sp>
        <p:nvSpPr>
          <p:cNvPr id="1046" name="legend-expert"/>
          <p:cNvSpPr txBox="1"/>
          <p:nvPr/>
        </p:nvSpPr>
        <p:spPr>
          <a:xfrm>
            <a:off x="8677656" y="914400"/>
            <a:ext cx="822960" cy="201168"/>
          </a:xfrm>
          <a:prstGeom prst="rect">
            <a:avLst/>
          </a:prstGeom>
          <a:noFill/>
        </p:spPr>
        <p:txBody>
          <a:bodyPr wrap="none" lIns="0" tIns="0" rIns="0" bIns="0" anchor="ctr"/>
          <a:lstStyle/>
          <a:p>
            <a:pPr algn="l"/>
            <a:r>
              <a:rPr lang="en-US" sz="900">
                <a:solidFill>
                  <a:srgbClr val="8A8A8A"/>
                </a:solidFill>
                <a:latin typeface="Arial"/>
                <a:cs typeface="Arial"/>
              </a:rPr>
              <a:t>Expert</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Cursor">
  <a:themeElements>
    <a:clrScheme name="Cursor">
      <a:dk1>
        <a:srgbClr val="0A0A0A"/>
      </a:dk1>
      <a:lt1>
        <a:srgbClr val="0A0A0A"/>
      </a:lt1>
      <a:dk2>
        <a:srgbClr val="A7A7A7"/>
      </a:dk2>
      <a:lt2>
        <a:srgbClr val="535353"/>
      </a:lt2>
      <a:accent1>
        <a:srgbClr val="F2F2F2"/>
      </a:accent1>
      <a:accent2>
        <a:srgbClr val="8A8A8A"/>
      </a:accent2>
      <a:accent3>
        <a:srgbClr val="2A2A2A"/>
      </a:accent3>
      <a:accent4>
        <a:srgbClr val="888888"/>
      </a:accent4>
      <a:accent5>
        <a:srgbClr val="4D4D4D"/>
      </a:accent5>
      <a:accent6>
        <a:srgbClr val="181818"/>
      </a:accent6>
      <a:hlink>
        <a:srgbClr val="0000FF"/>
      </a:hlink>
      <a:folHlink>
        <a:srgbClr val="FF00FF"/>
      </a:folHlink>
    </a:clrScheme>
    <a:fontScheme name="Cursor">
      <a:majorFont>
        <a:latin typeface="Helvetica"/>
        <a:ea typeface="Helvetica"/>
        <a:cs typeface="Helvetica"/>
      </a:majorFont>
      <a:minorFont>
        <a:latin typeface="Arial"/>
        <a:ea typeface="Arial"/>
        <a:cs typeface="Arial"/>
      </a:minorFont>
    </a:fontScheme>
    <a:fmtScheme name="Curs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Cursor">
  <a:themeElements>
    <a:clrScheme name="Cursor">
      <a:dk1>
        <a:srgbClr val="0A0A0A"/>
      </a:dk1>
      <a:lt1>
        <a:srgbClr val="FFFFFF"/>
      </a:lt1>
      <a:dk2>
        <a:srgbClr val="A7A7A7"/>
      </a:dk2>
      <a:lt2>
        <a:srgbClr val="535353"/>
      </a:lt2>
      <a:accent1>
        <a:srgbClr val="F2F2F2"/>
      </a:accent1>
      <a:accent2>
        <a:srgbClr val="8A8A8A"/>
      </a:accent2>
      <a:accent3>
        <a:srgbClr val="2A2A2A"/>
      </a:accent3>
      <a:accent4>
        <a:srgbClr val="888888"/>
      </a:accent4>
      <a:accent5>
        <a:srgbClr val="4D4D4D"/>
      </a:accent5>
      <a:accent6>
        <a:srgbClr val="181818"/>
      </a:accent6>
      <a:hlink>
        <a:srgbClr val="0000FF"/>
      </a:hlink>
      <a:folHlink>
        <a:srgbClr val="FF00FF"/>
      </a:folHlink>
    </a:clrScheme>
    <a:fontScheme name="Cursor">
      <a:majorFont>
        <a:latin typeface="Helvetica"/>
        <a:ea typeface="Helvetica"/>
        <a:cs typeface="Helvetica"/>
      </a:majorFont>
      <a:minorFont>
        <a:latin typeface="Arial"/>
        <a:ea typeface="Arial"/>
        <a:cs typeface="Arial"/>
      </a:minorFont>
    </a:fontScheme>
    <a:fmtScheme name="Curs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