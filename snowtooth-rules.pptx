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5181837c-1ba2-5933-3fc0-f13b31223eb4}">
          <p14:sldIdLst>
            <p14:sldId id="256"/>
            <p14:sldId id="257"/>
            <p14:sldId id="258"/>
          </p14:sldIdLst>
        </p14:section>
        <p14:section name="Demo" id="{d8e401ef-c1ea-ae26-7563-795076600d6f}">
          <p14:sldIdLst>
            <p14:sldId id="259"/>
            <p14:sldId id="260"/>
            <p14:sldId id="261"/>
          </p14:sldIdLst>
        </p14:section>
        <p14:section name="Lab" id="{2c5eedd4-b4e7-8fce-8b94-404673dbfce6}">
          <p14:sldIdLst>
            <p14:sldId id="262"/>
          </p14:sldIdLst>
        </p14:section>
        <p14:section name="Takeaway" id="{d72478e5-d403-fff7-d5e4-4b54cd7229d1}">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Eve. I train engineering teams on this for a living: React, GraphQL, and now Cursor. This is a 15-minute slice of the first thing I teach when a team gets seats: stop re-explaining yourselves in chat.
Snowtooth is a fake ski resort I've used for years, so nobody spends the hour learning a domain. The lift board is the stand-in for your app.
Why this open: I want them looking at a real artifact, not a feature list. If I open Cursor settings first, they remember a menu. If I start from the annoyance, they remember the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pattern I see every week: someone pastes the same correction into chat. It works. They close the tab. Tomorrow the agent does it again. A teammate never saw it.
That's not a prompting skill issue. The team has no memory.
Start from the actual annoyance, not the Rules UI. LiftBoard is still on a raw fetch on purpose. Leftover code the agent will copy. I will not fix it in this session. Rules are for next time.
Real-world translation: your company bought Cursor seats. Some people are power users. Most are pasting the same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outcomes, all observable in the room. I cut skills, user rules, team rules, Plan mode, and fixing LiftBoard. One loop: miss, encode, new chat, commit.
Why three: that's all 15 minutes can hold with a live agent.
We skip icebreakers and go straight to the product. Fifteen minutes is already tight.
Snowtooth stands in for their repo. They already know React. The unfamiliar thing is the team convention.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branch. New Agent chat. Exact prompt on the slide.
LiftBoard still fetches the public API and hand-styles status. That leftover is intentional, so the agent has a bad example to copy. StatusBadge and getTrails() already exist. The model just doesn't know they're the law.
If it unexpectedly uses the client, backup prompt: 'Add a night-skiing trails list.' If that also succeeds, narrate: sometimes the model guesses. The rule is how we stop guessing.
Why the miss comes first: a clean success doesn't teach. Contrast does.
Then restore the Checkpoint (Cursor's restore, not git checkout) and we write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write this live with /create-rule, then we read the file together. That's the Cursor-native path, and they still learn to read an .mdc.
Description so the agent knows when. One do, one don't, in real code. Point at @lib/snowtooth.ts instead of pasting the client. Pasted copies go stale. That's a real Cursor best practice, not a style preference.
Live-demo choice: alwaysApply true so it actually fires in the next two minutes. Apply Intelligently is the right default at work. I will not gamble a 15-minute session on the model deciding. We name that tradeoff on the last slide.
Two concerns in one file is a smell. I still do one file so they finish. I'd split on a 45-minute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chat. Same prompt. It should call getTrails(). I point at the rule pill so they see why: it was in the prompt this time, not because the last chat remembered.
Then I commit. That is the whole topic. A rule on your laptop is a user preference. A rule in git is how the team gets the same behavior tomorrow.
If it fails: check the pill, confirm alwaysApply, one more new chat. Then flip to the checkpoint branch and play the 90-second recording.
Tip I say with my hands on the product: restore a Checkpoint to undo the first panel. Don't git checkout during the demo unless the agent goes off the rails.
Optional if time: 'Add the grooming report too.' Same client. I skip it if we're late. The trails panel is the whole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do the marketing copy rule. Same loop, different convention. I do not live-debug everyone. Fell behind? git stash &amp;&amp; git checkout checkpoint.
handout.md is in .cursorignore so the agent can't read the answers. That's a real teaching move, not a cute extra. Mention it when they ask about learner gaps.
Done: a fresh chat produces an Open Runs panel with StatusBadge. That's the assessment for outcomes 2 and 3.
I will not fix LiftBoard, and I will not have them update TrailsPanel. Rules are for the next thing they ask for.
Stretch is in the handout if someone finishes early: replace the rule with 'Write good, consistent code' and rerun. That's how you feel a vague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slide I want them photographing.
Walk the table fast. The security line matters: AI guidance is not a control. The Tab line is the gotcha from the docs: rules do not apply to Tab or Cmd+K. Don't let them think the rule is broken when completions still say trails.
Skills get one sentence: use a skill when you keep explaining a whole routine, not a sentence. That's why skills wait for a later session.
How you know it worked: in the room, Open Runs + StatusBadge. Next week, a rule lands in the repo, and the next feature request isn't preceded by 'remember, we say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A0A0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554480"/>
          </a:xfrm>
          <a:prstGeom prst="rect">
            <a:avLst/>
          </a:prstGeom>
          <a:noFill/>
          <a:ln/>
        </p:spPr>
        <p:txBody>
          <a:bodyPr wrap="square" rtlCol="0"/>
          <a:lstStyle>
            <a:lvl1pPr algn="l" indent="0" marL="0">
              <a:buNone/>
              <a:defRPr lang="en-US" sz="4400" dirty="0">
                <a:solidFill>
                  <a:srgbClr val="F2F2F2"/>
                </a:solidFill>
                <a:latin typeface="Arial" pitchFamily="34" charset="0"/>
                <a:ea typeface="Arial" pitchFamily="34" charset="-122"/>
                <a:cs typeface="Arial"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A0A0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rtlCol="0"/>
          <a:lstStyle>
            <a:lvl1pPr algn="l" indent="0" marL="0">
              <a:buNone/>
              <a:defRPr lang="en-US" sz="2600" dirty="0">
                <a:solidFill>
                  <a:srgbClr val="F2F2F2"/>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554480"/>
          </a:xfrm>
          <a:prstGeom prst="rect">
            <a:avLst/>
          </a:prstGeom>
          <a:noFill/>
          <a:ln/>
        </p:spPr>
        <p:txBody>
          <a:bodyPr wrap="square" lIns="0" tIns="0" rIns="0" bIns="0" rtlCol="0" anchor="ctr"/>
          <a:lstStyle/>
          <a:p>
            <a:pPr algn="l" indent="0" marL="0">
              <a:buNone/>
            </a:pPr>
            <a:r>
              <a:rPr lang="en-US" sz="4400" dirty="0">
                <a:solidFill>
                  <a:srgbClr val="F2F2F2"/>
                </a:solidFill>
                <a:latin typeface="Arial" pitchFamily="34" charset="0"/>
                <a:ea typeface="Arial" pitchFamily="34" charset="-122"/>
                <a:cs typeface="Arial" pitchFamily="34" charset="-120"/>
              </a:rPr>
              <a:t>Stop repeating yourself</a:t>
            </a:r>
            <a:endParaRPr lang="en-US" sz="4400" dirty="0"/>
          </a:p>
          <a:p>
            <a:pPr algn="l" indent="0" marL="0">
              <a:buNone/>
            </a:pPr>
            <a:r>
              <a:rPr lang="en-US" sz="4400" dirty="0">
                <a:solidFill>
                  <a:srgbClr val="F2F2F2"/>
                </a:solidFill>
                <a:latin typeface="Arial" pitchFamily="34" charset="0"/>
                <a:ea typeface="Arial" pitchFamily="34" charset="-122"/>
                <a:cs typeface="Arial" pitchFamily="34" charset="-120"/>
              </a:rPr>
              <a:t>to Cursor</a:t>
            </a:r>
            <a:endParaRPr lang="en-US" sz="4400" dirty="0"/>
          </a:p>
        </p:txBody>
      </p:sp>
      <p:sp>
        <p:nvSpPr>
          <p:cNvPr id="3" name="eyebrow"/>
          <p:cNvSpPr txBox="1"/>
          <p:nvPr/>
        </p:nvSpPr>
        <p:spPr>
          <a:xfrm>
            <a:off x="548640" y="1170432"/>
            <a:ext cx="8046720" cy="256032"/>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SNOWTOOTH</a:t>
            </a:r>
            <a:endParaRPr lang="en-US" sz="1200" dirty="0"/>
          </a:p>
        </p:txBody>
      </p:sp>
      <p:sp>
        <p:nvSpPr>
          <p:cNvPr id="4" name="byline"/>
          <p:cNvSpPr txBox="1"/>
          <p:nvPr/>
        </p:nvSpPr>
        <p:spPr>
          <a:xfrm>
            <a:off x="548640" y="3291840"/>
            <a:ext cx="8046720" cy="292608"/>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15 min   Eve Porcello   a rule the team can use tomorrow</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You've already typed this twice this week</a:t>
            </a:r>
            <a:endParaRPr lang="en-US" sz="2600" dirty="0"/>
          </a:p>
        </p:txBody>
      </p:sp>
      <p:sp>
        <p:nvSpPr>
          <p:cNvPr id="3" name="quote-card"/>
          <p:cNvSpPr/>
          <p:nvPr/>
        </p:nvSpPr>
        <p:spPr>
          <a:xfrm>
            <a:off x="457200" y="987552"/>
            <a:ext cx="8229600" cy="1115568"/>
          </a:xfrm>
          <a:prstGeom prst="rect">
            <a:avLst/>
          </a:prstGeom>
          <a:solidFill>
            <a:srgbClr val="141414"/>
          </a:solidFill>
          <a:ln/>
        </p:spPr>
      </p:sp>
      <p:sp>
        <p:nvSpPr>
          <p:cNvPr id="4" name="quote"/>
          <p:cNvSpPr txBox="1"/>
          <p:nvPr/>
        </p:nvSpPr>
        <p:spPr>
          <a:xfrm>
            <a:off x="676656" y="1115568"/>
            <a:ext cx="7790688" cy="868680"/>
          </a:xfrm>
          <a:prstGeom prst="rect">
            <a:avLst/>
          </a:prstGeom>
          <a:noFill/>
          <a:ln/>
        </p:spPr>
        <p:txBody>
          <a:bodyPr wrap="square" lIns="0" tIns="0" rIns="0" bIns="0" rtlCol="0" anchor="ctr"/>
          <a:lstStyle/>
          <a:p>
            <a:pPr indent="0" marL="0">
              <a:buNone/>
            </a:pPr>
            <a:r>
              <a:rPr lang="en-US" sz="2200" dirty="0">
                <a:solidFill>
                  <a:srgbClr val="F2F2F2"/>
                </a:solidFill>
                <a:latin typeface="Arial" pitchFamily="34" charset="0"/>
                <a:ea typeface="Arial" pitchFamily="34" charset="-122"/>
                <a:cs typeface="Arial" pitchFamily="34" charset="-120"/>
              </a:rPr>
              <a:t>“Remember, we don't fetch in components. Use the data client.”</a:t>
            </a:r>
            <a:endParaRPr lang="en-US" sz="2200" dirty="0"/>
          </a:p>
        </p:txBody>
      </p:sp>
      <p:sp>
        <p:nvSpPr>
          <p:cNvPr id="5" name="problem-card-1"/>
          <p:cNvSpPr/>
          <p:nvPr/>
        </p:nvSpPr>
        <p:spPr>
          <a:xfrm>
            <a:off x="457200" y="2286000"/>
            <a:ext cx="2697480" cy="1371600"/>
          </a:xfrm>
          <a:prstGeom prst="rect">
            <a:avLst/>
          </a:prstGeom>
          <a:solidFill>
            <a:srgbClr val="141414"/>
          </a:solidFill>
          <a:ln/>
        </p:spPr>
      </p:sp>
      <p:sp>
        <p:nvSpPr>
          <p:cNvPr id="6" name="problem-title-1"/>
          <p:cNvSpPr txBox="1"/>
          <p:nvPr/>
        </p:nvSpPr>
        <p:spPr>
          <a:xfrm>
            <a:off x="621792" y="2414016"/>
            <a:ext cx="2377440" cy="365760"/>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Chat closes</a:t>
            </a:r>
            <a:endParaRPr lang="en-US" sz="1500" dirty="0"/>
          </a:p>
        </p:txBody>
      </p:sp>
      <p:sp>
        <p:nvSpPr>
          <p:cNvPr id="7" name="problem-body-1"/>
          <p:cNvSpPr txBox="1"/>
          <p:nvPr/>
        </p:nvSpPr>
        <p:spPr>
          <a:xfrm>
            <a:off x="621792" y="2834640"/>
            <a:ext cx="2377440" cy="640080"/>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The correction dies with the tab.</a:t>
            </a:r>
            <a:endParaRPr lang="en-US" sz="1400" dirty="0"/>
          </a:p>
        </p:txBody>
      </p:sp>
      <p:sp>
        <p:nvSpPr>
          <p:cNvPr id="8" name="problem-card-2"/>
          <p:cNvSpPr/>
          <p:nvPr/>
        </p:nvSpPr>
        <p:spPr>
          <a:xfrm>
            <a:off x="3291840" y="2286000"/>
            <a:ext cx="2697480" cy="1371600"/>
          </a:xfrm>
          <a:prstGeom prst="rect">
            <a:avLst/>
          </a:prstGeom>
          <a:solidFill>
            <a:srgbClr val="141414"/>
          </a:solidFill>
          <a:ln/>
        </p:spPr>
      </p:sp>
      <p:sp>
        <p:nvSpPr>
          <p:cNvPr id="9" name="problem-title-2"/>
          <p:cNvSpPr txBox="1"/>
          <p:nvPr/>
        </p:nvSpPr>
        <p:spPr>
          <a:xfrm>
            <a:off x="3456432" y="2414016"/>
            <a:ext cx="2377440" cy="365760"/>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Teammate never saw it</a:t>
            </a:r>
            <a:endParaRPr lang="en-US" sz="1500" dirty="0"/>
          </a:p>
        </p:txBody>
      </p:sp>
      <p:sp>
        <p:nvSpPr>
          <p:cNvPr id="10" name="problem-body-2"/>
          <p:cNvSpPr txBox="1"/>
          <p:nvPr/>
        </p:nvSpPr>
        <p:spPr>
          <a:xfrm>
            <a:off x="3456432" y="2834640"/>
            <a:ext cx="2377440" cy="640080"/>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Alex still gets the raw fetch tomorrow.</a:t>
            </a:r>
            <a:endParaRPr lang="en-US" sz="1400" dirty="0"/>
          </a:p>
        </p:txBody>
      </p:sp>
      <p:sp>
        <p:nvSpPr>
          <p:cNvPr id="11" name="problem-card-3"/>
          <p:cNvSpPr/>
          <p:nvPr/>
        </p:nvSpPr>
        <p:spPr>
          <a:xfrm>
            <a:off x="6126480" y="2286000"/>
            <a:ext cx="2697480" cy="1371600"/>
          </a:xfrm>
          <a:prstGeom prst="rect">
            <a:avLst/>
          </a:prstGeom>
          <a:solidFill>
            <a:srgbClr val="141414"/>
          </a:solidFill>
          <a:ln/>
        </p:spPr>
      </p:sp>
      <p:sp>
        <p:nvSpPr>
          <p:cNvPr id="12" name="problem-title-3"/>
          <p:cNvSpPr txBox="1"/>
          <p:nvPr/>
        </p:nvSpPr>
        <p:spPr>
          <a:xfrm>
            <a:off x="6291072" y="2414016"/>
            <a:ext cx="2377440" cy="365760"/>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Agent copies leftovers</a:t>
            </a:r>
            <a:endParaRPr lang="en-US" sz="1500" dirty="0"/>
          </a:p>
        </p:txBody>
      </p:sp>
      <p:sp>
        <p:nvSpPr>
          <p:cNvPr id="13" name="problem-body-3"/>
          <p:cNvSpPr txBox="1"/>
          <p:nvPr/>
        </p:nvSpPr>
        <p:spPr>
          <a:xfrm>
            <a:off x="6291072" y="2834640"/>
            <a:ext cx="2377440" cy="640080"/>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LiftBoard still fetches. The next panel will too.</a:t>
            </a:r>
            <a:endParaRPr lang="en-US" sz="1400" dirty="0"/>
          </a:p>
        </p:txBody>
      </p:sp>
      <p:sp>
        <p:nvSpPr>
          <p:cNvPr id="14" name="tip"/>
          <p:cNvSpPr txBox="1"/>
          <p:nvPr/>
        </p:nvSpPr>
        <p:spPr>
          <a:xfrm>
            <a:off x="457200" y="3858768"/>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Chat history is not a style guide. Closing the tab wipes the correction.</a:t>
            </a:r>
            <a:endParaRPr lang="en-US" sz="12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You'll do this once. Then you stop saying it.</a:t>
            </a:r>
            <a:endParaRPr lang="en-US" sz="2600" dirty="0"/>
          </a:p>
        </p:txBody>
      </p:sp>
      <p:sp>
        <p:nvSpPr>
          <p:cNvPr id="3" name="outcome-row-01"/>
          <p:cNvSpPr/>
          <p:nvPr/>
        </p:nvSpPr>
        <p:spPr>
          <a:xfrm>
            <a:off x="457200" y="1005840"/>
            <a:ext cx="8229600" cy="841248"/>
          </a:xfrm>
          <a:prstGeom prst="rect">
            <a:avLst/>
          </a:prstGeom>
          <a:solidFill>
            <a:srgbClr val="141414"/>
          </a:solidFill>
          <a:ln/>
        </p:spPr>
      </p:sp>
      <p:sp>
        <p:nvSpPr>
          <p:cNvPr id="4" name="outcome-n-01"/>
          <p:cNvSpPr txBox="1"/>
          <p:nvPr/>
        </p:nvSpPr>
        <p:spPr>
          <a:xfrm>
            <a:off x="621792" y="1005840"/>
            <a:ext cx="640080" cy="841248"/>
          </a:xfrm>
          <a:prstGeom prst="rect">
            <a:avLst/>
          </a:prstGeom>
          <a:noFill/>
          <a:ln/>
        </p:spPr>
        <p:txBody>
          <a:bodyPr wrap="square" lIns="0" tIns="0" rIns="0" bIns="0" rtlCol="0" anchor="ctr"/>
          <a:lstStyle/>
          <a:p>
            <a:pPr indent="0" marL="0">
              <a:buNone/>
            </a:pPr>
            <a:r>
              <a:rPr lang="en-US" sz="1800" dirty="0">
                <a:solidFill>
                  <a:srgbClr val="8A8A8A"/>
                </a:solidFill>
                <a:latin typeface="Courier New" pitchFamily="34" charset="0"/>
                <a:ea typeface="Courier New" pitchFamily="34" charset="-122"/>
                <a:cs typeface="Courier New" pitchFamily="34" charset="-120"/>
              </a:rPr>
              <a:t>01</a:t>
            </a:r>
            <a:endParaRPr lang="en-US" sz="1800" dirty="0"/>
          </a:p>
        </p:txBody>
      </p:sp>
      <p:sp>
        <p:nvSpPr>
          <p:cNvPr id="5" name="outcome-title-01"/>
          <p:cNvSpPr txBox="1"/>
          <p:nvPr/>
        </p:nvSpPr>
        <p:spPr>
          <a:xfrm>
            <a:off x="1371600" y="1115568"/>
            <a:ext cx="7086600" cy="274320"/>
          </a:xfrm>
          <a:prstGeom prst="rect">
            <a:avLst/>
          </a:prstGeom>
          <a:noFill/>
          <a:ln/>
        </p:spPr>
        <p:txBody>
          <a:bodyPr wrap="square" lIns="0" tIns="0" rIns="0" bIns="0" rtlCol="0" anchor="ctr"/>
          <a:lstStyle/>
          <a:p>
            <a:pPr indent="0" marL="0">
              <a:buNone/>
            </a:pPr>
            <a:r>
              <a:rPr lang="en-US" sz="1800" dirty="0">
                <a:solidFill>
                  <a:srgbClr val="F2F2F2"/>
                </a:solidFill>
                <a:latin typeface="Arial" pitchFamily="34" charset="0"/>
                <a:ea typeface="Arial" pitchFamily="34" charset="-122"/>
                <a:cs typeface="Arial" pitchFamily="34" charset="-120"/>
              </a:rPr>
              <a:t>Spot it</a:t>
            </a:r>
            <a:endParaRPr lang="en-US" sz="1800" dirty="0"/>
          </a:p>
        </p:txBody>
      </p:sp>
      <p:sp>
        <p:nvSpPr>
          <p:cNvPr id="6" name="outcome-body-01"/>
          <p:cNvSpPr txBox="1"/>
          <p:nvPr/>
        </p:nvSpPr>
        <p:spPr>
          <a:xfrm>
            <a:off x="1371600" y="1426464"/>
            <a:ext cx="7086600" cy="310896"/>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A correction you've already given twice is a missing rule, not a bad prompt.</a:t>
            </a:r>
            <a:endParaRPr lang="en-US" sz="1400" dirty="0"/>
          </a:p>
        </p:txBody>
      </p:sp>
      <p:sp>
        <p:nvSpPr>
          <p:cNvPr id="7" name="outcome-row-02"/>
          <p:cNvSpPr/>
          <p:nvPr/>
        </p:nvSpPr>
        <p:spPr>
          <a:xfrm>
            <a:off x="457200" y="1965960"/>
            <a:ext cx="8229600" cy="841248"/>
          </a:xfrm>
          <a:prstGeom prst="rect">
            <a:avLst/>
          </a:prstGeom>
          <a:solidFill>
            <a:srgbClr val="141414"/>
          </a:solidFill>
          <a:ln/>
        </p:spPr>
      </p:sp>
      <p:sp>
        <p:nvSpPr>
          <p:cNvPr id="8" name="outcome-n-02"/>
          <p:cNvSpPr txBox="1"/>
          <p:nvPr/>
        </p:nvSpPr>
        <p:spPr>
          <a:xfrm>
            <a:off x="621792" y="1965960"/>
            <a:ext cx="640080" cy="841248"/>
          </a:xfrm>
          <a:prstGeom prst="rect">
            <a:avLst/>
          </a:prstGeom>
          <a:noFill/>
          <a:ln/>
        </p:spPr>
        <p:txBody>
          <a:bodyPr wrap="square" lIns="0" tIns="0" rIns="0" bIns="0" rtlCol="0" anchor="ctr"/>
          <a:lstStyle/>
          <a:p>
            <a:pPr indent="0" marL="0">
              <a:buNone/>
            </a:pPr>
            <a:r>
              <a:rPr lang="en-US" sz="1800" dirty="0">
                <a:solidFill>
                  <a:srgbClr val="8A8A8A"/>
                </a:solidFill>
                <a:latin typeface="Courier New" pitchFamily="34" charset="0"/>
                <a:ea typeface="Courier New" pitchFamily="34" charset="-122"/>
                <a:cs typeface="Courier New" pitchFamily="34" charset="-120"/>
              </a:rPr>
              <a:t>02</a:t>
            </a:r>
            <a:endParaRPr lang="en-US" sz="1800" dirty="0"/>
          </a:p>
        </p:txBody>
      </p:sp>
      <p:sp>
        <p:nvSpPr>
          <p:cNvPr id="9" name="outcome-title-02"/>
          <p:cNvSpPr txBox="1"/>
          <p:nvPr/>
        </p:nvSpPr>
        <p:spPr>
          <a:xfrm>
            <a:off x="1371600" y="2075688"/>
            <a:ext cx="7086600" cy="274320"/>
          </a:xfrm>
          <a:prstGeom prst="rect">
            <a:avLst/>
          </a:prstGeom>
          <a:noFill/>
          <a:ln/>
        </p:spPr>
        <p:txBody>
          <a:bodyPr wrap="square" lIns="0" tIns="0" rIns="0" bIns="0" rtlCol="0" anchor="ctr"/>
          <a:lstStyle/>
          <a:p>
            <a:pPr indent="0" marL="0">
              <a:buNone/>
            </a:pPr>
            <a:r>
              <a:rPr lang="en-US" sz="1800" dirty="0">
                <a:solidFill>
                  <a:srgbClr val="F2F2F2"/>
                </a:solidFill>
                <a:latin typeface="Arial" pitchFamily="34" charset="0"/>
                <a:ea typeface="Arial" pitchFamily="34" charset="-122"/>
                <a:cs typeface="Arial" pitchFamily="34" charset="-120"/>
              </a:rPr>
              <a:t>Write it</a:t>
            </a:r>
            <a:endParaRPr lang="en-US" sz="1800" dirty="0"/>
          </a:p>
        </p:txBody>
      </p:sp>
      <p:sp>
        <p:nvSpPr>
          <p:cNvPr id="10" name="outcome-body-02"/>
          <p:cNvSpPr txBox="1"/>
          <p:nvPr/>
        </p:nvSpPr>
        <p:spPr>
          <a:xfrm>
            <a:off x="1371600" y="2386584"/>
            <a:ext cx="7086600" cy="310896"/>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One project rule: a description, a do, a don't, and an @ pointer to the real file.</a:t>
            </a:r>
            <a:endParaRPr lang="en-US" sz="1400" dirty="0"/>
          </a:p>
        </p:txBody>
      </p:sp>
      <p:sp>
        <p:nvSpPr>
          <p:cNvPr id="11" name="outcome-row-03"/>
          <p:cNvSpPr/>
          <p:nvPr/>
        </p:nvSpPr>
        <p:spPr>
          <a:xfrm>
            <a:off x="457200" y="2926080"/>
            <a:ext cx="8229600" cy="841248"/>
          </a:xfrm>
          <a:prstGeom prst="rect">
            <a:avLst/>
          </a:prstGeom>
          <a:solidFill>
            <a:srgbClr val="141414"/>
          </a:solidFill>
          <a:ln/>
        </p:spPr>
      </p:sp>
      <p:sp>
        <p:nvSpPr>
          <p:cNvPr id="12" name="outcome-n-03"/>
          <p:cNvSpPr txBox="1"/>
          <p:nvPr/>
        </p:nvSpPr>
        <p:spPr>
          <a:xfrm>
            <a:off x="621792" y="2926080"/>
            <a:ext cx="640080" cy="841248"/>
          </a:xfrm>
          <a:prstGeom prst="rect">
            <a:avLst/>
          </a:prstGeom>
          <a:noFill/>
          <a:ln/>
        </p:spPr>
        <p:txBody>
          <a:bodyPr wrap="square" lIns="0" tIns="0" rIns="0" bIns="0" rtlCol="0" anchor="ctr"/>
          <a:lstStyle/>
          <a:p>
            <a:pPr indent="0" marL="0">
              <a:buNone/>
            </a:pPr>
            <a:r>
              <a:rPr lang="en-US" sz="1800" dirty="0">
                <a:solidFill>
                  <a:srgbClr val="8A8A8A"/>
                </a:solidFill>
                <a:latin typeface="Courier New" pitchFamily="34" charset="0"/>
                <a:ea typeface="Courier New" pitchFamily="34" charset="-122"/>
                <a:cs typeface="Courier New" pitchFamily="34" charset="-120"/>
              </a:rPr>
              <a:t>03</a:t>
            </a:r>
            <a:endParaRPr lang="en-US" sz="1800" dirty="0"/>
          </a:p>
        </p:txBody>
      </p:sp>
      <p:sp>
        <p:nvSpPr>
          <p:cNvPr id="13" name="outcome-title-03"/>
          <p:cNvSpPr txBox="1"/>
          <p:nvPr/>
        </p:nvSpPr>
        <p:spPr>
          <a:xfrm>
            <a:off x="1371600" y="3035808"/>
            <a:ext cx="7086600" cy="274320"/>
          </a:xfrm>
          <a:prstGeom prst="rect">
            <a:avLst/>
          </a:prstGeom>
          <a:noFill/>
          <a:ln/>
        </p:spPr>
        <p:txBody>
          <a:bodyPr wrap="square" lIns="0" tIns="0" rIns="0" bIns="0" rtlCol="0" anchor="ctr"/>
          <a:lstStyle/>
          <a:p>
            <a:pPr indent="0" marL="0">
              <a:buNone/>
            </a:pPr>
            <a:r>
              <a:rPr lang="en-US" sz="1800" dirty="0">
                <a:solidFill>
                  <a:srgbClr val="F2F2F2"/>
                </a:solidFill>
                <a:latin typeface="Arial" pitchFamily="34" charset="0"/>
                <a:ea typeface="Arial" pitchFamily="34" charset="-122"/>
                <a:cs typeface="Arial" pitchFamily="34" charset="-120"/>
              </a:rPr>
              <a:t>Prove it</a:t>
            </a:r>
            <a:endParaRPr lang="en-US" sz="1800" dirty="0"/>
          </a:p>
        </p:txBody>
      </p:sp>
      <p:sp>
        <p:nvSpPr>
          <p:cNvPr id="14" name="outcome-body-03"/>
          <p:cNvSpPr txBox="1"/>
          <p:nvPr/>
        </p:nvSpPr>
        <p:spPr>
          <a:xfrm>
            <a:off x="1371600" y="3346704"/>
            <a:ext cx="7086600" cy="310896"/>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Same prompt, new chat. Then commit. That's how the next person gets it.</a:t>
            </a:r>
            <a:endParaRPr lang="en-US" sz="1400" dirty="0"/>
          </a:p>
        </p:txBody>
      </p:sp>
      <p:sp>
        <p:nvSpPr>
          <p:cNvPr id="15" name="tip"/>
          <p:cNvSpPr txBox="1"/>
          <p:nvPr/>
        </p:nvSpPr>
        <p:spPr>
          <a:xfrm>
            <a:off x="457200" y="3913632"/>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Snowtooth stands in for your repo. You already know React.</a:t>
            </a:r>
            <a:endParaRPr lang="en-US" sz="12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Same prompt. No rule. Watch what it copies.</a:t>
            </a:r>
            <a:endParaRPr lang="en-US" sz="2600" dirty="0"/>
          </a:p>
        </p:txBody>
      </p:sp>
      <p:sp>
        <p:nvSpPr>
          <p:cNvPr id="3" name="prompt-card"/>
          <p:cNvSpPr/>
          <p:nvPr/>
        </p:nvSpPr>
        <p:spPr>
          <a:xfrm>
            <a:off x="457200" y="987552"/>
            <a:ext cx="4892040" cy="2697480"/>
          </a:xfrm>
          <a:prstGeom prst="rect">
            <a:avLst/>
          </a:prstGeom>
          <a:solidFill>
            <a:srgbClr val="141414"/>
          </a:solidFill>
          <a:ln/>
        </p:spPr>
      </p:sp>
      <p:sp>
        <p:nvSpPr>
          <p:cNvPr id="4" name="prompt-label"/>
          <p:cNvSpPr txBox="1"/>
          <p:nvPr/>
        </p:nvSpPr>
        <p:spPr>
          <a:xfrm>
            <a:off x="658368" y="1115568"/>
            <a:ext cx="4526280" cy="256032"/>
          </a:xfrm>
          <a:prstGeom prst="rect">
            <a:avLst/>
          </a:prstGeom>
          <a:noFill/>
          <a:ln/>
        </p:spPr>
        <p:txBody>
          <a:bodyPr wrap="square" lIns="0" tIns="0" rIns="0" bIns="0" rtlCol="0" anchor="ctr"/>
          <a:lstStyle/>
          <a:p>
            <a:pPr indent="0" marL="0">
              <a:buNone/>
            </a:pPr>
            <a:r>
              <a:rPr lang="en-US" sz="1100" dirty="0">
                <a:solidFill>
                  <a:srgbClr val="8A8A8A"/>
                </a:solidFill>
                <a:latin typeface="Courier New" pitchFamily="34" charset="0"/>
                <a:ea typeface="Courier New" pitchFamily="34" charset="-122"/>
                <a:cs typeface="Courier New" pitchFamily="34" charset="-120"/>
              </a:rPr>
              <a:t>NEW AGENT CHAT</a:t>
            </a:r>
            <a:endParaRPr lang="en-US" sz="1100" dirty="0"/>
          </a:p>
        </p:txBody>
      </p:sp>
      <p:sp>
        <p:nvSpPr>
          <p:cNvPr id="5" name="prompt-text"/>
          <p:cNvSpPr txBox="1"/>
          <p:nvPr/>
        </p:nvSpPr>
        <p:spPr>
          <a:xfrm>
            <a:off x="658368" y="1481328"/>
            <a:ext cx="4526280" cy="1051560"/>
          </a:xfrm>
          <a:prstGeom prst="rect">
            <a:avLst/>
          </a:prstGeom>
          <a:noFill/>
          <a:ln/>
        </p:spPr>
        <p:txBody>
          <a:bodyPr wrap="square" lIns="0" tIns="0" rIns="0" bIns="0" rtlCol="0" anchor="ctr"/>
          <a:lstStyle/>
          <a:p>
            <a:pPr indent="0" marL="0">
              <a:buNone/>
            </a:pPr>
            <a:r>
              <a:rPr lang="en-US" sz="2000" dirty="0">
                <a:solidFill>
                  <a:srgbClr val="F2F2F2"/>
                </a:solidFill>
                <a:latin typeface="Arial" pitchFamily="34" charset="0"/>
                <a:ea typeface="Arial" pitchFamily="34" charset="-122"/>
                <a:cs typeface="Arial" pitchFamily="34" charset="-120"/>
              </a:rPr>
              <a:t>Add a panel that lists every trail and its difficulty.</a:t>
            </a:r>
            <a:endParaRPr lang="en-US" sz="2000" dirty="0"/>
          </a:p>
        </p:txBody>
      </p:sp>
      <p:sp>
        <p:nvSpPr>
          <p:cNvPr id="6" name="prompt-aside"/>
          <p:cNvSpPr txBox="1"/>
          <p:nvPr/>
        </p:nvSpPr>
        <p:spPr>
          <a:xfrm>
            <a:off x="658368" y="3200400"/>
            <a:ext cx="4526280" cy="292608"/>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Verbatim. Then we read the diff out loud.</a:t>
            </a:r>
            <a:endParaRPr lang="en-US" sz="1300" dirty="0"/>
          </a:p>
        </p:txBody>
      </p:sp>
      <p:sp>
        <p:nvSpPr>
          <p:cNvPr id="7" name="expect-card"/>
          <p:cNvSpPr/>
          <p:nvPr/>
        </p:nvSpPr>
        <p:spPr>
          <a:xfrm>
            <a:off x="5532120" y="987552"/>
            <a:ext cx="3154680" cy="2697480"/>
          </a:xfrm>
          <a:prstGeom prst="rect">
            <a:avLst/>
          </a:prstGeom>
          <a:solidFill>
            <a:srgbClr val="141414"/>
          </a:solidFill>
          <a:ln/>
        </p:spPr>
      </p:sp>
      <p:sp>
        <p:nvSpPr>
          <p:cNvPr id="8" name="expect-title"/>
          <p:cNvSpPr txBox="1"/>
          <p:nvPr/>
        </p:nvSpPr>
        <p:spPr>
          <a:xfrm>
            <a:off x="5715000" y="1115568"/>
            <a:ext cx="2788920" cy="256032"/>
          </a:xfrm>
          <a:prstGeom prst="rect">
            <a:avLst/>
          </a:prstGeom>
          <a:noFill/>
          <a:ln/>
        </p:spPr>
        <p:txBody>
          <a:bodyPr wrap="square" lIns="0" tIns="0" rIns="0" bIns="0" rtlCol="0" anchor="ctr"/>
          <a:lstStyle/>
          <a:p>
            <a:pPr indent="0" marL="0">
              <a:buNone/>
            </a:pPr>
            <a:r>
              <a:rPr lang="en-US" sz="1100" dirty="0">
                <a:solidFill>
                  <a:srgbClr val="8A8A8A"/>
                </a:solidFill>
                <a:latin typeface="Courier New" pitchFamily="34" charset="0"/>
                <a:ea typeface="Courier New" pitchFamily="34" charset="-122"/>
                <a:cs typeface="Courier New" pitchFamily="34" charset="-120"/>
              </a:rPr>
              <a:t>IT WILL COPY</a:t>
            </a:r>
            <a:endParaRPr lang="en-US" sz="1100" dirty="0"/>
          </a:p>
        </p:txBody>
      </p:sp>
      <p:sp>
        <p:nvSpPr>
          <p:cNvPr id="9" name="miss-label-1"/>
          <p:cNvSpPr txBox="1"/>
          <p:nvPr/>
        </p:nvSpPr>
        <p:spPr>
          <a:xfrm>
            <a:off x="5715000" y="1536192"/>
            <a:ext cx="2788920" cy="274320"/>
          </a:xfrm>
          <a:prstGeom prst="rect">
            <a:avLst/>
          </a:prstGeom>
          <a:noFill/>
          <a:ln/>
        </p:spPr>
        <p:txBody>
          <a:bodyPr wrap="square" lIns="0" tIns="0" rIns="0" bIns="0" rtlCol="0" anchor="ctr"/>
          <a:lstStyle/>
          <a:p>
            <a:pPr indent="0" marL="0">
              <a:buNone/>
            </a:pPr>
            <a:r>
              <a:rPr lang="en-US" sz="1400" dirty="0">
                <a:solidFill>
                  <a:srgbClr val="F2F2F2"/>
                </a:solidFill>
                <a:latin typeface="Courier New" pitchFamily="34" charset="0"/>
                <a:ea typeface="Courier New" pitchFamily="34" charset="-122"/>
                <a:cs typeface="Courier New" pitchFamily="34" charset="-120"/>
              </a:rPr>
              <a:t>fetch(…/lifts)</a:t>
            </a:r>
            <a:endParaRPr lang="en-US" sz="1400" dirty="0"/>
          </a:p>
        </p:txBody>
      </p:sp>
      <p:sp>
        <p:nvSpPr>
          <p:cNvPr id="10" name="miss-note-1"/>
          <p:cNvSpPr txBox="1"/>
          <p:nvPr/>
        </p:nvSpPr>
        <p:spPr>
          <a:xfrm>
            <a:off x="5715000" y="1792224"/>
            <a:ext cx="2788920" cy="256032"/>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LiftBoard still does this</a:t>
            </a:r>
            <a:endParaRPr lang="en-US" sz="1300" dirty="0"/>
          </a:p>
        </p:txBody>
      </p:sp>
      <p:sp>
        <p:nvSpPr>
          <p:cNvPr id="11" name="miss-label-2"/>
          <p:cNvSpPr txBox="1"/>
          <p:nvPr/>
        </p:nvSpPr>
        <p:spPr>
          <a:xfrm>
            <a:off x="5715000" y="2176272"/>
            <a:ext cx="2788920" cy="274320"/>
          </a:xfrm>
          <a:prstGeom prst="rect">
            <a:avLst/>
          </a:prstGeom>
          <a:noFill/>
          <a:ln/>
        </p:spPr>
        <p:txBody>
          <a:bodyPr wrap="square" lIns="0" tIns="0" rIns="0" bIns="0" rtlCol="0" anchor="ctr"/>
          <a:lstStyle/>
          <a:p>
            <a:pPr indent="0" marL="0">
              <a:buNone/>
            </a:pPr>
            <a:r>
              <a:rPr lang="en-US" sz="1400" dirty="0">
                <a:solidFill>
                  <a:srgbClr val="F2F2F2"/>
                </a:solidFill>
                <a:latin typeface="Courier New" pitchFamily="34" charset="0"/>
                <a:ea typeface="Courier New" pitchFamily="34" charset="-122"/>
                <a:cs typeface="Courier New" pitchFamily="34" charset="-120"/>
              </a:rPr>
              <a:t>No getTrails()</a:t>
            </a:r>
            <a:endParaRPr lang="en-US" sz="1400" dirty="0"/>
          </a:p>
        </p:txBody>
      </p:sp>
      <p:sp>
        <p:nvSpPr>
          <p:cNvPr id="12" name="miss-note-2"/>
          <p:cNvSpPr txBox="1"/>
          <p:nvPr/>
        </p:nvSpPr>
        <p:spPr>
          <a:xfrm>
            <a:off x="5715000" y="2432304"/>
            <a:ext cx="2788920" cy="256032"/>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The client is sitting right there</a:t>
            </a:r>
            <a:endParaRPr lang="en-US" sz="1300" dirty="0"/>
          </a:p>
        </p:txBody>
      </p:sp>
      <p:sp>
        <p:nvSpPr>
          <p:cNvPr id="13" name="miss-label-3"/>
          <p:cNvSpPr txBox="1"/>
          <p:nvPr/>
        </p:nvSpPr>
        <p:spPr>
          <a:xfrm>
            <a:off x="5715000" y="2816352"/>
            <a:ext cx="2788920" cy="274320"/>
          </a:xfrm>
          <a:prstGeom prst="rect">
            <a:avLst/>
          </a:prstGeom>
          <a:noFill/>
          <a:ln/>
        </p:spPr>
        <p:txBody>
          <a:bodyPr wrap="square" lIns="0" tIns="0" rIns="0" bIns="0" rtlCol="0" anchor="ctr"/>
          <a:lstStyle/>
          <a:p>
            <a:pPr indent="0" marL="0">
              <a:buNone/>
            </a:pPr>
            <a:r>
              <a:rPr lang="en-US" sz="1400" dirty="0">
                <a:solidFill>
                  <a:srgbClr val="F2F2F2"/>
                </a:solidFill>
                <a:latin typeface="Courier New" pitchFamily="34" charset="0"/>
                <a:ea typeface="Courier New" pitchFamily="34" charset="-122"/>
                <a:cs typeface="Courier New" pitchFamily="34" charset="-120"/>
              </a:rPr>
              <a:t>Hand-styled status</a:t>
            </a:r>
            <a:endParaRPr lang="en-US" sz="1400" dirty="0"/>
          </a:p>
        </p:txBody>
      </p:sp>
      <p:sp>
        <p:nvSpPr>
          <p:cNvPr id="14" name="miss-note-3"/>
          <p:cNvSpPr txBox="1"/>
          <p:nvPr/>
        </p:nvSpPr>
        <p:spPr>
          <a:xfrm>
            <a:off x="5715000" y="3072384"/>
            <a:ext cx="2788920" cy="256032"/>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StatusBadge exists. Unused.</a:t>
            </a:r>
            <a:endParaRPr lang="en-US" sz="1300" dirty="0"/>
          </a:p>
        </p:txBody>
      </p:sp>
      <p:sp>
        <p:nvSpPr>
          <p:cNvPr id="15" name="tip"/>
          <p:cNvSpPr txBox="1"/>
          <p:nvPr/>
        </p:nvSpPr>
        <p:spPr>
          <a:xfrm>
            <a:off x="457200" y="3858768"/>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New chat to test a rule. Staying in the thread cheats. The model still has your correction.</a:t>
            </a:r>
            <a:endParaRPr lang="en-US" sz="12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A rule is three things. That's the whole file.</a:t>
            </a:r>
            <a:endParaRPr lang="en-US" sz="2600" dirty="0"/>
          </a:p>
        </p:txBody>
      </p:sp>
      <p:sp>
        <p:nvSpPr>
          <p:cNvPr id="3" name="code-card"/>
          <p:cNvSpPr/>
          <p:nvPr/>
        </p:nvSpPr>
        <p:spPr>
          <a:xfrm>
            <a:off x="457200" y="960120"/>
            <a:ext cx="4709160" cy="2743200"/>
          </a:xfrm>
          <a:prstGeom prst="rect">
            <a:avLst/>
          </a:prstGeom>
          <a:solidFill>
            <a:srgbClr val="141414"/>
          </a:solidFill>
          <a:ln/>
        </p:spPr>
      </p:sp>
      <p:sp>
        <p:nvSpPr>
          <p:cNvPr id="4" name="rule-code"/>
          <p:cNvSpPr txBox="1"/>
          <p:nvPr/>
        </p:nvSpPr>
        <p:spPr>
          <a:xfrm>
            <a:off x="640080" y="1078992"/>
            <a:ext cx="4389120" cy="2514600"/>
          </a:xfrm>
          <a:prstGeom prst="rect">
            <a:avLst/>
          </a:prstGeom>
          <a:noFill/>
          <a:ln/>
        </p:spPr>
        <p:txBody>
          <a:bodyPr wrap="square" lIns="0" tIns="0" rIns="0" bIns="0" rtlCol="0" anchor="ctr"/>
          <a:lstStyle/>
          <a:p>
            <a:pPr indent="0" marL="0">
              <a:buNone/>
            </a:pPr>
            <a:r>
              <a:rPr lang="en-US" sz="1300" dirty="0">
                <a:solidFill>
                  <a:srgbClr val="8A8A8A"/>
                </a:solidFill>
                <a:latin typeface="Courier New" pitchFamily="34" charset="0"/>
                <a:ea typeface="Courier New" pitchFamily="34" charset="-122"/>
                <a:cs typeface="Courier New" pitchFamily="34" charset="-120"/>
              </a:rPr>
              <a:t>---
</a:t>
            </a:r>
            <a:pPr indent="0" marL="0">
              <a:buNone/>
            </a:pPr>
            <a:r>
              <a:rPr lang="en-US" sz="1300" dirty="0">
                <a:solidFill>
                  <a:srgbClr val="8A8A8A"/>
                </a:solidFill>
                <a:latin typeface="Courier New" pitchFamily="34" charset="0"/>
                <a:ea typeface="Courier New" pitchFamily="34" charset="-122"/>
                <a:cs typeface="Courier New" pitchFamily="34" charset="-120"/>
              </a:rPr>
              <a:t>description: </a:t>
            </a:r>
            <a:pPr indent="0" marL="0">
              <a:buNone/>
            </a:pPr>
            <a:r>
              <a:rPr lang="en-US" sz="1300" dirty="0">
                <a:solidFill>
                  <a:srgbClr val="F2F2F2"/>
                </a:solidFill>
                <a:latin typeface="Courier New" pitchFamily="34" charset="0"/>
                <a:ea typeface="Courier New" pitchFamily="34" charset="-122"/>
                <a:cs typeface="Courier New" pitchFamily="34" charset="-120"/>
              </a:rPr>
              <a:t>How to load Snowtooth data
</a:t>
            </a:r>
            <a:pPr indent="0" marL="0">
              <a:buNone/>
            </a:pPr>
            <a:r>
              <a:rPr lang="en-US" sz="1300" dirty="0">
                <a:solidFill>
                  <a:srgbClr val="8A8A8A"/>
                </a:solidFill>
                <a:latin typeface="Courier New" pitchFamily="34" charset="0"/>
                <a:ea typeface="Courier New" pitchFamily="34" charset="-122"/>
                <a:cs typeface="Courier New" pitchFamily="34" charset="-120"/>
              </a:rPr>
              <a:t>alwaysApply: </a:t>
            </a:r>
            <a:pPr indent="0" marL="0">
              <a:buNone/>
            </a:pPr>
            <a:r>
              <a:rPr lang="en-US" sz="1300" dirty="0">
                <a:solidFill>
                  <a:srgbClr val="F2F2F2"/>
                </a:solidFill>
                <a:latin typeface="Courier New" pitchFamily="34" charset="0"/>
                <a:ea typeface="Courier New" pitchFamily="34" charset="-122"/>
                <a:cs typeface="Courier New" pitchFamily="34" charset="-120"/>
              </a:rPr>
              <a:t>true
</a:t>
            </a:r>
            <a:pPr indent="0" marL="0">
              <a:buNone/>
            </a:pPr>
            <a:r>
              <a:rPr lang="en-US" sz="1300" dirty="0">
                <a:solidFill>
                  <a:srgbClr val="8A8A8A"/>
                </a:solidFill>
                <a:latin typeface="Courier New" pitchFamily="34" charset="0"/>
                <a:ea typeface="Courier New" pitchFamily="34" charset="-122"/>
                <a:cs typeface="Courier New" pitchFamily="34" charset="-120"/>
              </a:rPr>
              <a:t>---
</a:t>
            </a:r>
            <a:pPr indent="0" marL="0">
              <a:buNone/>
            </a:pPr>
            <a:r>
              <a:rPr lang="en-US" sz="1300" dirty="0">
                <a:solidFill>
                  <a:srgbClr val="F2F2F2"/>
                </a:solidFill>
                <a:latin typeface="Courier New" pitchFamily="34" charset="0"/>
                <a:ea typeface="Courier New" pitchFamily="34" charset="-122"/>
                <a:cs typeface="Courier New" pitchFamily="34" charset="-120"/>
              </a:rPr>
              <a:t>All data comes from @/lib/snowtooth.
</a:t>
            </a:r>
            <a:pPr indent="0" marL="0">
              <a:buNone/>
            </a:pPr>
            <a:r>
              <a:rPr lang="en-US" sz="1300" dirty="0">
                <a:solidFill>
                  <a:srgbClr val="F2F2F2"/>
                </a:solidFill>
                <a:latin typeface="Courier New" pitchFamily="34" charset="0"/>
                <a:ea typeface="Courier New" pitchFamily="34" charset="-122"/>
                <a:cs typeface="Courier New" pitchFamily="34" charset="-120"/>
              </a:rPr>
              <a:t>Never fetch in a component.
</a:t>
            </a:r>
            <a:pPr indent="0" marL="0">
              <a:buNone/>
            </a:pPr>
            <a:r>
              <a:rPr lang="en-US" sz="1300" dirty="0">
                <a:solidFill>
                  <a:srgbClr val="8A8A8A"/>
                </a:solidFill>
                <a:latin typeface="Courier New" pitchFamily="34" charset="0"/>
                <a:ea typeface="Courier New" pitchFamily="34" charset="-122"/>
                <a:cs typeface="Courier New" pitchFamily="34" charset="-120"/>
              </a:rPr>
              <a:t>Do:    </a:t>
            </a:r>
            <a:pPr indent="0" marL="0">
              <a:buNone/>
            </a:pPr>
            <a:r>
              <a:rPr lang="en-US" sz="1300" dirty="0">
                <a:solidFill>
                  <a:srgbClr val="F2F2F2"/>
                </a:solidFill>
                <a:latin typeface="Courier New" pitchFamily="34" charset="0"/>
                <a:ea typeface="Courier New" pitchFamily="34" charset="-122"/>
                <a:cs typeface="Courier New" pitchFamily="34" charset="-120"/>
              </a:rPr>
              <a:t>await getTrails()
</a:t>
            </a:r>
            <a:pPr indent="0" marL="0">
              <a:buNone/>
            </a:pPr>
            <a:r>
              <a:rPr lang="en-US" sz="1300" dirty="0">
                <a:solidFill>
                  <a:srgbClr val="8A8A8A"/>
                </a:solidFill>
                <a:latin typeface="Courier New" pitchFamily="34" charset="0"/>
                <a:ea typeface="Courier New" pitchFamily="34" charset="-122"/>
                <a:cs typeface="Courier New" pitchFamily="34" charset="-120"/>
              </a:rPr>
              <a:t>Don't: </a:t>
            </a:r>
            <a:pPr indent="0" marL="0">
              <a:buNone/>
            </a:pPr>
            <a:r>
              <a:rPr lang="en-US" sz="1300" dirty="0">
                <a:solidFill>
                  <a:srgbClr val="F2F2F2"/>
                </a:solidFill>
                <a:latin typeface="Courier New" pitchFamily="34" charset="0"/>
                <a:ea typeface="Courier New" pitchFamily="34" charset="-122"/>
                <a:cs typeface="Courier New" pitchFamily="34" charset="-120"/>
              </a:rPr>
              <a:t>fetch(".../lifts")
</a:t>
            </a:r>
            <a:pPr indent="0" marL="0">
              <a:buNone/>
            </a:pPr>
            <a:r>
              <a:rPr lang="en-US" sz="1300" dirty="0">
                <a:solidFill>
                  <a:srgbClr val="8A8A8A"/>
                </a:solidFill>
                <a:latin typeface="Courier New" pitchFamily="34" charset="0"/>
                <a:ea typeface="Courier New" pitchFamily="34" charset="-122"/>
                <a:cs typeface="Courier New" pitchFamily="34" charset="-120"/>
              </a:rPr>
              <a:t>See @lib/snowtooth.ts</a:t>
            </a:r>
            <a:endParaRPr lang="en-US" sz="1300" dirty="0"/>
          </a:p>
        </p:txBody>
      </p:sp>
      <p:sp>
        <p:nvSpPr>
          <p:cNvPr id="5" name="part-card-01"/>
          <p:cNvSpPr/>
          <p:nvPr/>
        </p:nvSpPr>
        <p:spPr>
          <a:xfrm>
            <a:off x="5349240" y="960120"/>
            <a:ext cx="3337560" cy="841248"/>
          </a:xfrm>
          <a:prstGeom prst="rect">
            <a:avLst/>
          </a:prstGeom>
          <a:solidFill>
            <a:srgbClr val="141414"/>
          </a:solidFill>
          <a:ln/>
        </p:spPr>
      </p:sp>
      <p:sp>
        <p:nvSpPr>
          <p:cNvPr id="6" name="part-n-01"/>
          <p:cNvSpPr txBox="1"/>
          <p:nvPr/>
        </p:nvSpPr>
        <p:spPr>
          <a:xfrm>
            <a:off x="5486400" y="960120"/>
            <a:ext cx="457200" cy="841248"/>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01</a:t>
            </a:r>
            <a:endParaRPr lang="en-US" sz="1400" dirty="0"/>
          </a:p>
        </p:txBody>
      </p:sp>
      <p:sp>
        <p:nvSpPr>
          <p:cNvPr id="7" name="part-title-01"/>
          <p:cNvSpPr txBox="1"/>
          <p:nvPr/>
        </p:nvSpPr>
        <p:spPr>
          <a:xfrm>
            <a:off x="5989320" y="1088136"/>
            <a:ext cx="2514600" cy="256032"/>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Description</a:t>
            </a:r>
            <a:endParaRPr lang="en-US" sz="1500" dirty="0"/>
          </a:p>
        </p:txBody>
      </p:sp>
      <p:sp>
        <p:nvSpPr>
          <p:cNvPr id="8" name="part-body-01"/>
          <p:cNvSpPr txBox="1"/>
          <p:nvPr/>
        </p:nvSpPr>
        <p:spPr>
          <a:xfrm>
            <a:off x="5989320" y="1380744"/>
            <a:ext cx="2514600" cy="310896"/>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So the agent knows when this applies.</a:t>
            </a:r>
            <a:endParaRPr lang="en-US" sz="1300" dirty="0"/>
          </a:p>
        </p:txBody>
      </p:sp>
      <p:sp>
        <p:nvSpPr>
          <p:cNvPr id="9" name="part-card-02"/>
          <p:cNvSpPr/>
          <p:nvPr/>
        </p:nvSpPr>
        <p:spPr>
          <a:xfrm>
            <a:off x="5349240" y="1892808"/>
            <a:ext cx="3337560" cy="841248"/>
          </a:xfrm>
          <a:prstGeom prst="rect">
            <a:avLst/>
          </a:prstGeom>
          <a:solidFill>
            <a:srgbClr val="141414"/>
          </a:solidFill>
          <a:ln/>
        </p:spPr>
      </p:sp>
      <p:sp>
        <p:nvSpPr>
          <p:cNvPr id="10" name="part-n-02"/>
          <p:cNvSpPr txBox="1"/>
          <p:nvPr/>
        </p:nvSpPr>
        <p:spPr>
          <a:xfrm>
            <a:off x="5486400" y="1892808"/>
            <a:ext cx="457200" cy="841248"/>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02</a:t>
            </a:r>
            <a:endParaRPr lang="en-US" sz="1400" dirty="0"/>
          </a:p>
        </p:txBody>
      </p:sp>
      <p:sp>
        <p:nvSpPr>
          <p:cNvPr id="11" name="part-title-02"/>
          <p:cNvSpPr txBox="1"/>
          <p:nvPr/>
        </p:nvSpPr>
        <p:spPr>
          <a:xfrm>
            <a:off x="5989320" y="2020824"/>
            <a:ext cx="2514600" cy="256032"/>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Do and don't</a:t>
            </a:r>
            <a:endParaRPr lang="en-US" sz="1500" dirty="0"/>
          </a:p>
        </p:txBody>
      </p:sp>
      <p:sp>
        <p:nvSpPr>
          <p:cNvPr id="12" name="part-body-02"/>
          <p:cNvSpPr txBox="1"/>
          <p:nvPr/>
        </p:nvSpPr>
        <p:spPr>
          <a:xfrm>
            <a:off x="5989320" y="2313432"/>
            <a:ext cx="2514600" cy="310896"/>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One of each, in real code. Not vibes.</a:t>
            </a:r>
            <a:endParaRPr lang="en-US" sz="1300" dirty="0"/>
          </a:p>
        </p:txBody>
      </p:sp>
      <p:sp>
        <p:nvSpPr>
          <p:cNvPr id="13" name="part-card-03"/>
          <p:cNvSpPr/>
          <p:nvPr/>
        </p:nvSpPr>
        <p:spPr>
          <a:xfrm>
            <a:off x="5349240" y="2825496"/>
            <a:ext cx="3337560" cy="841248"/>
          </a:xfrm>
          <a:prstGeom prst="rect">
            <a:avLst/>
          </a:prstGeom>
          <a:solidFill>
            <a:srgbClr val="141414"/>
          </a:solidFill>
          <a:ln/>
        </p:spPr>
      </p:sp>
      <p:sp>
        <p:nvSpPr>
          <p:cNvPr id="14" name="part-n-03"/>
          <p:cNvSpPr txBox="1"/>
          <p:nvPr/>
        </p:nvSpPr>
        <p:spPr>
          <a:xfrm>
            <a:off x="5486400" y="2825496"/>
            <a:ext cx="457200" cy="841248"/>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03</a:t>
            </a:r>
            <a:endParaRPr lang="en-US" sz="1400" dirty="0"/>
          </a:p>
        </p:txBody>
      </p:sp>
      <p:sp>
        <p:nvSpPr>
          <p:cNvPr id="15" name="part-title-03"/>
          <p:cNvSpPr txBox="1"/>
          <p:nvPr/>
        </p:nvSpPr>
        <p:spPr>
          <a:xfrm>
            <a:off x="5989320" y="2953512"/>
            <a:ext cx="2514600" cy="256032"/>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A pointer</a:t>
            </a:r>
            <a:endParaRPr lang="en-US" sz="1500" dirty="0"/>
          </a:p>
        </p:txBody>
      </p:sp>
      <p:sp>
        <p:nvSpPr>
          <p:cNvPr id="16" name="part-body-03"/>
          <p:cNvSpPr txBox="1"/>
          <p:nvPr/>
        </p:nvSpPr>
        <p:spPr>
          <a:xfrm>
            <a:off x="5989320" y="3246120"/>
            <a:ext cx="2514600" cy="310896"/>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 the real file. Don't paste a copy that goes stale.</a:t>
            </a:r>
            <a:endParaRPr lang="en-US" sz="1300" dirty="0"/>
          </a:p>
        </p:txBody>
      </p:sp>
      <p:sp>
        <p:nvSpPr>
          <p:cNvPr id="17" name="tip"/>
          <p:cNvSpPr txBox="1"/>
          <p:nvPr/>
        </p:nvSpPr>
        <p:spPr>
          <a:xfrm>
            <a:off x="457200" y="3858768"/>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Type /create-rule and dictate it. Then open the file.</a:t>
            </a:r>
            <a:endParaRPr lang="en-US" sz="12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New chat. Same prompt. That's the test.</a:t>
            </a:r>
            <a:endParaRPr lang="en-US" sz="2600" dirty="0"/>
          </a:p>
        </p:txBody>
      </p:sp>
      <p:sp>
        <p:nvSpPr>
          <p:cNvPr id="3" name="before-card"/>
          <p:cNvSpPr/>
          <p:nvPr/>
        </p:nvSpPr>
        <p:spPr>
          <a:xfrm>
            <a:off x="457200" y="987552"/>
            <a:ext cx="3977640" cy="2697480"/>
          </a:xfrm>
          <a:prstGeom prst="rect">
            <a:avLst/>
          </a:prstGeom>
          <a:solidFill>
            <a:srgbClr val="141414"/>
          </a:solidFill>
          <a:ln/>
        </p:spPr>
      </p:sp>
      <p:sp>
        <p:nvSpPr>
          <p:cNvPr id="4" name="before-label"/>
          <p:cNvSpPr txBox="1"/>
          <p:nvPr/>
        </p:nvSpPr>
        <p:spPr>
          <a:xfrm>
            <a:off x="640080" y="1115568"/>
            <a:ext cx="3611880" cy="256032"/>
          </a:xfrm>
          <a:prstGeom prst="rect">
            <a:avLst/>
          </a:prstGeom>
          <a:noFill/>
          <a:ln/>
        </p:spPr>
        <p:txBody>
          <a:bodyPr wrap="square" lIns="0" tIns="0" rIns="0" bIns="0" rtlCol="0" anchor="ctr"/>
          <a:lstStyle/>
          <a:p>
            <a:pPr indent="0" marL="0">
              <a:buNone/>
            </a:pPr>
            <a:r>
              <a:rPr lang="en-US" sz="1100" dirty="0">
                <a:solidFill>
                  <a:srgbClr val="8A8A8A"/>
                </a:solidFill>
                <a:latin typeface="Courier New" pitchFamily="34" charset="0"/>
                <a:ea typeface="Courier New" pitchFamily="34" charset="-122"/>
                <a:cs typeface="Courier New" pitchFamily="34" charset="-120"/>
              </a:rPr>
              <a:t>BEFORE THE RULE</a:t>
            </a:r>
            <a:endParaRPr lang="en-US" sz="1100" dirty="0"/>
          </a:p>
        </p:txBody>
      </p:sp>
      <p:sp>
        <p:nvSpPr>
          <p:cNvPr id="5" name="before-code"/>
          <p:cNvSpPr txBox="1"/>
          <p:nvPr/>
        </p:nvSpPr>
        <p:spPr>
          <a:xfrm>
            <a:off x="640080" y="1554480"/>
            <a:ext cx="3611880" cy="502920"/>
          </a:xfrm>
          <a:prstGeom prst="rect">
            <a:avLst/>
          </a:prstGeom>
          <a:noFill/>
          <a:ln/>
        </p:spPr>
        <p:txBody>
          <a:bodyPr wrap="square" lIns="0" tIns="0" rIns="0" bIns="0" rtlCol="0" anchor="ctr"/>
          <a:lstStyle/>
          <a:p>
            <a:pPr indent="0" marL="0">
              <a:buNone/>
            </a:pPr>
            <a:r>
              <a:rPr lang="en-US" sz="2000" dirty="0">
                <a:solidFill>
                  <a:srgbClr val="F2F2F2"/>
                </a:solidFill>
                <a:latin typeface="Courier New" pitchFamily="34" charset="0"/>
                <a:ea typeface="Courier New" pitchFamily="34" charset="-122"/>
                <a:cs typeface="Courier New" pitchFamily="34" charset="-120"/>
              </a:rPr>
              <a:t>fetch(".../lifts")</a:t>
            </a:r>
            <a:endParaRPr lang="en-US" sz="2000" dirty="0"/>
          </a:p>
        </p:txBody>
      </p:sp>
      <p:sp>
        <p:nvSpPr>
          <p:cNvPr id="6" name="before-body"/>
          <p:cNvSpPr txBox="1"/>
          <p:nvPr/>
        </p:nvSpPr>
        <p:spPr>
          <a:xfrm>
            <a:off x="640080" y="2240280"/>
            <a:ext cx="3611880" cy="1097280"/>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A correction you give once is a conversation. It dies when you close the tab.</a:t>
            </a:r>
            <a:endParaRPr lang="en-US" sz="1500" dirty="0"/>
          </a:p>
        </p:txBody>
      </p:sp>
      <p:sp>
        <p:nvSpPr>
          <p:cNvPr id="7" name="after-card"/>
          <p:cNvSpPr/>
          <p:nvPr/>
        </p:nvSpPr>
        <p:spPr>
          <a:xfrm>
            <a:off x="4709160" y="987552"/>
            <a:ext cx="3977640" cy="2697480"/>
          </a:xfrm>
          <a:prstGeom prst="rect">
            <a:avLst/>
          </a:prstGeom>
          <a:solidFill>
            <a:srgbClr val="141414"/>
          </a:solidFill>
          <a:ln/>
        </p:spPr>
      </p:sp>
      <p:sp>
        <p:nvSpPr>
          <p:cNvPr id="8" name="after-label"/>
          <p:cNvSpPr txBox="1"/>
          <p:nvPr/>
        </p:nvSpPr>
        <p:spPr>
          <a:xfrm>
            <a:off x="4892040" y="1115568"/>
            <a:ext cx="3611880" cy="256032"/>
          </a:xfrm>
          <a:prstGeom prst="rect">
            <a:avLst/>
          </a:prstGeom>
          <a:noFill/>
          <a:ln/>
        </p:spPr>
        <p:txBody>
          <a:bodyPr wrap="square" lIns="0" tIns="0" rIns="0" bIns="0" rtlCol="0" anchor="ctr"/>
          <a:lstStyle/>
          <a:p>
            <a:pPr indent="0" marL="0">
              <a:buNone/>
            </a:pPr>
            <a:r>
              <a:rPr lang="en-US" sz="1100" dirty="0">
                <a:solidFill>
                  <a:srgbClr val="8A8A8A"/>
                </a:solidFill>
                <a:latin typeface="Courier New" pitchFamily="34" charset="0"/>
                <a:ea typeface="Courier New" pitchFamily="34" charset="-122"/>
                <a:cs typeface="Courier New" pitchFamily="34" charset="-120"/>
              </a:rPr>
              <a:t>AFTER YOU COMMIT IT</a:t>
            </a:r>
            <a:endParaRPr lang="en-US" sz="1100" dirty="0"/>
          </a:p>
        </p:txBody>
      </p:sp>
      <p:sp>
        <p:nvSpPr>
          <p:cNvPr id="9" name="after-code"/>
          <p:cNvSpPr txBox="1"/>
          <p:nvPr/>
        </p:nvSpPr>
        <p:spPr>
          <a:xfrm>
            <a:off x="4892040" y="1554480"/>
            <a:ext cx="3611880" cy="502920"/>
          </a:xfrm>
          <a:prstGeom prst="rect">
            <a:avLst/>
          </a:prstGeom>
          <a:noFill/>
          <a:ln/>
        </p:spPr>
        <p:txBody>
          <a:bodyPr wrap="square" lIns="0" tIns="0" rIns="0" bIns="0" rtlCol="0" anchor="ctr"/>
          <a:lstStyle/>
          <a:p>
            <a:pPr indent="0" marL="0">
              <a:buNone/>
            </a:pPr>
            <a:r>
              <a:rPr lang="en-US" sz="2000" dirty="0">
                <a:solidFill>
                  <a:srgbClr val="F2F2F2"/>
                </a:solidFill>
                <a:latin typeface="Courier New" pitchFamily="34" charset="0"/>
                <a:ea typeface="Courier New" pitchFamily="34" charset="-122"/>
                <a:cs typeface="Courier New" pitchFamily="34" charset="-120"/>
              </a:rPr>
              <a:t>await getTrails()</a:t>
            </a:r>
            <a:endParaRPr lang="en-US" sz="2000" dirty="0"/>
          </a:p>
        </p:txBody>
      </p:sp>
      <p:sp>
        <p:nvSpPr>
          <p:cNvPr id="10" name="after-body"/>
          <p:cNvSpPr txBox="1"/>
          <p:nvPr/>
        </p:nvSpPr>
        <p:spPr>
          <a:xfrm>
            <a:off x="4892040" y="2240280"/>
            <a:ext cx="3611880" cy="1097280"/>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A correction you commit is a team habit. Alex gets it tomorrow without you.</a:t>
            </a:r>
            <a:endParaRPr lang="en-US" sz="1500" dirty="0"/>
          </a:p>
        </p:txBody>
      </p:sp>
      <p:sp>
        <p:nvSpPr>
          <p:cNvPr id="11" name="tip"/>
          <p:cNvSpPr txBox="1"/>
          <p:nvPr/>
        </p:nvSpPr>
        <p:spPr>
          <a:xfrm>
            <a:off x="457200" y="3858768"/>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Look for the rule pill. Then commit. A rule only on your machine is a preference.</a:t>
            </a:r>
            <a:endParaRPr lang="en-US" sz="12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Your turn. Marketing just emailed.</a:t>
            </a:r>
            <a:endParaRPr lang="en-US" sz="2600" dirty="0"/>
          </a:p>
        </p:txBody>
      </p:sp>
      <p:sp>
        <p:nvSpPr>
          <p:cNvPr id="3" name="marketing-card"/>
          <p:cNvSpPr/>
          <p:nvPr/>
        </p:nvSpPr>
        <p:spPr>
          <a:xfrm>
            <a:off x="457200" y="960120"/>
            <a:ext cx="8229600" cy="658368"/>
          </a:xfrm>
          <a:prstGeom prst="rect">
            <a:avLst/>
          </a:prstGeom>
          <a:solidFill>
            <a:srgbClr val="141414"/>
          </a:solidFill>
          <a:ln/>
        </p:spPr>
      </p:sp>
      <p:sp>
        <p:nvSpPr>
          <p:cNvPr id="4" name="marketing-copy"/>
          <p:cNvSpPr txBox="1"/>
          <p:nvPr/>
        </p:nvSpPr>
        <p:spPr>
          <a:xfrm>
            <a:off x="640080" y="960120"/>
            <a:ext cx="7863840" cy="658368"/>
          </a:xfrm>
          <a:prstGeom prst="rect">
            <a:avLst/>
          </a:prstGeom>
          <a:noFill/>
          <a:ln/>
        </p:spPr>
        <p:txBody>
          <a:bodyPr wrap="square" lIns="0" tIns="0" rIns="0" bIns="0" rtlCol="0" anchor="ctr"/>
          <a:lstStyle/>
          <a:p>
            <a:pPr indent="0" marL="0">
              <a:buNone/>
            </a:pPr>
            <a:r>
              <a:rPr lang="en-US" sz="1600" dirty="0">
                <a:solidFill>
                  <a:srgbClr val="F2F2F2"/>
                </a:solidFill>
                <a:latin typeface="Arial" pitchFamily="34" charset="0"/>
                <a:ea typeface="Arial" pitchFamily="34" charset="-122"/>
                <a:cs typeface="Arial" pitchFamily="34" charset="-120"/>
              </a:rPr>
              <a:t>Guests call them runs, never “trails.” Every status uses StatusBadge.</a:t>
            </a:r>
            <a:endParaRPr lang="en-US" sz="1600" dirty="0"/>
          </a:p>
        </p:txBody>
      </p:sp>
      <p:sp>
        <p:nvSpPr>
          <p:cNvPr id="5" name="lab-n-01"/>
          <p:cNvSpPr txBox="1"/>
          <p:nvPr/>
        </p:nvSpPr>
        <p:spPr>
          <a:xfrm>
            <a:off x="457200" y="1783080"/>
            <a:ext cx="502920" cy="512064"/>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01</a:t>
            </a:r>
            <a:endParaRPr lang="en-US" sz="1400" dirty="0"/>
          </a:p>
        </p:txBody>
      </p:sp>
      <p:sp>
        <p:nvSpPr>
          <p:cNvPr id="6" name="lab-text-01"/>
          <p:cNvSpPr txBox="1"/>
          <p:nvPr/>
        </p:nvSpPr>
        <p:spPr>
          <a:xfrm>
            <a:off x="1051560" y="1783080"/>
            <a:ext cx="7635240" cy="512064"/>
          </a:xfrm>
          <a:prstGeom prst="rect">
            <a:avLst/>
          </a:prstGeom>
          <a:noFill/>
          <a:ln/>
        </p:spPr>
        <p:txBody>
          <a:bodyPr wrap="square" lIns="0" tIns="0" rIns="0" bIns="0" rtlCol="0" anchor="ctr"/>
          <a:lstStyle/>
          <a:p>
            <a:pPr indent="0" marL="0">
              <a:buNone/>
            </a:pPr>
            <a:r>
              <a:rPr lang="en-US" sz="1600" dirty="0">
                <a:solidFill>
                  <a:srgbClr val="F2F2F2"/>
                </a:solidFill>
                <a:latin typeface="Arial" pitchFamily="34" charset="0"/>
                <a:ea typeface="Arial" pitchFamily="34" charset="-122"/>
                <a:cs typeface="Arial" pitchFamily="34" charset="-120"/>
              </a:rPr>
              <a:t>New chat. The prompt is in handout.md. Read the diff.</a:t>
            </a:r>
            <a:endParaRPr lang="en-US" sz="1600" dirty="0"/>
          </a:p>
        </p:txBody>
      </p:sp>
      <p:sp>
        <p:nvSpPr>
          <p:cNvPr id="7" name="lab-n-02"/>
          <p:cNvSpPr txBox="1"/>
          <p:nvPr/>
        </p:nvSpPr>
        <p:spPr>
          <a:xfrm>
            <a:off x="457200" y="2404872"/>
            <a:ext cx="502920" cy="512064"/>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02</a:t>
            </a:r>
            <a:endParaRPr lang="en-US" sz="1400" dirty="0"/>
          </a:p>
        </p:txBody>
      </p:sp>
      <p:sp>
        <p:nvSpPr>
          <p:cNvPr id="8" name="lab-text-02"/>
          <p:cNvSpPr txBox="1"/>
          <p:nvPr/>
        </p:nvSpPr>
        <p:spPr>
          <a:xfrm>
            <a:off x="1051560" y="2404872"/>
            <a:ext cx="7635240" cy="512064"/>
          </a:xfrm>
          <a:prstGeom prst="rect">
            <a:avLst/>
          </a:prstGeom>
          <a:noFill/>
          <a:ln/>
        </p:spPr>
        <p:txBody>
          <a:bodyPr wrap="square" lIns="0" tIns="0" rIns="0" bIns="0" rtlCol="0" anchor="ctr"/>
          <a:lstStyle/>
          <a:p>
            <a:pPr indent="0" marL="0">
              <a:buNone/>
            </a:pPr>
            <a:r>
              <a:rPr lang="en-US" sz="1600" dirty="0">
                <a:solidFill>
                  <a:srgbClr val="F2F2F2"/>
                </a:solidFill>
                <a:latin typeface="Arial" pitchFamily="34" charset="0"/>
                <a:ea typeface="Arial" pitchFamily="34" charset="-122"/>
                <a:cs typeface="Arial" pitchFamily="34" charset="-120"/>
              </a:rPr>
              <a:t>Restore the Checkpoint. /create-rule, or write snowtooth-copy.mdc.</a:t>
            </a:r>
            <a:endParaRPr lang="en-US" sz="1600" dirty="0"/>
          </a:p>
        </p:txBody>
      </p:sp>
      <p:sp>
        <p:nvSpPr>
          <p:cNvPr id="9" name="lab-n-03"/>
          <p:cNvSpPr txBox="1"/>
          <p:nvPr/>
        </p:nvSpPr>
        <p:spPr>
          <a:xfrm>
            <a:off x="457200" y="3026664"/>
            <a:ext cx="502920" cy="512064"/>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03</a:t>
            </a:r>
            <a:endParaRPr lang="en-US" sz="1400" dirty="0"/>
          </a:p>
        </p:txBody>
      </p:sp>
      <p:sp>
        <p:nvSpPr>
          <p:cNvPr id="10" name="lab-text-03"/>
          <p:cNvSpPr txBox="1"/>
          <p:nvPr/>
        </p:nvSpPr>
        <p:spPr>
          <a:xfrm>
            <a:off x="1051560" y="3026664"/>
            <a:ext cx="7635240" cy="512064"/>
          </a:xfrm>
          <a:prstGeom prst="rect">
            <a:avLst/>
          </a:prstGeom>
          <a:noFill/>
          <a:ln/>
        </p:spPr>
        <p:txBody>
          <a:bodyPr wrap="square" lIns="0" tIns="0" rIns="0" bIns="0" rtlCol="0" anchor="ctr"/>
          <a:lstStyle/>
          <a:p>
            <a:pPr indent="0" marL="0">
              <a:buNone/>
            </a:pPr>
            <a:r>
              <a:rPr lang="en-US" sz="1600" dirty="0">
                <a:solidFill>
                  <a:srgbClr val="F2F2F2"/>
                </a:solidFill>
                <a:latin typeface="Arial" pitchFamily="34" charset="0"/>
                <a:ea typeface="Arial" pitchFamily="34" charset="-122"/>
                <a:cs typeface="Arial" pitchFamily="34" charset="-120"/>
              </a:rPr>
              <a:t>New chat. Same prompt. Check the diff again. Commit the rule.</a:t>
            </a:r>
            <a:endParaRPr lang="en-US" sz="1600" dirty="0"/>
          </a:p>
        </p:txBody>
      </p:sp>
      <p:sp>
        <p:nvSpPr>
          <p:cNvPr id="11" name="tip"/>
          <p:cNvSpPr txBox="1"/>
          <p:nvPr/>
        </p:nvSpPr>
        <p:spPr>
          <a:xfrm>
            <a:off x="457200" y="3858768"/>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handout.md is in .cursorignore, so the agent can't read the lab.</a:t>
            </a:r>
            <a:endParaRPr lang="en-US" sz="12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Take this with you</a:t>
            </a:r>
            <a:endParaRPr lang="en-US" sz="2600" dirty="0"/>
          </a:p>
        </p:txBody>
      </p:sp>
      <p:sp>
        <p:nvSpPr>
          <p:cNvPr id="3" name="row-1"/>
          <p:cNvSpPr/>
          <p:nvPr/>
        </p:nvSpPr>
        <p:spPr>
          <a:xfrm>
            <a:off x="457200" y="932688"/>
            <a:ext cx="8229600" cy="402336"/>
          </a:xfrm>
          <a:prstGeom prst="rect">
            <a:avLst/>
          </a:prstGeom>
          <a:solidFill>
            <a:srgbClr val="141414"/>
          </a:solidFill>
          <a:ln/>
        </p:spPr>
      </p:sp>
      <p:sp>
        <p:nvSpPr>
          <p:cNvPr id="4" name="if-1"/>
          <p:cNvSpPr txBox="1"/>
          <p:nvPr/>
        </p:nvSpPr>
        <p:spPr>
          <a:xfrm>
            <a:off x="621792" y="932688"/>
            <a:ext cx="4114800" cy="402336"/>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You've said it twice</a:t>
            </a:r>
            <a:endParaRPr lang="en-US" sz="1500" dirty="0"/>
          </a:p>
        </p:txBody>
      </p:sp>
      <p:sp>
        <p:nvSpPr>
          <p:cNvPr id="5" name="then-1"/>
          <p:cNvSpPr txBox="1"/>
          <p:nvPr/>
        </p:nvSpPr>
        <p:spPr>
          <a:xfrm>
            <a:off x="4846320" y="932688"/>
            <a:ext cx="3657600" cy="402336"/>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Write a rule</a:t>
            </a:r>
            <a:endParaRPr lang="en-US" sz="1500" dirty="0"/>
          </a:p>
        </p:txBody>
      </p:sp>
      <p:sp>
        <p:nvSpPr>
          <p:cNvPr id="6" name="if-2"/>
          <p:cNvSpPr txBox="1"/>
          <p:nvPr/>
        </p:nvSpPr>
        <p:spPr>
          <a:xfrm>
            <a:off x="621792" y="1371600"/>
            <a:ext cx="4114800" cy="402336"/>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A linter or test can check it</a:t>
            </a:r>
            <a:endParaRPr lang="en-US" sz="1500" dirty="0"/>
          </a:p>
        </p:txBody>
      </p:sp>
      <p:sp>
        <p:nvSpPr>
          <p:cNvPr id="7" name="then-2"/>
          <p:cNvSpPr txBox="1"/>
          <p:nvPr/>
        </p:nvSpPr>
        <p:spPr>
          <a:xfrm>
            <a:off x="4846320" y="1371600"/>
            <a:ext cx="3657600" cy="402336"/>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Use the linter or test</a:t>
            </a:r>
            <a:endParaRPr lang="en-US" sz="1500" dirty="0"/>
          </a:p>
        </p:txBody>
      </p:sp>
      <p:sp>
        <p:nvSpPr>
          <p:cNvPr id="8" name="row-3"/>
          <p:cNvSpPr/>
          <p:nvPr/>
        </p:nvSpPr>
        <p:spPr>
          <a:xfrm>
            <a:off x="457200" y="1810512"/>
            <a:ext cx="8229600" cy="402336"/>
          </a:xfrm>
          <a:prstGeom prst="rect">
            <a:avLst/>
          </a:prstGeom>
          <a:solidFill>
            <a:srgbClr val="141414"/>
          </a:solidFill>
          <a:ln/>
        </p:spPr>
      </p:sp>
      <p:sp>
        <p:nvSpPr>
          <p:cNvPr id="9" name="if-3"/>
          <p:cNvSpPr txBox="1"/>
          <p:nvPr/>
        </p:nvSpPr>
        <p:spPr>
          <a:xfrm>
            <a:off x="621792" y="1810512"/>
            <a:ext cx="4114800" cy="402336"/>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It only applies to some files</a:t>
            </a:r>
            <a:endParaRPr lang="en-US" sz="1500" dirty="0"/>
          </a:p>
        </p:txBody>
      </p:sp>
      <p:sp>
        <p:nvSpPr>
          <p:cNvPr id="10" name="then-3"/>
          <p:cNvSpPr txBox="1"/>
          <p:nvPr/>
        </p:nvSpPr>
        <p:spPr>
          <a:xfrm>
            <a:off x="4846320" y="1810512"/>
            <a:ext cx="3657600" cy="402336"/>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Add globs</a:t>
            </a:r>
            <a:endParaRPr lang="en-US" sz="1500" dirty="0"/>
          </a:p>
        </p:txBody>
      </p:sp>
      <p:sp>
        <p:nvSpPr>
          <p:cNvPr id="11" name="if-4"/>
          <p:cNvSpPr txBox="1"/>
          <p:nvPr/>
        </p:nvSpPr>
        <p:spPr>
          <a:xfrm>
            <a:off x="621792" y="2249424"/>
            <a:ext cx="4114800" cy="402336"/>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It must always be on</a:t>
            </a:r>
            <a:endParaRPr lang="en-US" sz="1500" dirty="0"/>
          </a:p>
        </p:txBody>
      </p:sp>
      <p:sp>
        <p:nvSpPr>
          <p:cNvPr id="12" name="then-4"/>
          <p:cNvSpPr txBox="1"/>
          <p:nvPr/>
        </p:nvSpPr>
        <p:spPr>
          <a:xfrm>
            <a:off x="4846320" y="2249424"/>
            <a:ext cx="3657600" cy="402336"/>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alwaysApply: true</a:t>
            </a:r>
            <a:endParaRPr lang="en-US" sz="1500" dirty="0"/>
          </a:p>
        </p:txBody>
      </p:sp>
      <p:sp>
        <p:nvSpPr>
          <p:cNvPr id="13" name="row-5"/>
          <p:cNvSpPr/>
          <p:nvPr/>
        </p:nvSpPr>
        <p:spPr>
          <a:xfrm>
            <a:off x="457200" y="2688336"/>
            <a:ext cx="8229600" cy="402336"/>
          </a:xfrm>
          <a:prstGeom prst="rect">
            <a:avLst/>
          </a:prstGeom>
          <a:solidFill>
            <a:srgbClr val="141414"/>
          </a:solidFill>
          <a:ln/>
        </p:spPr>
      </p:sp>
      <p:sp>
        <p:nvSpPr>
          <p:cNvPr id="14" name="if-5"/>
          <p:cNvSpPr txBox="1"/>
          <p:nvPr/>
        </p:nvSpPr>
        <p:spPr>
          <a:xfrm>
            <a:off x="621792" y="2688336"/>
            <a:ext cx="4114800" cy="402336"/>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It's about security</a:t>
            </a:r>
            <a:endParaRPr lang="en-US" sz="1500" dirty="0"/>
          </a:p>
        </p:txBody>
      </p:sp>
      <p:sp>
        <p:nvSpPr>
          <p:cNvPr id="15" name="then-5"/>
          <p:cNvSpPr txBox="1"/>
          <p:nvPr/>
        </p:nvSpPr>
        <p:spPr>
          <a:xfrm>
            <a:off x="4846320" y="2688336"/>
            <a:ext cx="3657600" cy="402336"/>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Never a rule alone</a:t>
            </a:r>
            <a:endParaRPr lang="en-US" sz="1500" dirty="0"/>
          </a:p>
        </p:txBody>
      </p:sp>
      <p:sp>
        <p:nvSpPr>
          <p:cNvPr id="16" name="tip"/>
          <p:cNvSpPr txBox="1"/>
          <p:nvPr/>
        </p:nvSpPr>
        <p:spPr>
          <a:xfrm>
            <a:off x="457200" y="3218688"/>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Rules do not apply to Tab. Completions may still say trails.</a:t>
            </a:r>
            <a:endParaRPr lang="en-US" sz="1200" dirty="0"/>
          </a:p>
        </p:txBody>
      </p:sp>
      <p:sp>
        <p:nvSpPr>
          <p:cNvPr id="17" name="monday"/>
          <p:cNvSpPr txBox="1"/>
          <p:nvPr/>
        </p:nvSpPr>
        <p:spPr>
          <a:xfrm>
            <a:off x="457200" y="3703320"/>
            <a:ext cx="8229600" cy="329184"/>
          </a:xfrm>
          <a:prstGeom prst="rect">
            <a:avLst/>
          </a:prstGeom>
          <a:noFill/>
          <a:ln/>
        </p:spPr>
        <p:txBody>
          <a:bodyPr wrap="square" lIns="0" tIns="0" rIns="0" bIns="0" rtlCol="0" anchor="ctr"/>
          <a:lstStyle/>
          <a:p>
            <a:pPr indent="0" marL="0">
              <a:buNone/>
            </a:pPr>
            <a:r>
              <a:rPr lang="en-US" sz="1600" dirty="0">
                <a:solidFill>
                  <a:srgbClr val="F2F2F2"/>
                </a:solidFill>
                <a:latin typeface="Arial" pitchFamily="34" charset="0"/>
                <a:ea typeface="Arial" pitchFamily="34" charset="-122"/>
                <a:cs typeface="Arial" pitchFamily="34" charset="-120"/>
              </a:rPr>
              <a:t>Monday: pick one thing you've said twice. Make it a rule before standup.</a:t>
            </a:r>
            <a:endParaRPr lang="en-US" sz="1600" dirty="0"/>
          </a:p>
        </p:txBody>
      </p:sp>
      <p:sp>
        <p:nvSpPr>
          <p:cNvPr id="18" name="monday-sub"/>
          <p:cNvSpPr txBox="1"/>
          <p:nvPr/>
        </p:nvSpPr>
        <p:spPr>
          <a:xfrm>
            <a:off x="457200" y="4041648"/>
            <a:ext cx="8229600" cy="274320"/>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Skills are for a whole routine. Next session.</a:t>
            </a:r>
            <a:endParaRPr lang="en-US" sz="13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Cursor">
  <a:themeElements>
    <a:clrScheme name="Cursor">
      <a:dk1>
        <a:srgbClr val="0A0A0A"/>
      </a:dk1>
      <a:lt1>
        <a:srgbClr val="F2F2F2"/>
      </a:lt1>
      <a:dk2>
        <a:srgbClr val="8A8A8A"/>
      </a:dk2>
      <a:lt2>
        <a:srgbClr val="141414"/>
      </a:lt2>
      <a:accent1>
        <a:srgbClr val="F2F2F2"/>
      </a:accent1>
      <a:accent2>
        <a:srgbClr val="8A8A8A"/>
      </a:accent2>
      <a:accent3>
        <a:srgbClr val="2A2A2A"/>
      </a:accent3>
      <a:accent4>
        <a:srgbClr val="F2F2F2"/>
      </a:accent4>
      <a:accent5>
        <a:srgbClr val="8A8A8A"/>
      </a:accent5>
      <a:accent6>
        <a:srgbClr val="2A2A2A"/>
      </a:accent6>
      <a:hlink>
        <a:srgbClr val="8A8A8A"/>
      </a:hlink>
      <a:folHlink>
        <a:srgbClr val="F2F2F2"/>
      </a:folHlink>
    </a:clrScheme>
    <a:fontScheme name="Curso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Moon Highway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Snowtooth Rules</dc:title>
  <dc:subject>Facilitator deck</dc:subject>
  <dc:creator>Eve Porcello</dc:creator>
  <cp:lastModifiedBy>Eve Porcello</cp:lastModifiedBy>
  <cp:revision>1</cp:revision>
  <dcterms:created xsi:type="dcterms:W3CDTF">2026-10-21T15:01:35Z</dcterms:created>
  <dcterms:modified xsi:type="dcterms:W3CDTF">2026-10-21T15:01:35Z</dcterms:modified>
</cp:coreProperties>
</file>