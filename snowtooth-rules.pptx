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A0A0A"/>
        </a:fontRef>
        <a:srgbClr val="0A0A0A"/>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FAFAFA"/>
          </a:solidFill>
        </a:fill>
      </a:tcStyle>
    </a:wholeTbl>
    <a:band2H>
      <a:tcTxStyle b="def" i="def"/>
      <a:tcStyle>
        <a:tcBdr/>
        <a:fill>
          <a:solidFill>
            <a:srgbClr val="FCFCFC"/>
          </a:solidFill>
        </a:fill>
      </a:tcStyle>
    </a:band2H>
    <a:firstCol>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solidFill>
        </a:fill>
      </a:tcStyle>
    </a:firstCol>
    <a:la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381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solidFill>
        </a:fill>
      </a:tcStyle>
    </a:lastRow>
    <a:fir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381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solidFill>
        </a:fill>
      </a:tcStyle>
    </a:firstRow>
  </a:tblStyle>
  <a:tblStyle styleId="{C7B018BB-80A7-4F77-B60F-C8B233D01FF8}" styleName="">
    <a:tblBg/>
    <a:wholeTbl>
      <a:tcTxStyle b="off" i="off">
        <a:fontRef idx="minor">
          <a:srgbClr val="0A0A0A"/>
        </a:fontRef>
        <a:srgbClr val="0A0A0A"/>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CBCBCB"/>
          </a:solidFill>
        </a:fill>
      </a:tcStyle>
    </a:wholeTbl>
    <a:band2H>
      <a:tcTxStyle b="def" i="def"/>
      <a:tcStyle>
        <a:tcBdr/>
        <a:fill>
          <a:solidFill>
            <a:srgbClr val="E7E7E7"/>
          </a:solidFill>
        </a:fill>
      </a:tcStyle>
    </a:band2H>
    <a:firstCol>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firstCol>
    <a:la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381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lastRow>
    <a:fir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381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firstRow>
  </a:tblStyle>
  <a:tblStyle styleId="{EEE7283C-3CF3-47DC-8721-378D4A62B228}" styleName="">
    <a:tblBg/>
    <a:wholeTbl>
      <a:tcTxStyle b="off" i="off">
        <a:fontRef idx="minor">
          <a:srgbClr val="0A0A0A"/>
        </a:fontRef>
        <a:srgbClr val="0A0A0A"/>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CBCBCB"/>
          </a:solidFill>
        </a:fill>
      </a:tcStyle>
    </a:wholeTbl>
    <a:band2H>
      <a:tcTxStyle b="def" i="def"/>
      <a:tcStyle>
        <a:tcBdr/>
        <a:fill>
          <a:solidFill>
            <a:srgbClr val="E7E7E7"/>
          </a:solidFill>
        </a:fill>
      </a:tcStyle>
    </a:band2H>
    <a:firstCol>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firstCol>
    <a:la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381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lastRow>
    <a:fir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381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firstRow>
  </a:tblStyle>
  <a:tblStyle styleId="{CF821DB8-F4EB-4A41-A1BA-3FCAFE7338EE}" styleName="">
    <a:tblBg/>
    <a:wholeTbl>
      <a:tcTxStyle b="off" i="off">
        <a:fontRef idx="minor">
          <a:srgbClr val="0A0A0A"/>
        </a:fontRef>
        <a:srgbClr val="0A0A0A"/>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chemeClr val="accent1"/>
          </a:solidFill>
        </a:fill>
      </a:tcStyle>
    </a:band2H>
    <a:firstCol>
      <a:tcTxStyle b="on" i="off">
        <a:fontRef idx="minor">
          <a:schemeClr val="accent1"/>
        </a:fontRef>
        <a:schemeClr val="accent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A0A0A"/>
        </a:fontRef>
        <a:srgbClr val="0A0A0A"/>
      </a:tcTxStyle>
      <a:tcStyle>
        <a:tcBdr>
          <a:left>
            <a:ln w="12700" cap="flat">
              <a:noFill/>
              <a:miter lim="400000"/>
            </a:ln>
          </a:left>
          <a:right>
            <a:ln w="12700" cap="flat">
              <a:noFill/>
              <a:miter lim="400000"/>
            </a:ln>
          </a:right>
          <a:top>
            <a:ln w="50800" cap="flat">
              <a:solidFill>
                <a:srgbClr val="0A0A0A"/>
              </a:solidFill>
              <a:prstDash val="solid"/>
              <a:round/>
            </a:ln>
          </a:top>
          <a:bottom>
            <a:ln w="25400" cap="flat">
              <a:solidFill>
                <a:srgbClr val="0A0A0A"/>
              </a:solidFill>
              <a:prstDash val="solid"/>
              <a:round/>
            </a:ln>
          </a:bottom>
          <a:insideH>
            <a:ln w="12700" cap="flat">
              <a:noFill/>
              <a:miter lim="400000"/>
            </a:ln>
          </a:insideH>
          <a:insideV>
            <a:ln w="12700" cap="flat">
              <a:noFill/>
              <a:miter lim="400000"/>
            </a:ln>
          </a:insideV>
        </a:tcBdr>
        <a:fill>
          <a:solidFill>
            <a:schemeClr val="accent1"/>
          </a:solidFill>
        </a:fill>
      </a:tcStyle>
    </a:lastRow>
    <a:firstRow>
      <a:tcTxStyle b="on" i="off">
        <a:fontRef idx="minor">
          <a:schemeClr val="accent1"/>
        </a:fontRef>
        <a:schemeClr val="accent1"/>
      </a:tcTxStyle>
      <a:tcStyle>
        <a:tcBdr>
          <a:left>
            <a:ln w="12700" cap="flat">
              <a:noFill/>
              <a:miter lim="400000"/>
            </a:ln>
          </a:left>
          <a:right>
            <a:ln w="12700" cap="flat">
              <a:noFill/>
              <a:miter lim="400000"/>
            </a:ln>
          </a:right>
          <a:top>
            <a:ln w="25400" cap="flat">
              <a:solidFill>
                <a:srgbClr val="0A0A0A"/>
              </a:solidFill>
              <a:prstDash val="solid"/>
              <a:round/>
            </a:ln>
          </a:top>
          <a:bottom>
            <a:ln w="25400" cap="flat">
              <a:solidFill>
                <a:srgbClr val="0A0A0A"/>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A0A0A"/>
        </a:fontRef>
        <a:srgbClr val="0A0A0A"/>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0A0A0A"/>
          </a:solidFill>
        </a:fill>
      </a:tcStyle>
    </a:firstCol>
    <a:la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381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0A0A0A"/>
          </a:solidFill>
        </a:fill>
      </a:tcStyle>
    </a:lastRow>
    <a:fir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381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0A0A0A"/>
          </a:solidFill>
        </a:fill>
      </a:tcStyle>
    </a:firstRow>
  </a:tblStyle>
  <a:tblStyle styleId="{2708684C-4D16-4618-839F-0558EEFCDFE6}" styleName="">
    <a:tblBg/>
    <a:wholeTbl>
      <a:tcTxStyle b="off" i="off">
        <a:fontRef idx="minor">
          <a:srgbClr val="0A0A0A"/>
        </a:fontRef>
        <a:srgbClr val="0A0A0A"/>
      </a:tcTxStyle>
      <a:tcStyle>
        <a:tcBdr>
          <a:left>
            <a:ln w="12700" cap="flat">
              <a:solidFill>
                <a:srgbClr val="0A0A0A"/>
              </a:solidFill>
              <a:prstDash val="solid"/>
              <a:round/>
            </a:ln>
          </a:left>
          <a:right>
            <a:ln w="12700" cap="flat">
              <a:solidFill>
                <a:srgbClr val="0A0A0A"/>
              </a:solidFill>
              <a:prstDash val="solid"/>
              <a:round/>
            </a:ln>
          </a:right>
          <a:top>
            <a:ln w="12700" cap="flat">
              <a:solidFill>
                <a:srgbClr val="0A0A0A"/>
              </a:solidFill>
              <a:prstDash val="solid"/>
              <a:round/>
            </a:ln>
          </a:top>
          <a:bottom>
            <a:ln w="12700" cap="flat">
              <a:solidFill>
                <a:srgbClr val="0A0A0A"/>
              </a:solidFill>
              <a:prstDash val="solid"/>
              <a:round/>
            </a:ln>
          </a:bottom>
          <a:insideH>
            <a:ln w="12700" cap="flat">
              <a:solidFill>
                <a:srgbClr val="0A0A0A"/>
              </a:solidFill>
              <a:prstDash val="solid"/>
              <a:round/>
            </a:ln>
          </a:insideH>
          <a:insideV>
            <a:ln w="12700" cap="flat">
              <a:solidFill>
                <a:srgbClr val="0A0A0A"/>
              </a:solidFill>
              <a:prstDash val="solid"/>
              <a:round/>
            </a:ln>
          </a:insideV>
        </a:tcBdr>
        <a:fill>
          <a:solidFill>
            <a:srgbClr val="0A0A0A">
              <a:alpha val="20000"/>
            </a:srgbClr>
          </a:solidFill>
        </a:fill>
      </a:tcStyle>
    </a:wholeTbl>
    <a:band2H>
      <a:tcTxStyle b="def" i="def"/>
      <a:tcStyle>
        <a:tcBdr/>
        <a:fill>
          <a:solidFill>
            <a:schemeClr val="accent1">
              <a:lumOff val="5098"/>
            </a:schemeClr>
          </a:solidFill>
        </a:fill>
      </a:tcStyle>
    </a:band2H>
    <a:firstCol>
      <a:tcTxStyle b="on" i="off">
        <a:fontRef idx="minor">
          <a:srgbClr val="0A0A0A"/>
        </a:fontRef>
        <a:srgbClr val="0A0A0A"/>
      </a:tcTxStyle>
      <a:tcStyle>
        <a:tcBdr>
          <a:left>
            <a:ln w="12700" cap="flat">
              <a:solidFill>
                <a:srgbClr val="0A0A0A"/>
              </a:solidFill>
              <a:prstDash val="solid"/>
              <a:round/>
            </a:ln>
          </a:left>
          <a:right>
            <a:ln w="12700" cap="flat">
              <a:solidFill>
                <a:srgbClr val="0A0A0A"/>
              </a:solidFill>
              <a:prstDash val="solid"/>
              <a:round/>
            </a:ln>
          </a:right>
          <a:top>
            <a:ln w="12700" cap="flat">
              <a:solidFill>
                <a:srgbClr val="0A0A0A"/>
              </a:solidFill>
              <a:prstDash val="solid"/>
              <a:round/>
            </a:ln>
          </a:top>
          <a:bottom>
            <a:ln w="12700" cap="flat">
              <a:solidFill>
                <a:srgbClr val="0A0A0A"/>
              </a:solidFill>
              <a:prstDash val="solid"/>
              <a:round/>
            </a:ln>
          </a:bottom>
          <a:insideH>
            <a:ln w="12700" cap="flat">
              <a:solidFill>
                <a:srgbClr val="0A0A0A"/>
              </a:solidFill>
              <a:prstDash val="solid"/>
              <a:round/>
            </a:ln>
          </a:insideH>
          <a:insideV>
            <a:ln w="12700" cap="flat">
              <a:solidFill>
                <a:srgbClr val="0A0A0A"/>
              </a:solidFill>
              <a:prstDash val="solid"/>
              <a:round/>
            </a:ln>
          </a:insideV>
        </a:tcBdr>
        <a:fill>
          <a:solidFill>
            <a:srgbClr val="0A0A0A">
              <a:alpha val="20000"/>
            </a:srgbClr>
          </a:solidFill>
        </a:fill>
      </a:tcStyle>
    </a:firstCol>
    <a:lastRow>
      <a:tcTxStyle b="on" i="off">
        <a:fontRef idx="minor">
          <a:srgbClr val="0A0A0A"/>
        </a:fontRef>
        <a:srgbClr val="0A0A0A"/>
      </a:tcTxStyle>
      <a:tcStyle>
        <a:tcBdr>
          <a:left>
            <a:ln w="12700" cap="flat">
              <a:solidFill>
                <a:srgbClr val="0A0A0A"/>
              </a:solidFill>
              <a:prstDash val="solid"/>
              <a:round/>
            </a:ln>
          </a:left>
          <a:right>
            <a:ln w="12700" cap="flat">
              <a:solidFill>
                <a:srgbClr val="0A0A0A"/>
              </a:solidFill>
              <a:prstDash val="solid"/>
              <a:round/>
            </a:ln>
          </a:right>
          <a:top>
            <a:ln w="50800" cap="flat">
              <a:solidFill>
                <a:srgbClr val="0A0A0A"/>
              </a:solidFill>
              <a:prstDash val="solid"/>
              <a:round/>
            </a:ln>
          </a:top>
          <a:bottom>
            <a:ln w="12700" cap="flat">
              <a:solidFill>
                <a:srgbClr val="0A0A0A"/>
              </a:solidFill>
              <a:prstDash val="solid"/>
              <a:round/>
            </a:ln>
          </a:bottom>
          <a:insideH>
            <a:ln w="12700" cap="flat">
              <a:solidFill>
                <a:srgbClr val="0A0A0A"/>
              </a:solidFill>
              <a:prstDash val="solid"/>
              <a:round/>
            </a:ln>
          </a:insideH>
          <a:insideV>
            <a:ln w="12700" cap="flat">
              <a:solidFill>
                <a:srgbClr val="0A0A0A"/>
              </a:solidFill>
              <a:prstDash val="solid"/>
              <a:round/>
            </a:ln>
          </a:insideV>
        </a:tcBdr>
        <a:fill>
          <a:noFill/>
        </a:fill>
      </a:tcStyle>
    </a:lastRow>
    <a:firstRow>
      <a:tcTxStyle b="on" i="off">
        <a:fontRef idx="minor">
          <a:srgbClr val="0A0A0A"/>
        </a:fontRef>
        <a:srgbClr val="0A0A0A"/>
      </a:tcTxStyle>
      <a:tcStyle>
        <a:tcBdr>
          <a:left>
            <a:ln w="12700" cap="flat">
              <a:solidFill>
                <a:srgbClr val="0A0A0A"/>
              </a:solidFill>
              <a:prstDash val="solid"/>
              <a:round/>
            </a:ln>
          </a:left>
          <a:right>
            <a:ln w="12700" cap="flat">
              <a:solidFill>
                <a:srgbClr val="0A0A0A"/>
              </a:solidFill>
              <a:prstDash val="solid"/>
              <a:round/>
            </a:ln>
          </a:right>
          <a:top>
            <a:ln w="12700" cap="flat">
              <a:solidFill>
                <a:srgbClr val="0A0A0A"/>
              </a:solidFill>
              <a:prstDash val="solid"/>
              <a:round/>
            </a:ln>
          </a:top>
          <a:bottom>
            <a:ln w="25400" cap="flat">
              <a:solidFill>
                <a:srgbClr val="0A0A0A"/>
              </a:solidFill>
              <a:prstDash val="solid"/>
              <a:round/>
            </a:ln>
          </a:bottom>
          <a:insideH>
            <a:ln w="12700" cap="flat">
              <a:solidFill>
                <a:srgbClr val="0A0A0A"/>
              </a:solidFill>
              <a:prstDash val="solid"/>
              <a:round/>
            </a:ln>
          </a:insideH>
          <a:insideV>
            <a:ln w="12700" cap="flat">
              <a:solidFill>
                <a:srgbClr val="0A0A0A"/>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3" name="Shape 33"/>
          <p:cNvSpPr/>
          <p:nvPr>
            <p:ph type="sldImg"/>
          </p:nvPr>
        </p:nvSpPr>
        <p:spPr>
          <a:xfrm>
            <a:off x="1143000" y="685800"/>
            <a:ext cx="4572000" cy="3429000"/>
          </a:xfrm>
          <a:prstGeom prst="rect">
            <a:avLst/>
          </a:prstGeom>
        </p:spPr>
        <p:txBody>
          <a:bodyPr/>
          <a:lstStyle/>
          <a:p>
            <a:pPr/>
          </a:p>
        </p:txBody>
      </p:sp>
      <p:sp>
        <p:nvSpPr>
          <p:cNvPr id="34" name="Shape 3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solidFill>
          <a:srgbClr val="0A0A0A"/>
        </a:solidFill>
        <a:latin typeface="+mn-lt"/>
        <a:ea typeface="+mn-ea"/>
        <a:cs typeface="+mn-cs"/>
        <a:sym typeface="Arial"/>
      </a:defRPr>
    </a:lvl1pPr>
    <a:lvl2pPr indent="228600" latinLnBrk="0">
      <a:defRPr sz="1200">
        <a:solidFill>
          <a:srgbClr val="0A0A0A"/>
        </a:solidFill>
        <a:latin typeface="+mn-lt"/>
        <a:ea typeface="+mn-ea"/>
        <a:cs typeface="+mn-cs"/>
        <a:sym typeface="Arial"/>
      </a:defRPr>
    </a:lvl2pPr>
    <a:lvl3pPr indent="457200" latinLnBrk="0">
      <a:defRPr sz="1200">
        <a:solidFill>
          <a:srgbClr val="0A0A0A"/>
        </a:solidFill>
        <a:latin typeface="+mn-lt"/>
        <a:ea typeface="+mn-ea"/>
        <a:cs typeface="+mn-cs"/>
        <a:sym typeface="Arial"/>
      </a:defRPr>
    </a:lvl3pPr>
    <a:lvl4pPr indent="685800" latinLnBrk="0">
      <a:defRPr sz="1200">
        <a:solidFill>
          <a:srgbClr val="0A0A0A"/>
        </a:solidFill>
        <a:latin typeface="+mn-lt"/>
        <a:ea typeface="+mn-ea"/>
        <a:cs typeface="+mn-cs"/>
        <a:sym typeface="Arial"/>
      </a:defRPr>
    </a:lvl4pPr>
    <a:lvl5pPr indent="914400" latinLnBrk="0">
      <a:defRPr sz="1200">
        <a:solidFill>
          <a:srgbClr val="0A0A0A"/>
        </a:solidFill>
        <a:latin typeface="+mn-lt"/>
        <a:ea typeface="+mn-ea"/>
        <a:cs typeface="+mn-cs"/>
        <a:sym typeface="Arial"/>
      </a:defRPr>
    </a:lvl5pPr>
    <a:lvl6pPr indent="1143000" latinLnBrk="0">
      <a:defRPr sz="1200">
        <a:solidFill>
          <a:srgbClr val="0A0A0A"/>
        </a:solidFill>
        <a:latin typeface="+mn-lt"/>
        <a:ea typeface="+mn-ea"/>
        <a:cs typeface="+mn-cs"/>
        <a:sym typeface="Arial"/>
      </a:defRPr>
    </a:lvl6pPr>
    <a:lvl7pPr indent="1371600" latinLnBrk="0">
      <a:defRPr sz="1200">
        <a:solidFill>
          <a:srgbClr val="0A0A0A"/>
        </a:solidFill>
        <a:latin typeface="+mn-lt"/>
        <a:ea typeface="+mn-ea"/>
        <a:cs typeface="+mn-cs"/>
        <a:sym typeface="Arial"/>
      </a:defRPr>
    </a:lvl7pPr>
    <a:lvl8pPr indent="1600200" latinLnBrk="0">
      <a:defRPr sz="1200">
        <a:solidFill>
          <a:srgbClr val="0A0A0A"/>
        </a:solidFill>
        <a:latin typeface="+mn-lt"/>
        <a:ea typeface="+mn-ea"/>
        <a:cs typeface="+mn-cs"/>
        <a:sym typeface="Arial"/>
      </a:defRPr>
    </a:lvl8pPr>
    <a:lvl9pPr indent="1828800" latinLnBrk="0">
      <a:defRPr sz="1200">
        <a:solidFill>
          <a:srgbClr val="0A0A0A"/>
        </a:solidFill>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Shape 39"/>
          <p:cNvSpPr/>
          <p:nvPr>
            <p:ph type="sldImg"/>
          </p:nvPr>
        </p:nvSpPr>
        <p:spPr>
          <a:prstGeom prst="rect">
            <a:avLst/>
          </a:prstGeom>
        </p:spPr>
        <p:txBody>
          <a:bodyPr/>
          <a:lstStyle/>
          <a:p>
            <a:pPr/>
          </a:p>
        </p:txBody>
      </p:sp>
      <p:sp>
        <p:nvSpPr>
          <p:cNvPr id="40" name="Shape 40"/>
          <p:cNvSpPr/>
          <p:nvPr>
            <p:ph type="body" sz="quarter" idx="1"/>
          </p:nvPr>
        </p:nvSpPr>
        <p:spPr>
          <a:prstGeom prst="rect">
            <a:avLst/>
          </a:prstGeom>
        </p:spPr>
        <p:txBody>
          <a:bodyPr/>
          <a:lstStyle/>
          <a:p>
            <a:pPr/>
            <a:r>
              <a:t>I'm Eve. I train engineering teams for a living, first on React and GraphQL and now on Cursor. This is a 15-minute version of the first thing I teach when a team gets Cursor seats: how to stop re-explaining yourself in chat.</a:t>
            </a:r>
          </a:p>
          <a:p>
            <a:pPr/>
          </a:p>
          <a:p>
            <a:pPr/>
            <a:r>
              <a:t>Snowtooth is a made-up ski resort I've used in my courses for years, so nobody has to spend time learning a new domain. The lift board stands in for your app.</a:t>
            </a:r>
          </a:p>
          <a:p>
            <a:pPr/>
          </a:p>
          <a:p>
            <a:pPr/>
            <a:r>
              <a:t>I start with the annoyance instead of a tour of Cursor's settings. If I open with the settings, people remember a menu. If I open with the problem, they remember the habit.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Shape 53"/>
          <p:cNvSpPr/>
          <p:nvPr>
            <p:ph type="sldImg"/>
          </p:nvPr>
        </p:nvSpPr>
        <p:spPr>
          <a:prstGeom prst="rect">
            <a:avLst/>
          </a:prstGeom>
        </p:spPr>
        <p:txBody>
          <a:bodyPr/>
          <a:lstStyle/>
          <a:p>
            <a:pPr/>
          </a:p>
        </p:txBody>
      </p:sp>
      <p:sp>
        <p:nvSpPr>
          <p:cNvPr id="54" name="Shape 54"/>
          <p:cNvSpPr/>
          <p:nvPr>
            <p:ph type="body" sz="quarter" idx="1"/>
          </p:nvPr>
        </p:nvSpPr>
        <p:spPr>
          <a:prstGeom prst="rect">
            <a:avLst/>
          </a:prstGeom>
        </p:spPr>
        <p:txBody>
          <a:bodyPr/>
          <a:lstStyle/>
          <a:p>
            <a:pPr/>
            <a:r>
              <a:t>Paste the clone command and the handout link into chat right away. The repo is the only thing they need for the hands-on part.</a:t>
            </a:r>
          </a:p>
          <a:p>
            <a:pPr/>
          </a:p>
          <a:p>
            <a:pPr/>
            <a:r>
              <a:t>While people clone, I tell the story: Snowtooth stands in for their own repo, and it's their first week on the team. That way nobody sits in silence waiting.</a:t>
            </a:r>
          </a:p>
          <a:p>
            <a:pPr/>
          </a:p>
          <a:p>
            <a:pPr/>
            <a:r>
              <a:t>We skip npm install because the agent's mistakes show up in the diff. Not running the app removes the setup step that's most likely to fail.</a:t>
            </a:r>
          </a:p>
          <a:p>
            <a:pPr/>
          </a:p>
          <a:p>
            <a:pPr/>
            <a:r>
              <a:t>If someone can't clone, they watch my screen for Part 1 and do the handout later. I don't hold up the room for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I see this every week. Someone pastes the same correction into chat, it works, and they close the tab. The next day the agent makes the same mistake, and their teammates never saw the correction in the first place.</a:t>
            </a:r>
          </a:p>
          <a:p>
            <a:pPr/>
          </a:p>
          <a:p>
            <a:pPr/>
            <a:r>
              <a:t>That isn't a prompting problem. The team just has nowhere to write it down.</a:t>
            </a:r>
          </a:p>
          <a:p>
            <a:pPr/>
          </a:p>
          <a:p>
            <a:pPr/>
            <a:r>
              <a:t>LiftBoard still calls fetch directly, on purpose. It's leftover code, and the agent will copy it. I'm not fixing it in this session, because rules are about what the agent writes next.</a:t>
            </a:r>
          </a:p>
          <a:p>
            <a:pPr/>
          </a:p>
          <a:p>
            <a:pPr/>
            <a:r>
              <a:t>What this looks like at work: a company buys Cursor seats, a few people become power users, and most people end up pasting the same sentence over and over.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 name="Shape 86"/>
          <p:cNvSpPr/>
          <p:nvPr>
            <p:ph type="sldImg"/>
          </p:nvPr>
        </p:nvSpPr>
        <p:spPr>
          <a:prstGeom prst="rect">
            <a:avLst/>
          </a:prstGeom>
        </p:spPr>
        <p:txBody>
          <a:bodyPr/>
          <a:lstStyle/>
          <a:p>
            <a:pPr/>
          </a:p>
        </p:txBody>
      </p:sp>
      <p:sp>
        <p:nvSpPr>
          <p:cNvPr id="87" name="Shape 87"/>
          <p:cNvSpPr/>
          <p:nvPr>
            <p:ph type="body" sz="quarter" idx="1"/>
          </p:nvPr>
        </p:nvSpPr>
        <p:spPr>
          <a:prstGeom prst="rect">
            <a:avLst/>
          </a:prstGeom>
        </p:spPr>
        <p:txBody>
          <a:bodyPr/>
          <a:lstStyle/>
          <a:p>
            <a:pPr/>
            <a:r>
              <a:t>These are the three outcomes, and I can watch each one happen in the room. To fit them in, I cut skills, user and team rules, Plan mode, and fixing LiftBoard. We go through one loop: see the miss, write the rule, test it in a new chat, and commit it.</a:t>
            </a:r>
          </a:p>
          <a:p>
            <a:pPr/>
          </a:p>
          <a:p>
            <a:pPr/>
            <a:r>
              <a:t>Three is about all 15 minutes can hold when a live agent is involved.</a:t>
            </a:r>
          </a:p>
          <a:p>
            <a:pPr/>
          </a:p>
          <a:p>
            <a:pPr/>
            <a:r>
              <a:t>No icebreakers. We go straight into the product, because fifteen minutes is already tight.</a:t>
            </a:r>
          </a:p>
          <a:p>
            <a:pPr/>
          </a:p>
          <a:p>
            <a:pPr/>
            <a:r>
              <a:t>They already know React, so the only unfamiliar thing is the team's convention.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Shape 103"/>
          <p:cNvSpPr/>
          <p:nvPr>
            <p:ph type="sldImg"/>
          </p:nvPr>
        </p:nvSpPr>
        <p:spPr>
          <a:prstGeom prst="rect">
            <a:avLst/>
          </a:prstGeom>
        </p:spPr>
        <p:txBody>
          <a:bodyPr/>
          <a:lstStyle/>
          <a:p>
            <a:pPr/>
          </a:p>
        </p:txBody>
      </p:sp>
      <p:sp>
        <p:nvSpPr>
          <p:cNvPr id="104" name="Shape 104"/>
          <p:cNvSpPr/>
          <p:nvPr>
            <p:ph type="body" sz="quarter" idx="1"/>
          </p:nvPr>
        </p:nvSpPr>
        <p:spPr>
          <a:prstGeom prst="rect">
            <a:avLst/>
          </a:prstGeom>
        </p:spPr>
        <p:txBody>
          <a:bodyPr/>
          <a:lstStyle/>
          <a:p>
            <a:pPr/>
            <a:r>
              <a:t>We're on main, in a new Agent chat, using the exact prompt on the slide. Everyone sends it in their own Cursor at the same time. Then I ask who got fetch and who got getTrails(). Expect a mix.</a:t>
            </a:r>
          </a:p>
          <a:p>
            <a:pPr/>
          </a:p>
          <a:p>
            <a:pPr/>
            <a:r>
              <a:t>LiftBoard still calls the public API directly and styles status by hand. I left that in on purpose so the agent has a bad example to copy. StatusBadge and getTrails() already exist; the model just doesn't know the team expects it to use them.</a:t>
            </a:r>
          </a:p>
          <a:p>
            <a:pPr/>
          </a:p>
          <a:p>
            <a:pPr/>
            <a:r>
              <a:t>If my agent uses the client anyway, I try the backup prompt: 'Add a night-skiing trails list.' If that works too, I say so: sometimes the model guesses right, and the rule is how we stop relying on guesses.</a:t>
            </a:r>
          </a:p>
          <a:p>
            <a:pPr/>
          </a:p>
          <a:p>
            <a:pPr/>
            <a:r>
              <a:t>The miss comes first because a clean success doesn't teach much. Seeing the before and after is what makes it stick.</a:t>
            </a:r>
          </a:p>
          <a:p>
            <a:pPr/>
          </a:p>
          <a:p>
            <a:pPr/>
            <a:r>
              <a:t>Then we undo it with Restore Checkpoint (Cursor's undo button, not git checkout) and write the rule.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Shape 122"/>
          <p:cNvSpPr/>
          <p:nvPr>
            <p:ph type="sldImg"/>
          </p:nvPr>
        </p:nvSpPr>
        <p:spPr>
          <a:prstGeom prst="rect">
            <a:avLst/>
          </a:prstGeom>
        </p:spPr>
        <p:txBody>
          <a:bodyPr/>
          <a:lstStyle/>
          <a:p>
            <a:pPr/>
          </a:p>
        </p:txBody>
      </p:sp>
      <p:sp>
        <p:nvSpPr>
          <p:cNvPr id="123" name="Shape 123"/>
          <p:cNvSpPr/>
          <p:nvPr>
            <p:ph type="body" sz="quarter" idx="1"/>
          </p:nvPr>
        </p:nvSpPr>
        <p:spPr>
          <a:prstGeom prst="rect">
            <a:avLst/>
          </a:prstGeom>
        </p:spPr>
        <p:txBody>
          <a:bodyPr/>
          <a:lstStyle/>
          <a:p>
            <a:pPr/>
            <a:r>
              <a:t>We write this live with /create-rule, then read the file together. That's how Cursor expects you to create rules, and people still learn how to read an .mdc file.</a:t>
            </a:r>
          </a:p>
          <a:p>
            <a:pPr/>
          </a:p>
          <a:p>
            <a:pPr/>
            <a:r>
              <a:t>The description tells the agent when the rule applies. The do and don't are written as real code. And we point at @lib/snowtooth.ts instead of pasting the client in, because pasted copies go stale. That last part is a Cursor best practice, not just my preference.</a:t>
            </a:r>
          </a:p>
          <a:p>
            <a:pPr/>
          </a:p>
          <a:p>
            <a:pPr/>
            <a:r>
              <a:t>For the live session I use alwaysApply: true so the rule definitely fires in the next two minutes. At work, letting Cursor decide is usually the better default, but I don't want a 15-minute session to depend on the model making that call. I come back to this tradeoff on the last slide.</a:t>
            </a:r>
          </a:p>
          <a:p>
            <a:pPr/>
          </a:p>
          <a:p>
            <a:pPr/>
            <a:r>
              <a:t>Putting two concerns in one rule file would be a smell. In a 45-minute version I'd talk about how to split rules up. Today we keep it to one small file so everyone finishes.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r>
              <a:t>Same prompt, new chat. This time it should call getTrails(). I point at the rule pill so people can see why: the rule was included this time. It has nothing to do with the last chat remembering anything.</a:t>
            </a:r>
          </a:p>
          <a:p>
            <a:pPr/>
          </a:p>
          <a:p>
            <a:pPr/>
            <a:r>
              <a:t>Then everyone commits. This is the point of the whole session: a rule that only lives on your laptop is a personal preference, and a rule in git is how the whole team gets the same behavior tomorrow.</a:t>
            </a:r>
          </a:p>
          <a:p>
            <a:pPr/>
          </a:p>
          <a:p>
            <a:pPr/>
            <a:r>
              <a:t>If it doesn't work, I check the pill, confirm alwaysApply is set, and try one more new chat. If it still fails, I switch to the checkpoint branch and play the 90-second recording.</a:t>
            </a:r>
          </a:p>
          <a:p>
            <a:pPr/>
          </a:p>
          <a:p>
            <a:pPr/>
            <a:r>
              <a:t>While I'm doing it, I mention that Restore Checkpoint is how you undo the first panel. Don't use git checkout during the demo unless the agent goes completely off the rails.</a:t>
            </a:r>
          </a:p>
          <a:p>
            <a:pPr/>
          </a:p>
          <a:p>
            <a:pPr/>
            <a:r>
              <a:t>I skip the grooming report. The trails panel tells the whole story.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Shape 148"/>
          <p:cNvSpPr/>
          <p:nvPr>
            <p:ph type="sldImg"/>
          </p:nvPr>
        </p:nvSpPr>
        <p:spPr>
          <a:prstGeom prst="rect">
            <a:avLst/>
          </a:prstGeom>
        </p:spPr>
        <p:txBody>
          <a:bodyPr/>
          <a:lstStyle/>
          <a:p>
            <a:pPr/>
          </a:p>
        </p:txBody>
      </p:sp>
      <p:sp>
        <p:nvSpPr>
          <p:cNvPr id="149" name="Shape 149"/>
          <p:cNvSpPr/>
          <p:nvPr>
            <p:ph type="body" sz="quarter" idx="1"/>
          </p:nvPr>
        </p:nvSpPr>
        <p:spPr>
          <a:prstGeom prst="rect">
            <a:avLst/>
          </a:prstGeom>
        </p:spPr>
        <p:txBody>
          <a:bodyPr/>
          <a:lstStyle/>
          <a:p>
            <a:pPr/>
            <a:r>
              <a:t>It's the same loop, but this time it's about wording instead of data, and people do it themselves. Before anyone writes the rule, the room tells me what the do and don't should be, and I type that into chat so anyone who's behind can copy it.</a:t>
            </a:r>
          </a:p>
          <a:p>
            <a:pPr/>
          </a:p>
          <a:p>
            <a:pPr/>
            <a:r>
              <a:t>I count the skis in chat to see how it's going. I'd like most of the room there by the 11-minute mark. If we're running late, I stop once they've named the convention, and the handout covers the rest.</a:t>
            </a:r>
          </a:p>
          <a:p>
            <a:pPr/>
          </a:p>
          <a:p>
            <a:pPr/>
            <a:r>
              <a:t>handout.md is in .cursorignore so the agent can't read the answers. The extra credit exercises are in the handout for after the session.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Shape 168"/>
          <p:cNvSpPr/>
          <p:nvPr>
            <p:ph type="sldImg"/>
          </p:nvPr>
        </p:nvSpPr>
        <p:spPr>
          <a:prstGeom prst="rect">
            <a:avLst/>
          </a:prstGeom>
        </p:spPr>
        <p:txBody>
          <a:bodyPr/>
          <a:lstStyle/>
          <a:p>
            <a:pPr/>
          </a:p>
        </p:txBody>
      </p:sp>
      <p:sp>
        <p:nvSpPr>
          <p:cNvPr id="169" name="Shape 169"/>
          <p:cNvSpPr/>
          <p:nvPr>
            <p:ph type="body" sz="quarter" idx="1"/>
          </p:nvPr>
        </p:nvSpPr>
        <p:spPr>
          <a:prstGeom prst="rect">
            <a:avLst/>
          </a:prstGeom>
        </p:spPr>
        <p:txBody>
          <a:bodyPr/>
          <a:lstStyle/>
          <a:p>
            <a:pPr/>
            <a:r>
              <a:t>If people screenshot one slide, I want it to be this one.</a:t>
            </a:r>
          </a:p>
          <a:p>
            <a:pPr/>
          </a:p>
          <a:p>
            <a:pPr/>
            <a:r>
              <a:t>I go through the table quickly, but I slow down on security: a rule is guidance for the AI, not a security control. The Tab line comes from the docs. Rules don't apply to Tab or Cmd+K, so if completions still say trails, the rule isn't broken.</a:t>
            </a:r>
          </a:p>
          <a:p>
            <a:pPr/>
          </a:p>
          <a:p>
            <a:pPr/>
            <a:r>
              <a:t>Skills get one sentence: a skill is for when you keep explaining a whole routine, not a single sentence. That's why they get their own session.</a:t>
            </a:r>
          </a:p>
          <a:p>
            <a:pPr/>
          </a:p>
          <a:p>
            <a:pPr/>
            <a:r>
              <a:t>Then the challenge, which is how I know the session worked. Everyone writes one rule on their own, for something they've had to tell an agent twice at work or something in Snowtooth, and pastes it into chat. If anyone's stuck: every time a guest sees should use formatMountainTime() from lib/time.ts. If the rules people post have a description, a do and a don't, and a pointer to a real file, they can do this without me.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bg>
      <p:bgPr>
        <a:solidFill>
          <a:srgbClr val="0A0A0A"/>
        </a:solidFill>
      </p:bgPr>
    </p:bg>
    <p:spTree>
      <p:nvGrpSpPr>
        <p:cNvPr id="1" name=""/>
        <p:cNvGrpSpPr/>
        <p:nvPr/>
      </p:nvGrpSpPr>
      <p:grpSpPr>
        <a:xfrm>
          <a:off x="0" y="0"/>
          <a:ext cx="0" cy="0"/>
          <a:chOff x="0" y="0"/>
          <a:chExt cx="0" cy="0"/>
        </a:xfrm>
      </p:grpSpPr>
      <p:sp>
        <p:nvSpPr>
          <p:cNvPr id="18" name="Click to add title"/>
          <p:cNvSpPr txBox="1"/>
          <p:nvPr>
            <p:ph type="title" hasCustomPrompt="1"/>
          </p:nvPr>
        </p:nvSpPr>
        <p:spPr>
          <a:xfrm>
            <a:off x="548640" y="1554480"/>
            <a:ext cx="8046720" cy="1554481"/>
          </a:xfrm>
          <a:prstGeom prst="rect">
            <a:avLst/>
          </a:prstGeom>
        </p:spPr>
        <p:txBody>
          <a:bodyPr anchor="t">
            <a:normAutofit fontScale="100000" lnSpcReduction="0"/>
          </a:bodyPr>
          <a:lstStyle>
            <a:lvl1pPr algn="l">
              <a:defRPr>
                <a:solidFill>
                  <a:schemeClr val="accent1"/>
                </a:solidFill>
              </a:defRPr>
            </a:lvl1pPr>
          </a:lstStyle>
          <a:p>
            <a:pPr/>
            <a:r>
              <a:t>Click to add title</a:t>
            </a:r>
          </a:p>
        </p:txBody>
      </p:sp>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bg>
      <p:bgPr>
        <a:solidFill>
          <a:srgbClr val="0A0A0A"/>
        </a:solidFill>
      </p:bgPr>
    </p:bg>
    <p:spTree>
      <p:nvGrpSpPr>
        <p:cNvPr id="1" name=""/>
        <p:cNvGrpSpPr/>
        <p:nvPr/>
      </p:nvGrpSpPr>
      <p:grpSpPr>
        <a:xfrm>
          <a:off x="0" y="0"/>
          <a:ext cx="0" cy="0"/>
          <a:chOff x="0" y="0"/>
          <a:chExt cx="0" cy="0"/>
        </a:xfrm>
      </p:grpSpPr>
      <p:sp>
        <p:nvSpPr>
          <p:cNvPr id="26" name="Click to add title"/>
          <p:cNvSpPr txBox="1"/>
          <p:nvPr>
            <p:ph type="title" hasCustomPrompt="1"/>
          </p:nvPr>
        </p:nvSpPr>
        <p:spPr>
          <a:xfrm>
            <a:off x="457200" y="292608"/>
            <a:ext cx="8229600" cy="530352"/>
          </a:xfrm>
          <a:prstGeom prst="rect">
            <a:avLst/>
          </a:prstGeom>
        </p:spPr>
        <p:txBody>
          <a:bodyPr anchor="t">
            <a:normAutofit fontScale="100000" lnSpcReduction="0"/>
          </a:bodyPr>
          <a:lstStyle>
            <a:lvl1pPr algn="l">
              <a:defRPr sz="2600">
                <a:solidFill>
                  <a:schemeClr val="accent1"/>
                </a:solidFill>
              </a:defRPr>
            </a:lvl1pPr>
          </a:lstStyle>
          <a:p>
            <a:pPr/>
            <a:r>
              <a:t>Click to add title</a:t>
            </a:r>
          </a:p>
        </p:txBody>
      </p:sp>
      <p:sp>
        <p:nvSpPr>
          <p:cNvPr id="27" name="Slide Number"/>
          <p:cNvSpPr txBox="1"/>
          <p:nvPr>
            <p:ph type="sldNum" sz="quarter" idx="2"/>
          </p:nvPr>
        </p:nvSpPr>
        <p:spPr>
          <a:xfrm>
            <a:off x="8549640" y="4828032"/>
            <a:ext cx="245403" cy="226986"/>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chemeClr val="accent1"/>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6553200" y="4767262"/>
            <a:ext cx="2133600" cy="279401"/>
          </a:xfrm>
          <a:prstGeom prst="rect">
            <a:avLst/>
          </a:prstGeom>
          <a:ln w="12700">
            <a:miter lim="400000"/>
          </a:ln>
        </p:spPr>
        <p:txBody>
          <a:bodyPr wrap="none" lIns="45719" rIns="45719">
            <a:spAutoFit/>
          </a:bodyPr>
          <a:lstStyle>
            <a:lvl1pPr>
              <a:defRPr sz="1000">
                <a:solidFill>
                  <a:schemeClr val="accent2"/>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A0A0A"/>
          </a:solidFill>
          <a:uFillTx/>
          <a:latin typeface="+mn-lt"/>
          <a:ea typeface="+mn-ea"/>
          <a:cs typeface="+mn-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A0A0A"/>
          </a:solidFill>
          <a:uFillTx/>
          <a:latin typeface="+mn-lt"/>
          <a:ea typeface="+mn-ea"/>
          <a:cs typeface="+mn-cs"/>
          <a:sym typeface="Arial"/>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1pPr>
      <a:lvl2pPr marL="0" marR="0" indent="4572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2pPr>
      <a:lvl3pPr marL="0" marR="0" indent="9144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3pPr>
      <a:lvl4pPr marL="0" marR="0" indent="13716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4pPr>
      <a:lvl5pPr marL="0" marR="0" indent="18288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5pPr>
      <a:lvl6pPr marL="0" marR="0" indent="22860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6pPr>
      <a:lvl7pPr marL="0" marR="0" indent="27432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7pPr>
      <a:lvl8pPr marL="0" marR="0" indent="32004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8pPr>
      <a:lvl9pPr marL="0" marR="0" indent="3657600" algn="l"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Text 0"/>
          <p:cNvSpPr txBox="1"/>
          <p:nvPr>
            <p:ph type="title"/>
          </p:nvPr>
        </p:nvSpPr>
        <p:spPr>
          <a:xfrm>
            <a:off x="548640" y="1554480"/>
            <a:ext cx="8046719" cy="1554481"/>
          </a:xfrm>
          <a:prstGeom prst="rect">
            <a:avLst/>
          </a:prstGeom>
        </p:spPr>
        <p:txBody>
          <a:bodyPr lIns="0" tIns="0" rIns="0" bIns="0" anchor="ctr"/>
          <a:lstStyle/>
          <a:p>
            <a:pPr/>
            <a:r>
              <a:t>Stop repeating yourself</a:t>
            </a:r>
          </a:p>
          <a:p>
            <a:pPr/>
            <a:r>
              <a:t>to Cursor</a:t>
            </a:r>
          </a:p>
        </p:txBody>
      </p:sp>
      <p:sp>
        <p:nvSpPr>
          <p:cNvPr id="37" name="eyebrow"/>
          <p:cNvSpPr txBox="1"/>
          <p:nvPr/>
        </p:nvSpPr>
        <p:spPr>
          <a:xfrm>
            <a:off x="548640" y="1209548"/>
            <a:ext cx="8046719"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chemeClr val="accent2"/>
                </a:solidFill>
                <a:latin typeface="Courier New"/>
                <a:ea typeface="Courier New"/>
                <a:cs typeface="Courier New"/>
                <a:sym typeface="Courier New"/>
              </a:defRPr>
            </a:lvl1pPr>
          </a:lstStyle>
          <a:p>
            <a:pPr/>
            <a:r>
              <a:t>SNOWTOOTH</a:t>
            </a:r>
          </a:p>
        </p:txBody>
      </p:sp>
      <p:sp>
        <p:nvSpPr>
          <p:cNvPr id="38" name="byline"/>
          <p:cNvSpPr txBox="1"/>
          <p:nvPr/>
        </p:nvSpPr>
        <p:spPr>
          <a:xfrm>
            <a:off x="548640" y="3339452"/>
            <a:ext cx="8046719"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defRPr>
            </a:lvl1pPr>
          </a:lstStyle>
          <a:p>
            <a:pPr/>
            <a:r>
              <a:t>15 min   Eve Porcello   a rule the team can use tomorrow</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 name="Text 0"/>
          <p:cNvSpPr txBox="1"/>
          <p:nvPr>
            <p:ph type="title"/>
          </p:nvPr>
        </p:nvSpPr>
        <p:spPr>
          <a:xfrm>
            <a:off x="457200" y="292608"/>
            <a:ext cx="8229600" cy="530353"/>
          </a:xfrm>
          <a:prstGeom prst="rect">
            <a:avLst/>
          </a:prstGeom>
        </p:spPr>
        <p:txBody>
          <a:bodyPr lIns="0" tIns="0" rIns="0" bIns="0" anchor="ctr"/>
          <a:lstStyle/>
          <a:p>
            <a:pPr/>
            <a:r>
              <a:t>Clone the repo and open it in Cursor</a:t>
            </a:r>
          </a:p>
        </p:txBody>
      </p:sp>
      <p:sp>
        <p:nvSpPr>
          <p:cNvPr id="43" name="clone-card"/>
          <p:cNvSpPr/>
          <p:nvPr/>
        </p:nvSpPr>
        <p:spPr>
          <a:xfrm>
            <a:off x="457200" y="987552"/>
            <a:ext cx="8229600" cy="1188721"/>
          </a:xfrm>
          <a:prstGeom prst="rect">
            <a:avLst/>
          </a:prstGeom>
          <a:solidFill>
            <a:srgbClr val="141414"/>
          </a:solidFill>
          <a:ln w="12700">
            <a:miter lim="400000"/>
          </a:ln>
        </p:spPr>
        <p:txBody>
          <a:bodyPr lIns="45719" rIns="45719"/>
          <a:lstStyle/>
          <a:p>
            <a:pPr/>
          </a:p>
        </p:txBody>
      </p:sp>
      <p:sp>
        <p:nvSpPr>
          <p:cNvPr id="44" name="clone-label"/>
          <p:cNvSpPr txBox="1"/>
          <p:nvPr/>
        </p:nvSpPr>
        <p:spPr>
          <a:xfrm>
            <a:off x="658368" y="1167383"/>
            <a:ext cx="777240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2"/>
                </a:solidFill>
                <a:latin typeface="Courier New"/>
                <a:ea typeface="Courier New"/>
                <a:cs typeface="Courier New"/>
                <a:sym typeface="Courier New"/>
              </a:defRPr>
            </a:lvl1pPr>
          </a:lstStyle>
          <a:p>
            <a:pPr/>
            <a:r>
              <a:t>TERMINAL</a:t>
            </a:r>
          </a:p>
        </p:txBody>
      </p:sp>
      <p:sp>
        <p:nvSpPr>
          <p:cNvPr id="45" name="clone-command"/>
          <p:cNvSpPr txBox="1"/>
          <p:nvPr/>
        </p:nvSpPr>
        <p:spPr>
          <a:xfrm>
            <a:off x="658367" y="1604772"/>
            <a:ext cx="7827266"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latin typeface="Courier New"/>
                <a:ea typeface="Courier New"/>
                <a:cs typeface="Courier New"/>
                <a:sym typeface="Courier New"/>
              </a:defRPr>
            </a:lvl1pPr>
          </a:lstStyle>
          <a:p>
            <a:pPr/>
            <a:r>
              <a:t>git clone https://github.com/eveporcello/snowtooth-rules.git</a:t>
            </a:r>
          </a:p>
        </p:txBody>
      </p:sp>
      <p:sp>
        <p:nvSpPr>
          <p:cNvPr id="46" name="setup-n-01"/>
          <p:cNvSpPr txBox="1"/>
          <p:nvPr/>
        </p:nvSpPr>
        <p:spPr>
          <a:xfrm>
            <a:off x="457199" y="2467863"/>
            <a:ext cx="5029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01</a:t>
            </a:r>
          </a:p>
        </p:txBody>
      </p:sp>
      <p:sp>
        <p:nvSpPr>
          <p:cNvPr id="47" name="setup-text-01"/>
          <p:cNvSpPr txBox="1"/>
          <p:nvPr/>
        </p:nvSpPr>
        <p:spPr>
          <a:xfrm>
            <a:off x="1051559" y="2458487"/>
            <a:ext cx="763524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defRPr>
            </a:lvl1pPr>
          </a:lstStyle>
          <a:p>
            <a:pPr/>
            <a:r>
              <a:t>Open the snowtooth-rules folder in Cursor. Stay on main.</a:t>
            </a:r>
          </a:p>
        </p:txBody>
      </p:sp>
      <p:sp>
        <p:nvSpPr>
          <p:cNvPr id="48" name="setup-n-02"/>
          <p:cNvSpPr txBox="1"/>
          <p:nvPr/>
        </p:nvSpPr>
        <p:spPr>
          <a:xfrm>
            <a:off x="457199" y="2925063"/>
            <a:ext cx="5029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02</a:t>
            </a:r>
          </a:p>
        </p:txBody>
      </p:sp>
      <p:sp>
        <p:nvSpPr>
          <p:cNvPr id="49" name="setup-text-02"/>
          <p:cNvSpPr txBox="1"/>
          <p:nvPr/>
        </p:nvSpPr>
        <p:spPr>
          <a:xfrm>
            <a:off x="1051559" y="2915687"/>
            <a:ext cx="763524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defRPr>
            </a:lvl1pPr>
          </a:lstStyle>
          <a:p>
            <a:pPr/>
            <a:r>
              <a:t>Open workshop/handout.md. We'll follow it together.</a:t>
            </a:r>
          </a:p>
        </p:txBody>
      </p:sp>
      <p:sp>
        <p:nvSpPr>
          <p:cNvPr id="50" name="setup-n-03"/>
          <p:cNvSpPr txBox="1"/>
          <p:nvPr/>
        </p:nvSpPr>
        <p:spPr>
          <a:xfrm>
            <a:off x="457199" y="3382264"/>
            <a:ext cx="5029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03</a:t>
            </a:r>
          </a:p>
        </p:txBody>
      </p:sp>
      <p:sp>
        <p:nvSpPr>
          <p:cNvPr id="51" name="setup-text-03"/>
          <p:cNvSpPr txBox="1"/>
          <p:nvPr/>
        </p:nvSpPr>
        <p:spPr>
          <a:xfrm>
            <a:off x="1051559" y="3372887"/>
            <a:ext cx="763524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defRPr>
            </a:lvl1pPr>
          </a:lstStyle>
          <a:p>
            <a:pPr/>
            <a:r>
              <a:t>You don't need npm install. We'll be reading diffs, not the app.</a:t>
            </a:r>
          </a:p>
        </p:txBody>
      </p:sp>
      <p:sp>
        <p:nvSpPr>
          <p:cNvPr id="52" name="Slide Number Placeholder 0"/>
          <p:cNvSpPr txBox="1"/>
          <p:nvPr>
            <p:ph type="sldNum" sz="quarter" idx="4294967295"/>
          </p:nvPr>
        </p:nvSpPr>
        <p:spPr>
          <a:xfrm>
            <a:off x="8549640" y="4828032"/>
            <a:ext cx="174772" cy="2269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 name="Text 0"/>
          <p:cNvSpPr txBox="1"/>
          <p:nvPr>
            <p:ph type="title"/>
          </p:nvPr>
        </p:nvSpPr>
        <p:spPr>
          <a:xfrm>
            <a:off x="457200" y="292608"/>
            <a:ext cx="8229600" cy="530353"/>
          </a:xfrm>
          <a:prstGeom prst="rect">
            <a:avLst/>
          </a:prstGeom>
        </p:spPr>
        <p:txBody>
          <a:bodyPr lIns="0" tIns="0" rIns="0" bIns="0" anchor="ctr"/>
          <a:lstStyle/>
          <a:p>
            <a:pPr/>
            <a:r>
              <a:t>You keep typing the same correction</a:t>
            </a:r>
          </a:p>
        </p:txBody>
      </p:sp>
      <p:sp>
        <p:nvSpPr>
          <p:cNvPr id="57" name="quote-card"/>
          <p:cNvSpPr/>
          <p:nvPr/>
        </p:nvSpPr>
        <p:spPr>
          <a:xfrm>
            <a:off x="457200" y="987552"/>
            <a:ext cx="8229600" cy="1115569"/>
          </a:xfrm>
          <a:prstGeom prst="rect">
            <a:avLst/>
          </a:prstGeom>
          <a:solidFill>
            <a:srgbClr val="141414"/>
          </a:solidFill>
          <a:ln w="12700">
            <a:miter lim="400000"/>
          </a:ln>
        </p:spPr>
        <p:txBody>
          <a:bodyPr lIns="45719" rIns="45719"/>
          <a:lstStyle/>
          <a:p>
            <a:pPr/>
          </a:p>
        </p:txBody>
      </p:sp>
      <p:sp>
        <p:nvSpPr>
          <p:cNvPr id="58" name="quote"/>
          <p:cNvSpPr txBox="1"/>
          <p:nvPr/>
        </p:nvSpPr>
        <p:spPr>
          <a:xfrm>
            <a:off x="676655" y="1224278"/>
            <a:ext cx="7790689" cy="6512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chemeClr val="accent1"/>
                </a:solidFill>
              </a:defRPr>
            </a:lvl1pPr>
          </a:lstStyle>
          <a:p>
            <a:pPr/>
            <a:r>
              <a:t>“Remember, we don't fetch in components. Use the data client.”</a:t>
            </a:r>
          </a:p>
        </p:txBody>
      </p:sp>
      <p:sp>
        <p:nvSpPr>
          <p:cNvPr id="59" name="problem-card-1"/>
          <p:cNvSpPr/>
          <p:nvPr/>
        </p:nvSpPr>
        <p:spPr>
          <a:xfrm>
            <a:off x="457199" y="2286000"/>
            <a:ext cx="2697482" cy="1371600"/>
          </a:xfrm>
          <a:prstGeom prst="rect">
            <a:avLst/>
          </a:prstGeom>
          <a:solidFill>
            <a:srgbClr val="141414"/>
          </a:solidFill>
          <a:ln w="12700">
            <a:miter lim="400000"/>
          </a:ln>
        </p:spPr>
        <p:txBody>
          <a:bodyPr lIns="45719" rIns="45719"/>
          <a:lstStyle/>
          <a:p>
            <a:pPr/>
          </a:p>
        </p:txBody>
      </p:sp>
      <p:sp>
        <p:nvSpPr>
          <p:cNvPr id="60" name="problem-title-1"/>
          <p:cNvSpPr txBox="1"/>
          <p:nvPr/>
        </p:nvSpPr>
        <p:spPr>
          <a:xfrm>
            <a:off x="621792" y="2492062"/>
            <a:ext cx="237744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Chat closes</a:t>
            </a:r>
          </a:p>
        </p:txBody>
      </p:sp>
      <p:sp>
        <p:nvSpPr>
          <p:cNvPr id="61" name="problem-body-1"/>
          <p:cNvSpPr txBox="1"/>
          <p:nvPr/>
        </p:nvSpPr>
        <p:spPr>
          <a:xfrm>
            <a:off x="621792" y="2954388"/>
            <a:ext cx="237744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defRPr>
            </a:lvl1pPr>
          </a:lstStyle>
          <a:p>
            <a:pPr/>
            <a:r>
              <a:t>Close the tab and the correction is gone.</a:t>
            </a:r>
          </a:p>
        </p:txBody>
      </p:sp>
      <p:sp>
        <p:nvSpPr>
          <p:cNvPr id="62" name="problem-card-2"/>
          <p:cNvSpPr/>
          <p:nvPr/>
        </p:nvSpPr>
        <p:spPr>
          <a:xfrm>
            <a:off x="3291840" y="2286000"/>
            <a:ext cx="2697481" cy="1371600"/>
          </a:xfrm>
          <a:prstGeom prst="rect">
            <a:avLst/>
          </a:prstGeom>
          <a:solidFill>
            <a:srgbClr val="141414"/>
          </a:solidFill>
          <a:ln w="12700">
            <a:miter lim="400000"/>
          </a:ln>
        </p:spPr>
        <p:txBody>
          <a:bodyPr lIns="45719" rIns="45719"/>
          <a:lstStyle/>
          <a:p>
            <a:pPr/>
          </a:p>
        </p:txBody>
      </p:sp>
      <p:sp>
        <p:nvSpPr>
          <p:cNvPr id="63" name="problem-title-2"/>
          <p:cNvSpPr txBox="1"/>
          <p:nvPr/>
        </p:nvSpPr>
        <p:spPr>
          <a:xfrm>
            <a:off x="3456432" y="2492062"/>
            <a:ext cx="237744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Teammate never saw it</a:t>
            </a:r>
          </a:p>
        </p:txBody>
      </p:sp>
      <p:sp>
        <p:nvSpPr>
          <p:cNvPr id="64" name="problem-body-2"/>
          <p:cNvSpPr txBox="1"/>
          <p:nvPr/>
        </p:nvSpPr>
        <p:spPr>
          <a:xfrm>
            <a:off x="3456432" y="2954388"/>
            <a:ext cx="2377441"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defRPr>
            </a:lvl1pPr>
          </a:lstStyle>
          <a:p>
            <a:pPr/>
            <a:r>
              <a:t>Tomorrow, Alex's agent still writes the raw fetch.</a:t>
            </a:r>
          </a:p>
        </p:txBody>
      </p:sp>
      <p:sp>
        <p:nvSpPr>
          <p:cNvPr id="65" name="problem-card-3"/>
          <p:cNvSpPr/>
          <p:nvPr/>
        </p:nvSpPr>
        <p:spPr>
          <a:xfrm>
            <a:off x="6126479" y="2286000"/>
            <a:ext cx="2697481" cy="1371600"/>
          </a:xfrm>
          <a:prstGeom prst="rect">
            <a:avLst/>
          </a:prstGeom>
          <a:solidFill>
            <a:srgbClr val="141414"/>
          </a:solidFill>
          <a:ln w="12700">
            <a:miter lim="400000"/>
          </a:ln>
        </p:spPr>
        <p:txBody>
          <a:bodyPr lIns="45719" rIns="45719"/>
          <a:lstStyle/>
          <a:p>
            <a:pPr/>
          </a:p>
        </p:txBody>
      </p:sp>
      <p:sp>
        <p:nvSpPr>
          <p:cNvPr id="66" name="problem-title-3"/>
          <p:cNvSpPr txBox="1"/>
          <p:nvPr/>
        </p:nvSpPr>
        <p:spPr>
          <a:xfrm>
            <a:off x="6291071" y="2492062"/>
            <a:ext cx="237744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Agent copies leftovers</a:t>
            </a:r>
          </a:p>
        </p:txBody>
      </p:sp>
      <p:sp>
        <p:nvSpPr>
          <p:cNvPr id="67" name="problem-body-3"/>
          <p:cNvSpPr txBox="1"/>
          <p:nvPr/>
        </p:nvSpPr>
        <p:spPr>
          <a:xfrm>
            <a:off x="6291071" y="2954388"/>
            <a:ext cx="2377441"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defRPr>
            </a:lvl1pPr>
          </a:lstStyle>
          <a:p>
            <a:pPr/>
            <a:r>
              <a:t>LiftBoard fetches, so the next panel will too.</a:t>
            </a:r>
          </a:p>
        </p:txBody>
      </p:sp>
      <p:sp>
        <p:nvSpPr>
          <p:cNvPr id="68" name="Slide Number Placeholder 0"/>
          <p:cNvSpPr txBox="1"/>
          <p:nvPr>
            <p:ph type="sldNum" sz="quarter" idx="4294967295"/>
          </p:nvPr>
        </p:nvSpPr>
        <p:spPr>
          <a:xfrm>
            <a:off x="8549640" y="4828032"/>
            <a:ext cx="174772" cy="2269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Text 0"/>
          <p:cNvSpPr txBox="1"/>
          <p:nvPr>
            <p:ph type="title"/>
          </p:nvPr>
        </p:nvSpPr>
        <p:spPr>
          <a:xfrm>
            <a:off x="457200" y="292608"/>
            <a:ext cx="8229600" cy="530353"/>
          </a:xfrm>
          <a:prstGeom prst="rect">
            <a:avLst/>
          </a:prstGeom>
        </p:spPr>
        <p:txBody>
          <a:bodyPr lIns="0" tIns="0" rIns="0" bIns="0" anchor="ctr"/>
          <a:lstStyle/>
          <a:p>
            <a:pPr/>
            <a:r>
              <a:t>Write it down once, then stop repeating it</a:t>
            </a:r>
          </a:p>
        </p:txBody>
      </p:sp>
      <p:sp>
        <p:nvSpPr>
          <p:cNvPr id="73" name="outcome-row-01"/>
          <p:cNvSpPr/>
          <p:nvPr/>
        </p:nvSpPr>
        <p:spPr>
          <a:xfrm>
            <a:off x="457200" y="1005839"/>
            <a:ext cx="8229600" cy="841249"/>
          </a:xfrm>
          <a:prstGeom prst="rect">
            <a:avLst/>
          </a:prstGeom>
          <a:solidFill>
            <a:srgbClr val="141414"/>
          </a:solidFill>
          <a:ln w="12700">
            <a:miter lim="400000"/>
          </a:ln>
        </p:spPr>
        <p:txBody>
          <a:bodyPr lIns="45719" rIns="45719"/>
          <a:lstStyle/>
          <a:p>
            <a:pPr/>
          </a:p>
        </p:txBody>
      </p:sp>
      <p:sp>
        <p:nvSpPr>
          <p:cNvPr id="74" name="outcome-n-01"/>
          <p:cNvSpPr txBox="1"/>
          <p:nvPr/>
        </p:nvSpPr>
        <p:spPr>
          <a:xfrm>
            <a:off x="621791" y="1299463"/>
            <a:ext cx="64008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chemeClr val="accent2"/>
                </a:solidFill>
                <a:latin typeface="Courier New"/>
                <a:ea typeface="Courier New"/>
                <a:cs typeface="Courier New"/>
                <a:sym typeface="Courier New"/>
              </a:defRPr>
            </a:lvl1pPr>
          </a:lstStyle>
          <a:p>
            <a:pPr/>
            <a:r>
              <a:t>01</a:t>
            </a:r>
          </a:p>
        </p:txBody>
      </p:sp>
      <p:sp>
        <p:nvSpPr>
          <p:cNvPr id="75" name="outcome-title-01"/>
          <p:cNvSpPr txBox="1"/>
          <p:nvPr/>
        </p:nvSpPr>
        <p:spPr>
          <a:xfrm>
            <a:off x="1371600" y="1123117"/>
            <a:ext cx="7086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chemeClr val="accent1"/>
                </a:solidFill>
              </a:defRPr>
            </a:lvl1pPr>
          </a:lstStyle>
          <a:p>
            <a:pPr/>
            <a:r>
              <a:t>Spot it</a:t>
            </a:r>
          </a:p>
        </p:txBody>
      </p:sp>
      <p:sp>
        <p:nvSpPr>
          <p:cNvPr id="76" name="outcome-body-01"/>
          <p:cNvSpPr txBox="1"/>
          <p:nvPr/>
        </p:nvSpPr>
        <p:spPr>
          <a:xfrm>
            <a:off x="1371600" y="1483220"/>
            <a:ext cx="70866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defRPr>
            </a:lvl1pPr>
          </a:lstStyle>
          <a:p>
            <a:pPr/>
            <a:r>
              <a:t>Made the same correction twice? You need a rule, not a better prompt.</a:t>
            </a:r>
          </a:p>
        </p:txBody>
      </p:sp>
      <p:sp>
        <p:nvSpPr>
          <p:cNvPr id="77" name="outcome-row-02"/>
          <p:cNvSpPr/>
          <p:nvPr/>
        </p:nvSpPr>
        <p:spPr>
          <a:xfrm>
            <a:off x="457200" y="1965960"/>
            <a:ext cx="8229600" cy="841249"/>
          </a:xfrm>
          <a:prstGeom prst="rect">
            <a:avLst/>
          </a:prstGeom>
          <a:solidFill>
            <a:srgbClr val="141414"/>
          </a:solidFill>
          <a:ln w="12700">
            <a:miter lim="400000"/>
          </a:ln>
        </p:spPr>
        <p:txBody>
          <a:bodyPr lIns="45719" rIns="45719"/>
          <a:lstStyle/>
          <a:p>
            <a:pPr/>
          </a:p>
        </p:txBody>
      </p:sp>
      <p:sp>
        <p:nvSpPr>
          <p:cNvPr id="78" name="outcome-n-02"/>
          <p:cNvSpPr txBox="1"/>
          <p:nvPr/>
        </p:nvSpPr>
        <p:spPr>
          <a:xfrm>
            <a:off x="621791" y="2259584"/>
            <a:ext cx="64008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chemeClr val="accent2"/>
                </a:solidFill>
                <a:latin typeface="Courier New"/>
                <a:ea typeface="Courier New"/>
                <a:cs typeface="Courier New"/>
                <a:sym typeface="Courier New"/>
              </a:defRPr>
            </a:lvl1pPr>
          </a:lstStyle>
          <a:p>
            <a:pPr/>
            <a:r>
              <a:t>02</a:t>
            </a:r>
          </a:p>
        </p:txBody>
      </p:sp>
      <p:sp>
        <p:nvSpPr>
          <p:cNvPr id="79" name="outcome-title-02"/>
          <p:cNvSpPr txBox="1"/>
          <p:nvPr/>
        </p:nvSpPr>
        <p:spPr>
          <a:xfrm>
            <a:off x="1371600" y="2083237"/>
            <a:ext cx="7086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chemeClr val="accent1"/>
                </a:solidFill>
              </a:defRPr>
            </a:lvl1pPr>
          </a:lstStyle>
          <a:p>
            <a:pPr/>
            <a:r>
              <a:t>Write it</a:t>
            </a:r>
          </a:p>
        </p:txBody>
      </p:sp>
      <p:sp>
        <p:nvSpPr>
          <p:cNvPr id="80" name="outcome-body-02"/>
          <p:cNvSpPr txBox="1"/>
          <p:nvPr/>
        </p:nvSpPr>
        <p:spPr>
          <a:xfrm>
            <a:off x="1371600" y="2443340"/>
            <a:ext cx="70866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defRPr>
            </a:lvl1pPr>
          </a:lstStyle>
          <a:p>
            <a:pPr/>
            <a:r>
              <a:t>One project rule: a description, a do, a don't, and an @ pointer to the real file.</a:t>
            </a:r>
          </a:p>
        </p:txBody>
      </p:sp>
      <p:sp>
        <p:nvSpPr>
          <p:cNvPr id="81" name="outcome-row-03"/>
          <p:cNvSpPr/>
          <p:nvPr/>
        </p:nvSpPr>
        <p:spPr>
          <a:xfrm>
            <a:off x="457200" y="2926079"/>
            <a:ext cx="8229600" cy="841249"/>
          </a:xfrm>
          <a:prstGeom prst="rect">
            <a:avLst/>
          </a:prstGeom>
          <a:solidFill>
            <a:srgbClr val="141414"/>
          </a:solidFill>
          <a:ln w="12700">
            <a:miter lim="400000"/>
          </a:ln>
        </p:spPr>
        <p:txBody>
          <a:bodyPr lIns="45719" rIns="45719"/>
          <a:lstStyle/>
          <a:p>
            <a:pPr/>
          </a:p>
        </p:txBody>
      </p:sp>
      <p:sp>
        <p:nvSpPr>
          <p:cNvPr id="82" name="outcome-n-03"/>
          <p:cNvSpPr txBox="1"/>
          <p:nvPr/>
        </p:nvSpPr>
        <p:spPr>
          <a:xfrm>
            <a:off x="621791" y="3219703"/>
            <a:ext cx="64008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chemeClr val="accent2"/>
                </a:solidFill>
                <a:latin typeface="Courier New"/>
                <a:ea typeface="Courier New"/>
                <a:cs typeface="Courier New"/>
                <a:sym typeface="Courier New"/>
              </a:defRPr>
            </a:lvl1pPr>
          </a:lstStyle>
          <a:p>
            <a:pPr/>
            <a:r>
              <a:t>03</a:t>
            </a:r>
          </a:p>
        </p:txBody>
      </p:sp>
      <p:sp>
        <p:nvSpPr>
          <p:cNvPr id="83" name="outcome-title-03"/>
          <p:cNvSpPr txBox="1"/>
          <p:nvPr/>
        </p:nvSpPr>
        <p:spPr>
          <a:xfrm>
            <a:off x="1371600" y="3043357"/>
            <a:ext cx="70866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chemeClr val="accent1"/>
                </a:solidFill>
              </a:defRPr>
            </a:lvl1pPr>
          </a:lstStyle>
          <a:p>
            <a:pPr/>
            <a:r>
              <a:t>Prove it</a:t>
            </a:r>
          </a:p>
        </p:txBody>
      </p:sp>
      <p:sp>
        <p:nvSpPr>
          <p:cNvPr id="84" name="outcome-body-03"/>
          <p:cNvSpPr txBox="1"/>
          <p:nvPr/>
        </p:nvSpPr>
        <p:spPr>
          <a:xfrm>
            <a:off x="1371600" y="3403460"/>
            <a:ext cx="70866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defRPr>
            </a:lvl1pPr>
          </a:lstStyle>
          <a:p>
            <a:pPr/>
            <a:r>
              <a:t>Rerun the prompt in a new chat, then commit so the next person gets it.</a:t>
            </a:r>
          </a:p>
        </p:txBody>
      </p:sp>
      <p:sp>
        <p:nvSpPr>
          <p:cNvPr id="85" name="Slide Number Placeholder 0"/>
          <p:cNvSpPr txBox="1"/>
          <p:nvPr>
            <p:ph type="sldNum" sz="quarter" idx="4294967295"/>
          </p:nvPr>
        </p:nvSpPr>
        <p:spPr>
          <a:xfrm>
            <a:off x="8549640" y="4828032"/>
            <a:ext cx="174772" cy="2269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Text 0"/>
          <p:cNvSpPr txBox="1"/>
          <p:nvPr>
            <p:ph type="title"/>
          </p:nvPr>
        </p:nvSpPr>
        <p:spPr>
          <a:xfrm>
            <a:off x="457200" y="292608"/>
            <a:ext cx="8229600" cy="530353"/>
          </a:xfrm>
          <a:prstGeom prst="rect">
            <a:avLst/>
          </a:prstGeom>
        </p:spPr>
        <p:txBody>
          <a:bodyPr lIns="0" tIns="0" rIns="0" bIns="0" anchor="ctr"/>
          <a:lstStyle/>
          <a:p>
            <a:pPr/>
            <a:r>
              <a:t>Without a rule, it copies what's there</a:t>
            </a:r>
          </a:p>
        </p:txBody>
      </p:sp>
      <p:sp>
        <p:nvSpPr>
          <p:cNvPr id="90" name="prompt-card"/>
          <p:cNvSpPr/>
          <p:nvPr/>
        </p:nvSpPr>
        <p:spPr>
          <a:xfrm>
            <a:off x="457199" y="987551"/>
            <a:ext cx="4892042" cy="2697482"/>
          </a:xfrm>
          <a:prstGeom prst="rect">
            <a:avLst/>
          </a:prstGeom>
          <a:solidFill>
            <a:srgbClr val="141414"/>
          </a:solidFill>
          <a:ln w="12700">
            <a:miter lim="400000"/>
          </a:ln>
        </p:spPr>
        <p:txBody>
          <a:bodyPr lIns="45719" rIns="45719"/>
          <a:lstStyle/>
          <a:p>
            <a:pPr/>
          </a:p>
        </p:txBody>
      </p:sp>
      <p:sp>
        <p:nvSpPr>
          <p:cNvPr id="91" name="prompt-label"/>
          <p:cNvSpPr txBox="1"/>
          <p:nvPr/>
        </p:nvSpPr>
        <p:spPr>
          <a:xfrm>
            <a:off x="658368" y="1167383"/>
            <a:ext cx="452628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2"/>
                </a:solidFill>
                <a:latin typeface="Courier New"/>
                <a:ea typeface="Courier New"/>
                <a:cs typeface="Courier New"/>
                <a:sym typeface="Courier New"/>
              </a:defRPr>
            </a:lvl1pPr>
          </a:lstStyle>
          <a:p>
            <a:pPr/>
            <a:r>
              <a:t>NEW AGENT CHAT</a:t>
            </a:r>
          </a:p>
        </p:txBody>
      </p:sp>
      <p:sp>
        <p:nvSpPr>
          <p:cNvPr id="92" name="prompt-text"/>
          <p:cNvSpPr txBox="1"/>
          <p:nvPr/>
        </p:nvSpPr>
        <p:spPr>
          <a:xfrm>
            <a:off x="658368" y="1719162"/>
            <a:ext cx="4526280" cy="5758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chemeClr val="accent1"/>
                </a:solidFill>
              </a:defRPr>
            </a:lvl1pPr>
          </a:lstStyle>
          <a:p>
            <a:pPr/>
            <a:r>
              <a:t>Add a panel that lists every trail and its difficulty.</a:t>
            </a:r>
          </a:p>
        </p:txBody>
      </p:sp>
      <p:sp>
        <p:nvSpPr>
          <p:cNvPr id="93" name="prompt-aside"/>
          <p:cNvSpPr txBox="1"/>
          <p:nvPr/>
        </p:nvSpPr>
        <p:spPr>
          <a:xfrm>
            <a:off x="658368" y="3254154"/>
            <a:ext cx="4526280"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chemeClr val="accent2"/>
                </a:solidFill>
              </a:defRPr>
            </a:lvl1pPr>
          </a:lstStyle>
          <a:p>
            <a:pPr/>
            <a:r>
              <a:t>Send it in your own chat, then compare diffs.</a:t>
            </a:r>
          </a:p>
        </p:txBody>
      </p:sp>
      <p:sp>
        <p:nvSpPr>
          <p:cNvPr id="94" name="expect-card"/>
          <p:cNvSpPr/>
          <p:nvPr/>
        </p:nvSpPr>
        <p:spPr>
          <a:xfrm>
            <a:off x="5532120" y="987551"/>
            <a:ext cx="3154681" cy="2697482"/>
          </a:xfrm>
          <a:prstGeom prst="rect">
            <a:avLst/>
          </a:prstGeom>
          <a:solidFill>
            <a:srgbClr val="141414"/>
          </a:solidFill>
          <a:ln w="12700">
            <a:miter lim="400000"/>
          </a:ln>
        </p:spPr>
        <p:txBody>
          <a:bodyPr lIns="45719" rIns="45719"/>
          <a:lstStyle/>
          <a:p>
            <a:pPr/>
          </a:p>
        </p:txBody>
      </p:sp>
      <p:sp>
        <p:nvSpPr>
          <p:cNvPr id="95" name="expect-title"/>
          <p:cNvSpPr txBox="1"/>
          <p:nvPr/>
        </p:nvSpPr>
        <p:spPr>
          <a:xfrm>
            <a:off x="5714999" y="1167383"/>
            <a:ext cx="2788922"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2"/>
                </a:solidFill>
                <a:latin typeface="Courier New"/>
                <a:ea typeface="Courier New"/>
                <a:cs typeface="Courier New"/>
                <a:sym typeface="Courier New"/>
              </a:defRPr>
            </a:lvl1pPr>
          </a:lstStyle>
          <a:p>
            <a:pPr/>
            <a:r>
              <a:t>WHAT IT USUALLY COPIES</a:t>
            </a:r>
          </a:p>
        </p:txBody>
      </p:sp>
      <p:sp>
        <p:nvSpPr>
          <p:cNvPr id="96" name="miss-label-1"/>
          <p:cNvSpPr txBox="1"/>
          <p:nvPr/>
        </p:nvSpPr>
        <p:spPr>
          <a:xfrm>
            <a:off x="5714999" y="1571751"/>
            <a:ext cx="278892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1"/>
                </a:solidFill>
                <a:latin typeface="Courier New"/>
                <a:ea typeface="Courier New"/>
                <a:cs typeface="Courier New"/>
                <a:sym typeface="Courier New"/>
              </a:defRPr>
            </a:lvl1pPr>
          </a:lstStyle>
          <a:p>
            <a:pPr/>
            <a:r>
              <a:t>fetch(…/lifts)</a:t>
            </a:r>
          </a:p>
        </p:txBody>
      </p:sp>
      <p:sp>
        <p:nvSpPr>
          <p:cNvPr id="97" name="miss-note-1"/>
          <p:cNvSpPr txBox="1"/>
          <p:nvPr/>
        </p:nvSpPr>
        <p:spPr>
          <a:xfrm>
            <a:off x="5714999" y="1827690"/>
            <a:ext cx="27889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chemeClr val="accent2"/>
                </a:solidFill>
              </a:defRPr>
            </a:lvl1pPr>
          </a:lstStyle>
          <a:p>
            <a:pPr/>
            <a:r>
              <a:t>LiftBoard still does this</a:t>
            </a:r>
          </a:p>
        </p:txBody>
      </p:sp>
      <p:sp>
        <p:nvSpPr>
          <p:cNvPr id="98" name="miss-label-2"/>
          <p:cNvSpPr txBox="1"/>
          <p:nvPr/>
        </p:nvSpPr>
        <p:spPr>
          <a:xfrm>
            <a:off x="5714999" y="2211832"/>
            <a:ext cx="278892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1"/>
                </a:solidFill>
                <a:latin typeface="Courier New"/>
                <a:ea typeface="Courier New"/>
                <a:cs typeface="Courier New"/>
                <a:sym typeface="Courier New"/>
              </a:defRPr>
            </a:lvl1pPr>
          </a:lstStyle>
          <a:p>
            <a:pPr/>
            <a:r>
              <a:t>No getTrails()</a:t>
            </a:r>
          </a:p>
        </p:txBody>
      </p:sp>
      <p:sp>
        <p:nvSpPr>
          <p:cNvPr id="99" name="miss-note-2"/>
          <p:cNvSpPr txBox="1"/>
          <p:nvPr/>
        </p:nvSpPr>
        <p:spPr>
          <a:xfrm>
            <a:off x="5714999" y="2467770"/>
            <a:ext cx="27889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chemeClr val="accent2"/>
                </a:solidFill>
              </a:defRPr>
            </a:lvl1pPr>
          </a:lstStyle>
          <a:p>
            <a:pPr/>
            <a:r>
              <a:t>The client already exists</a:t>
            </a:r>
          </a:p>
        </p:txBody>
      </p:sp>
      <p:sp>
        <p:nvSpPr>
          <p:cNvPr id="100" name="miss-label-3"/>
          <p:cNvSpPr txBox="1"/>
          <p:nvPr/>
        </p:nvSpPr>
        <p:spPr>
          <a:xfrm>
            <a:off x="5714999" y="2851911"/>
            <a:ext cx="278892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1"/>
                </a:solidFill>
                <a:latin typeface="Courier New"/>
                <a:ea typeface="Courier New"/>
                <a:cs typeface="Courier New"/>
                <a:sym typeface="Courier New"/>
              </a:defRPr>
            </a:lvl1pPr>
          </a:lstStyle>
          <a:p>
            <a:pPr/>
            <a:r>
              <a:t>Hand-styled status</a:t>
            </a:r>
          </a:p>
        </p:txBody>
      </p:sp>
      <p:sp>
        <p:nvSpPr>
          <p:cNvPr id="101" name="miss-note-3"/>
          <p:cNvSpPr txBox="1"/>
          <p:nvPr/>
        </p:nvSpPr>
        <p:spPr>
          <a:xfrm>
            <a:off x="5714999" y="3107850"/>
            <a:ext cx="278892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chemeClr val="accent2"/>
                </a:solidFill>
              </a:defRPr>
            </a:lvl1pPr>
          </a:lstStyle>
          <a:p>
            <a:pPr/>
            <a:r>
              <a:t>StatusBadge goes unused</a:t>
            </a:r>
          </a:p>
        </p:txBody>
      </p:sp>
      <p:sp>
        <p:nvSpPr>
          <p:cNvPr id="102" name="Slide Number Placeholder 0"/>
          <p:cNvSpPr txBox="1"/>
          <p:nvPr>
            <p:ph type="sldNum" sz="quarter" idx="4294967295"/>
          </p:nvPr>
        </p:nvSpPr>
        <p:spPr>
          <a:xfrm>
            <a:off x="8549640" y="4828032"/>
            <a:ext cx="174772" cy="2269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ext 0"/>
          <p:cNvSpPr txBox="1"/>
          <p:nvPr>
            <p:ph type="title"/>
          </p:nvPr>
        </p:nvSpPr>
        <p:spPr>
          <a:xfrm>
            <a:off x="457200" y="292608"/>
            <a:ext cx="8229600" cy="530353"/>
          </a:xfrm>
          <a:prstGeom prst="rect">
            <a:avLst/>
          </a:prstGeom>
        </p:spPr>
        <p:txBody>
          <a:bodyPr lIns="0" tIns="0" rIns="0" bIns="0" anchor="ctr"/>
          <a:lstStyle/>
          <a:p>
            <a:pPr/>
            <a:r>
              <a:t>A rule only needs three things</a:t>
            </a:r>
          </a:p>
        </p:txBody>
      </p:sp>
      <p:sp>
        <p:nvSpPr>
          <p:cNvPr id="107" name="code-card"/>
          <p:cNvSpPr/>
          <p:nvPr/>
        </p:nvSpPr>
        <p:spPr>
          <a:xfrm>
            <a:off x="457200" y="960119"/>
            <a:ext cx="4709160" cy="2743201"/>
          </a:xfrm>
          <a:prstGeom prst="rect">
            <a:avLst/>
          </a:prstGeom>
          <a:solidFill>
            <a:srgbClr val="141414"/>
          </a:solidFill>
          <a:ln w="12700">
            <a:miter lim="400000"/>
          </a:ln>
        </p:spPr>
        <p:txBody>
          <a:bodyPr lIns="45719" rIns="45719"/>
          <a:lstStyle/>
          <a:p>
            <a:pPr/>
          </a:p>
        </p:txBody>
      </p:sp>
      <p:sp>
        <p:nvSpPr>
          <p:cNvPr id="108" name="rule-code"/>
          <p:cNvSpPr txBox="1"/>
          <p:nvPr/>
        </p:nvSpPr>
        <p:spPr>
          <a:xfrm>
            <a:off x="640079" y="1193291"/>
            <a:ext cx="4389122" cy="2286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300">
                <a:solidFill>
                  <a:schemeClr val="accent2"/>
                </a:solidFill>
                <a:latin typeface="Courier New"/>
                <a:ea typeface="Courier New"/>
                <a:cs typeface="Courier New"/>
                <a:sym typeface="Courier New"/>
              </a:defRPr>
            </a:pPr>
            <a:r>
              <a:t>---</a:t>
            </a:r>
          </a:p>
          <a:p>
            <a:pPr>
              <a:defRPr sz="1300">
                <a:solidFill>
                  <a:schemeClr val="accent2"/>
                </a:solidFill>
                <a:latin typeface="Courier New"/>
                <a:ea typeface="Courier New"/>
                <a:cs typeface="Courier New"/>
                <a:sym typeface="Courier New"/>
              </a:defRPr>
            </a:pPr>
            <a:r>
              <a:t>description: </a:t>
            </a:r>
            <a:r>
              <a:rPr>
                <a:solidFill>
                  <a:schemeClr val="accent1"/>
                </a:solidFill>
              </a:rPr>
              <a:t>How to load Snowtooth data</a:t>
            </a:r>
            <a:endParaRPr>
              <a:solidFill>
                <a:schemeClr val="accent1"/>
              </a:solidFill>
            </a:endParaRPr>
          </a:p>
          <a:p>
            <a:pPr>
              <a:defRPr sz="1300">
                <a:solidFill>
                  <a:schemeClr val="accent2"/>
                </a:solidFill>
                <a:latin typeface="Courier New"/>
                <a:ea typeface="Courier New"/>
                <a:cs typeface="Courier New"/>
                <a:sym typeface="Courier New"/>
              </a:defRPr>
            </a:pPr>
            <a:r>
              <a:t>alwaysApply: </a:t>
            </a:r>
            <a:r>
              <a:rPr>
                <a:solidFill>
                  <a:schemeClr val="accent1"/>
                </a:solidFill>
              </a:rPr>
              <a:t>true</a:t>
            </a:r>
            <a:endParaRPr>
              <a:solidFill>
                <a:schemeClr val="accent1"/>
              </a:solidFill>
            </a:endParaRPr>
          </a:p>
          <a:p>
            <a:pPr>
              <a:defRPr sz="1300">
                <a:solidFill>
                  <a:schemeClr val="accent2"/>
                </a:solidFill>
                <a:latin typeface="Courier New"/>
                <a:ea typeface="Courier New"/>
                <a:cs typeface="Courier New"/>
                <a:sym typeface="Courier New"/>
              </a:defRPr>
            </a:pPr>
            <a:r>
              <a:t>---</a:t>
            </a:r>
          </a:p>
          <a:p>
            <a:pPr>
              <a:defRPr sz="1300">
                <a:solidFill>
                  <a:schemeClr val="accent2"/>
                </a:solidFill>
                <a:latin typeface="Courier New"/>
                <a:ea typeface="Courier New"/>
                <a:cs typeface="Courier New"/>
                <a:sym typeface="Courier New"/>
              </a:defRPr>
            </a:pPr>
          </a:p>
          <a:p>
            <a:pPr>
              <a:defRPr sz="1300">
                <a:solidFill>
                  <a:schemeClr val="accent2"/>
                </a:solidFill>
                <a:latin typeface="Courier New"/>
                <a:ea typeface="Courier New"/>
                <a:cs typeface="Courier New"/>
                <a:sym typeface="Courier New"/>
              </a:defRPr>
            </a:pPr>
            <a:r>
              <a:rPr>
                <a:solidFill>
                  <a:schemeClr val="accent1"/>
                </a:solidFill>
              </a:rPr>
              <a:t>All data comes from @/lib/snowtooth.</a:t>
            </a:r>
            <a:endParaRPr>
              <a:solidFill>
                <a:schemeClr val="accent1"/>
              </a:solidFill>
            </a:endParaRPr>
          </a:p>
          <a:p>
            <a:pPr>
              <a:defRPr sz="1300">
                <a:solidFill>
                  <a:schemeClr val="accent2"/>
                </a:solidFill>
                <a:latin typeface="Courier New"/>
                <a:ea typeface="Courier New"/>
                <a:cs typeface="Courier New"/>
                <a:sym typeface="Courier New"/>
              </a:defRPr>
            </a:pPr>
            <a:r>
              <a:rPr>
                <a:solidFill>
                  <a:schemeClr val="accent1"/>
                </a:solidFill>
              </a:rPr>
              <a:t>Never fetch in a component.</a:t>
            </a:r>
            <a:endParaRPr>
              <a:solidFill>
                <a:schemeClr val="accent1"/>
              </a:solidFill>
            </a:endParaRPr>
          </a:p>
          <a:p>
            <a:pPr>
              <a:defRPr sz="1300">
                <a:solidFill>
                  <a:schemeClr val="accent2"/>
                </a:solidFill>
                <a:latin typeface="Courier New"/>
                <a:ea typeface="Courier New"/>
                <a:cs typeface="Courier New"/>
                <a:sym typeface="Courier New"/>
              </a:defRPr>
            </a:pPr>
            <a:endParaRPr>
              <a:solidFill>
                <a:schemeClr val="accent1"/>
              </a:solidFill>
            </a:endParaRPr>
          </a:p>
          <a:p>
            <a:pPr>
              <a:defRPr sz="1300">
                <a:solidFill>
                  <a:schemeClr val="accent2"/>
                </a:solidFill>
                <a:latin typeface="Courier New"/>
                <a:ea typeface="Courier New"/>
                <a:cs typeface="Courier New"/>
                <a:sym typeface="Courier New"/>
              </a:defRPr>
            </a:pPr>
            <a:r>
              <a:t>Do:    </a:t>
            </a:r>
            <a:r>
              <a:rPr>
                <a:solidFill>
                  <a:schemeClr val="accent1"/>
                </a:solidFill>
              </a:rPr>
              <a:t>await getTrails()</a:t>
            </a:r>
            <a:endParaRPr>
              <a:solidFill>
                <a:schemeClr val="accent1"/>
              </a:solidFill>
            </a:endParaRPr>
          </a:p>
          <a:p>
            <a:pPr>
              <a:defRPr sz="1300">
                <a:solidFill>
                  <a:schemeClr val="accent2"/>
                </a:solidFill>
                <a:latin typeface="Courier New"/>
                <a:ea typeface="Courier New"/>
                <a:cs typeface="Courier New"/>
                <a:sym typeface="Courier New"/>
              </a:defRPr>
            </a:pPr>
            <a:r>
              <a:t>Don't: </a:t>
            </a:r>
            <a:r>
              <a:rPr>
                <a:solidFill>
                  <a:schemeClr val="accent1"/>
                </a:solidFill>
              </a:rPr>
              <a:t>fetch(".../lifts")</a:t>
            </a:r>
            <a:endParaRPr>
              <a:solidFill>
                <a:schemeClr val="accent1"/>
              </a:solidFill>
            </a:endParaRPr>
          </a:p>
          <a:p>
            <a:pPr>
              <a:defRPr sz="1300">
                <a:solidFill>
                  <a:schemeClr val="accent2"/>
                </a:solidFill>
                <a:latin typeface="Courier New"/>
                <a:ea typeface="Courier New"/>
                <a:cs typeface="Courier New"/>
                <a:sym typeface="Courier New"/>
              </a:defRPr>
            </a:pPr>
            <a:endParaRPr>
              <a:solidFill>
                <a:schemeClr val="accent1"/>
              </a:solidFill>
            </a:endParaRPr>
          </a:p>
          <a:p>
            <a:pPr>
              <a:defRPr sz="1300">
                <a:solidFill>
                  <a:schemeClr val="accent2"/>
                </a:solidFill>
                <a:latin typeface="Courier New"/>
                <a:ea typeface="Courier New"/>
                <a:cs typeface="Courier New"/>
                <a:sym typeface="Courier New"/>
              </a:defRPr>
            </a:pPr>
            <a:r>
              <a:t>See @lib/snowtooth.ts</a:t>
            </a:r>
          </a:p>
        </p:txBody>
      </p:sp>
      <p:sp>
        <p:nvSpPr>
          <p:cNvPr id="109" name="part-card-01"/>
          <p:cNvSpPr/>
          <p:nvPr/>
        </p:nvSpPr>
        <p:spPr>
          <a:xfrm>
            <a:off x="5349240" y="960119"/>
            <a:ext cx="3337560" cy="841249"/>
          </a:xfrm>
          <a:prstGeom prst="rect">
            <a:avLst/>
          </a:prstGeom>
          <a:solidFill>
            <a:srgbClr val="141414"/>
          </a:solidFill>
          <a:ln w="12700">
            <a:miter lim="400000"/>
          </a:ln>
        </p:spPr>
        <p:txBody>
          <a:bodyPr lIns="45719" rIns="45719"/>
          <a:lstStyle/>
          <a:p>
            <a:pPr/>
          </a:p>
        </p:txBody>
      </p:sp>
      <p:sp>
        <p:nvSpPr>
          <p:cNvPr id="110" name="part-n-01"/>
          <p:cNvSpPr txBox="1"/>
          <p:nvPr/>
        </p:nvSpPr>
        <p:spPr>
          <a:xfrm>
            <a:off x="5486400" y="1279143"/>
            <a:ext cx="4572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01</a:t>
            </a:r>
          </a:p>
        </p:txBody>
      </p:sp>
      <p:sp>
        <p:nvSpPr>
          <p:cNvPr id="111" name="part-title-01"/>
          <p:cNvSpPr txBox="1"/>
          <p:nvPr/>
        </p:nvSpPr>
        <p:spPr>
          <a:xfrm>
            <a:off x="5989320" y="1111318"/>
            <a:ext cx="25146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Description</a:t>
            </a:r>
          </a:p>
        </p:txBody>
      </p:sp>
      <p:sp>
        <p:nvSpPr>
          <p:cNvPr id="112" name="part-body-01"/>
          <p:cNvSpPr txBox="1"/>
          <p:nvPr/>
        </p:nvSpPr>
        <p:spPr>
          <a:xfrm>
            <a:off x="5989320" y="1348392"/>
            <a:ext cx="2514601"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chemeClr val="accent2"/>
                </a:solidFill>
              </a:defRPr>
            </a:lvl1pPr>
          </a:lstStyle>
          <a:p>
            <a:pPr/>
            <a:r>
              <a:t>So the agent knows when this applies.</a:t>
            </a:r>
          </a:p>
        </p:txBody>
      </p:sp>
      <p:sp>
        <p:nvSpPr>
          <p:cNvPr id="113" name="part-card-02"/>
          <p:cNvSpPr/>
          <p:nvPr/>
        </p:nvSpPr>
        <p:spPr>
          <a:xfrm>
            <a:off x="5349240" y="1892807"/>
            <a:ext cx="3337560" cy="841249"/>
          </a:xfrm>
          <a:prstGeom prst="rect">
            <a:avLst/>
          </a:prstGeom>
          <a:solidFill>
            <a:srgbClr val="141414"/>
          </a:solidFill>
          <a:ln w="12700">
            <a:miter lim="400000"/>
          </a:ln>
        </p:spPr>
        <p:txBody>
          <a:bodyPr lIns="45719" rIns="45719"/>
          <a:lstStyle/>
          <a:p>
            <a:pPr/>
          </a:p>
        </p:txBody>
      </p:sp>
      <p:sp>
        <p:nvSpPr>
          <p:cNvPr id="114" name="part-n-02"/>
          <p:cNvSpPr txBox="1"/>
          <p:nvPr/>
        </p:nvSpPr>
        <p:spPr>
          <a:xfrm>
            <a:off x="5486400" y="2211831"/>
            <a:ext cx="4572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02</a:t>
            </a:r>
          </a:p>
        </p:txBody>
      </p:sp>
      <p:sp>
        <p:nvSpPr>
          <p:cNvPr id="115" name="part-title-02"/>
          <p:cNvSpPr txBox="1"/>
          <p:nvPr/>
        </p:nvSpPr>
        <p:spPr>
          <a:xfrm>
            <a:off x="5989320" y="2044006"/>
            <a:ext cx="25146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Do and don't</a:t>
            </a:r>
          </a:p>
        </p:txBody>
      </p:sp>
      <p:sp>
        <p:nvSpPr>
          <p:cNvPr id="116" name="part-body-02"/>
          <p:cNvSpPr txBox="1"/>
          <p:nvPr/>
        </p:nvSpPr>
        <p:spPr>
          <a:xfrm>
            <a:off x="5989320" y="2281080"/>
            <a:ext cx="2514601"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chemeClr val="accent2"/>
                </a:solidFill>
              </a:defRPr>
            </a:lvl1pPr>
          </a:lstStyle>
          <a:p>
            <a:pPr/>
            <a:r>
              <a:t>One of each, written as real code.</a:t>
            </a:r>
          </a:p>
        </p:txBody>
      </p:sp>
      <p:sp>
        <p:nvSpPr>
          <p:cNvPr id="117" name="part-card-03"/>
          <p:cNvSpPr/>
          <p:nvPr/>
        </p:nvSpPr>
        <p:spPr>
          <a:xfrm>
            <a:off x="5349240" y="2825495"/>
            <a:ext cx="3337560" cy="841249"/>
          </a:xfrm>
          <a:prstGeom prst="rect">
            <a:avLst/>
          </a:prstGeom>
          <a:solidFill>
            <a:srgbClr val="141414"/>
          </a:solidFill>
          <a:ln w="12700">
            <a:miter lim="400000"/>
          </a:ln>
        </p:spPr>
        <p:txBody>
          <a:bodyPr lIns="45719" rIns="45719"/>
          <a:lstStyle/>
          <a:p>
            <a:pPr/>
          </a:p>
        </p:txBody>
      </p:sp>
      <p:sp>
        <p:nvSpPr>
          <p:cNvPr id="118" name="part-n-03"/>
          <p:cNvSpPr txBox="1"/>
          <p:nvPr/>
        </p:nvSpPr>
        <p:spPr>
          <a:xfrm>
            <a:off x="5486400" y="3144519"/>
            <a:ext cx="4572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03</a:t>
            </a:r>
          </a:p>
        </p:txBody>
      </p:sp>
      <p:sp>
        <p:nvSpPr>
          <p:cNvPr id="119" name="part-title-03"/>
          <p:cNvSpPr txBox="1"/>
          <p:nvPr/>
        </p:nvSpPr>
        <p:spPr>
          <a:xfrm>
            <a:off x="5989320" y="2976694"/>
            <a:ext cx="25146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A pointer</a:t>
            </a:r>
          </a:p>
        </p:txBody>
      </p:sp>
      <p:sp>
        <p:nvSpPr>
          <p:cNvPr id="120" name="part-body-03"/>
          <p:cNvSpPr txBox="1"/>
          <p:nvPr/>
        </p:nvSpPr>
        <p:spPr>
          <a:xfrm>
            <a:off x="5989320" y="3213768"/>
            <a:ext cx="2514601"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chemeClr val="accent2"/>
                </a:solidFill>
              </a:defRPr>
            </a:lvl1pPr>
          </a:lstStyle>
          <a:p>
            <a:pPr/>
            <a:r>
              <a:t>@ the real file, not a pasted copy that goes stale.</a:t>
            </a:r>
          </a:p>
        </p:txBody>
      </p:sp>
      <p:sp>
        <p:nvSpPr>
          <p:cNvPr id="121" name="Slide Number Placeholder 0"/>
          <p:cNvSpPr txBox="1"/>
          <p:nvPr>
            <p:ph type="sldNum" sz="quarter" idx="4294967295"/>
          </p:nvPr>
        </p:nvSpPr>
        <p:spPr>
          <a:xfrm>
            <a:off x="8549640" y="4828032"/>
            <a:ext cx="174772" cy="2269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ext 0"/>
          <p:cNvSpPr txBox="1"/>
          <p:nvPr>
            <p:ph type="title"/>
          </p:nvPr>
        </p:nvSpPr>
        <p:spPr>
          <a:xfrm>
            <a:off x="457200" y="292608"/>
            <a:ext cx="8229600" cy="530353"/>
          </a:xfrm>
          <a:prstGeom prst="rect">
            <a:avLst/>
          </a:prstGeom>
        </p:spPr>
        <p:txBody>
          <a:bodyPr lIns="0" tIns="0" rIns="0" bIns="0" anchor="ctr"/>
          <a:lstStyle/>
          <a:p>
            <a:pPr/>
            <a:r>
              <a:t>Test it with the same prompt in a new chat</a:t>
            </a:r>
          </a:p>
        </p:txBody>
      </p:sp>
      <p:sp>
        <p:nvSpPr>
          <p:cNvPr id="126" name="before-card"/>
          <p:cNvSpPr/>
          <p:nvPr/>
        </p:nvSpPr>
        <p:spPr>
          <a:xfrm>
            <a:off x="457199" y="987551"/>
            <a:ext cx="3977642" cy="2697482"/>
          </a:xfrm>
          <a:prstGeom prst="rect">
            <a:avLst/>
          </a:prstGeom>
          <a:solidFill>
            <a:srgbClr val="141414"/>
          </a:solidFill>
          <a:ln w="12700">
            <a:miter lim="400000"/>
          </a:ln>
        </p:spPr>
        <p:txBody>
          <a:bodyPr lIns="45719" rIns="45719"/>
          <a:lstStyle/>
          <a:p>
            <a:pPr/>
          </a:p>
        </p:txBody>
      </p:sp>
      <p:sp>
        <p:nvSpPr>
          <p:cNvPr id="127" name="before-label"/>
          <p:cNvSpPr txBox="1"/>
          <p:nvPr/>
        </p:nvSpPr>
        <p:spPr>
          <a:xfrm>
            <a:off x="640080" y="1167383"/>
            <a:ext cx="3611880"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2"/>
                </a:solidFill>
                <a:latin typeface="Courier New"/>
                <a:ea typeface="Courier New"/>
                <a:cs typeface="Courier New"/>
                <a:sym typeface="Courier New"/>
              </a:defRPr>
            </a:lvl1pPr>
          </a:lstStyle>
          <a:p>
            <a:pPr/>
            <a:r>
              <a:t>BEFORE THE RULE</a:t>
            </a:r>
          </a:p>
        </p:txBody>
      </p:sp>
      <p:sp>
        <p:nvSpPr>
          <p:cNvPr id="128" name="before-code"/>
          <p:cNvSpPr txBox="1"/>
          <p:nvPr/>
        </p:nvSpPr>
        <p:spPr>
          <a:xfrm>
            <a:off x="640080" y="1659889"/>
            <a:ext cx="3611880"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chemeClr val="accent1"/>
                </a:solidFill>
                <a:latin typeface="Courier New"/>
                <a:ea typeface="Courier New"/>
                <a:cs typeface="Courier New"/>
                <a:sym typeface="Courier New"/>
              </a:defRPr>
            </a:lvl1pPr>
          </a:lstStyle>
          <a:p>
            <a:pPr/>
            <a:r>
              <a:t>fetch(".../lifts")</a:t>
            </a:r>
          </a:p>
        </p:txBody>
      </p:sp>
      <p:sp>
        <p:nvSpPr>
          <p:cNvPr id="129" name="before-body"/>
          <p:cNvSpPr txBox="1"/>
          <p:nvPr/>
        </p:nvSpPr>
        <p:spPr>
          <a:xfrm>
            <a:off x="640080" y="2468186"/>
            <a:ext cx="3611880" cy="6414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2"/>
                </a:solidFill>
              </a:defRPr>
            </a:lvl1pPr>
          </a:lstStyle>
          <a:p>
            <a:pPr/>
            <a:r>
              <a:t>A correction you type in chat only lasts until you close the tab.</a:t>
            </a:r>
          </a:p>
        </p:txBody>
      </p:sp>
      <p:sp>
        <p:nvSpPr>
          <p:cNvPr id="130" name="after-card"/>
          <p:cNvSpPr/>
          <p:nvPr/>
        </p:nvSpPr>
        <p:spPr>
          <a:xfrm>
            <a:off x="4709159" y="987551"/>
            <a:ext cx="3977641" cy="2697482"/>
          </a:xfrm>
          <a:prstGeom prst="rect">
            <a:avLst/>
          </a:prstGeom>
          <a:solidFill>
            <a:srgbClr val="141414"/>
          </a:solidFill>
          <a:ln w="12700">
            <a:miter lim="400000"/>
          </a:ln>
        </p:spPr>
        <p:txBody>
          <a:bodyPr lIns="45719" rIns="45719"/>
          <a:lstStyle/>
          <a:p>
            <a:pPr/>
          </a:p>
        </p:txBody>
      </p:sp>
      <p:sp>
        <p:nvSpPr>
          <p:cNvPr id="131" name="after-label"/>
          <p:cNvSpPr txBox="1"/>
          <p:nvPr/>
        </p:nvSpPr>
        <p:spPr>
          <a:xfrm>
            <a:off x="4892040" y="1167383"/>
            <a:ext cx="361188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chemeClr val="accent2"/>
                </a:solidFill>
                <a:latin typeface="Courier New"/>
                <a:ea typeface="Courier New"/>
                <a:cs typeface="Courier New"/>
                <a:sym typeface="Courier New"/>
              </a:defRPr>
            </a:lvl1pPr>
          </a:lstStyle>
          <a:p>
            <a:pPr/>
            <a:r>
              <a:t>AFTER YOU COMMIT IT</a:t>
            </a:r>
          </a:p>
        </p:txBody>
      </p:sp>
      <p:sp>
        <p:nvSpPr>
          <p:cNvPr id="132" name="after-code"/>
          <p:cNvSpPr txBox="1"/>
          <p:nvPr/>
        </p:nvSpPr>
        <p:spPr>
          <a:xfrm>
            <a:off x="4892040" y="1659889"/>
            <a:ext cx="3611881"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chemeClr val="accent1"/>
                </a:solidFill>
                <a:latin typeface="Courier New"/>
                <a:ea typeface="Courier New"/>
                <a:cs typeface="Courier New"/>
                <a:sym typeface="Courier New"/>
              </a:defRPr>
            </a:lvl1pPr>
          </a:lstStyle>
          <a:p>
            <a:pPr/>
            <a:r>
              <a:t>await getTrails()</a:t>
            </a:r>
          </a:p>
        </p:txBody>
      </p:sp>
      <p:sp>
        <p:nvSpPr>
          <p:cNvPr id="133" name="after-body"/>
          <p:cNvSpPr txBox="1"/>
          <p:nvPr/>
        </p:nvSpPr>
        <p:spPr>
          <a:xfrm>
            <a:off x="4892040" y="2576136"/>
            <a:ext cx="3611881"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2"/>
                </a:solidFill>
              </a:defRPr>
            </a:lvl1pPr>
          </a:lstStyle>
          <a:p>
            <a:pPr/>
            <a:r>
              <a:t>Once the rule is committed, Alex gets it tomorrow without you saying a word.</a:t>
            </a:r>
          </a:p>
        </p:txBody>
      </p:sp>
      <p:sp>
        <p:nvSpPr>
          <p:cNvPr id="134" name="Slide Number Placeholder 0"/>
          <p:cNvSpPr txBox="1"/>
          <p:nvPr>
            <p:ph type="sldNum" sz="quarter" idx="4294967295"/>
          </p:nvPr>
        </p:nvSpPr>
        <p:spPr>
          <a:xfrm>
            <a:off x="8549640" y="4828032"/>
            <a:ext cx="174772" cy="2269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ext 0"/>
          <p:cNvSpPr txBox="1"/>
          <p:nvPr>
            <p:ph type="title"/>
          </p:nvPr>
        </p:nvSpPr>
        <p:spPr>
          <a:xfrm>
            <a:off x="457200" y="292608"/>
            <a:ext cx="8229600" cy="530353"/>
          </a:xfrm>
          <a:prstGeom prst="rect">
            <a:avLst/>
          </a:prstGeom>
        </p:spPr>
        <p:txBody>
          <a:bodyPr lIns="0" tIns="0" rIns="0" bIns="0" anchor="ctr"/>
          <a:lstStyle/>
          <a:p>
            <a:pPr/>
            <a:r>
              <a:t>Your turn: the copy rule</a:t>
            </a:r>
          </a:p>
        </p:txBody>
      </p:sp>
      <p:sp>
        <p:nvSpPr>
          <p:cNvPr id="139" name="marketing-card"/>
          <p:cNvSpPr/>
          <p:nvPr/>
        </p:nvSpPr>
        <p:spPr>
          <a:xfrm>
            <a:off x="457200" y="960119"/>
            <a:ext cx="8229600" cy="658369"/>
          </a:xfrm>
          <a:prstGeom prst="rect">
            <a:avLst/>
          </a:prstGeom>
          <a:solidFill>
            <a:srgbClr val="141414"/>
          </a:solidFill>
          <a:ln w="12700">
            <a:miter lim="400000"/>
          </a:ln>
        </p:spPr>
        <p:txBody>
          <a:bodyPr lIns="45719" rIns="45719"/>
          <a:lstStyle/>
          <a:p>
            <a:pPr/>
          </a:p>
        </p:txBody>
      </p:sp>
      <p:sp>
        <p:nvSpPr>
          <p:cNvPr id="140" name="marketing-copy"/>
          <p:cNvSpPr txBox="1"/>
          <p:nvPr/>
        </p:nvSpPr>
        <p:spPr>
          <a:xfrm>
            <a:off x="640079" y="1178327"/>
            <a:ext cx="786384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defRPr>
            </a:lvl1pPr>
          </a:lstStyle>
          <a:p>
            <a:pPr/>
            <a:r>
              <a:t>Guests call them runs, never “trails.” Every status uses StatusBadge.</a:t>
            </a:r>
          </a:p>
        </p:txBody>
      </p:sp>
      <p:sp>
        <p:nvSpPr>
          <p:cNvPr id="141" name="lab-n-01"/>
          <p:cNvSpPr txBox="1"/>
          <p:nvPr/>
        </p:nvSpPr>
        <p:spPr>
          <a:xfrm>
            <a:off x="457199" y="1937511"/>
            <a:ext cx="5029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01</a:t>
            </a:r>
          </a:p>
        </p:txBody>
      </p:sp>
      <p:sp>
        <p:nvSpPr>
          <p:cNvPr id="142" name="lab-text-01"/>
          <p:cNvSpPr txBox="1"/>
          <p:nvPr/>
        </p:nvSpPr>
        <p:spPr>
          <a:xfrm>
            <a:off x="1051559" y="1928135"/>
            <a:ext cx="763524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defRPr>
            </a:lvl1pPr>
          </a:lstStyle>
          <a:p>
            <a:pPr/>
            <a:r>
              <a:t>New chat. Send the open-trails prompt from Part 2 of the handout.</a:t>
            </a:r>
          </a:p>
        </p:txBody>
      </p:sp>
      <p:sp>
        <p:nvSpPr>
          <p:cNvPr id="143" name="lab-n-02"/>
          <p:cNvSpPr txBox="1"/>
          <p:nvPr/>
        </p:nvSpPr>
        <p:spPr>
          <a:xfrm>
            <a:off x="457199" y="2559304"/>
            <a:ext cx="5029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02</a:t>
            </a:r>
          </a:p>
        </p:txBody>
      </p:sp>
      <p:sp>
        <p:nvSpPr>
          <p:cNvPr id="144" name="lab-text-02"/>
          <p:cNvSpPr txBox="1"/>
          <p:nvPr/>
        </p:nvSpPr>
        <p:spPr>
          <a:xfrm>
            <a:off x="1051559" y="2549927"/>
            <a:ext cx="763524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defRPr>
            </a:lvl1pPr>
          </a:lstStyle>
          <a:p>
            <a:pPr/>
            <a:r>
              <a:t>Name the do and don't. Write the rule with /create-rule.</a:t>
            </a:r>
          </a:p>
        </p:txBody>
      </p:sp>
      <p:sp>
        <p:nvSpPr>
          <p:cNvPr id="145" name="lab-n-03"/>
          <p:cNvSpPr txBox="1"/>
          <p:nvPr/>
        </p:nvSpPr>
        <p:spPr>
          <a:xfrm>
            <a:off x="457199" y="3181096"/>
            <a:ext cx="5029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chemeClr val="accent2"/>
                </a:solidFill>
                <a:latin typeface="Courier New"/>
                <a:ea typeface="Courier New"/>
                <a:cs typeface="Courier New"/>
                <a:sym typeface="Courier New"/>
              </a:defRPr>
            </a:lvl1pPr>
          </a:lstStyle>
          <a:p>
            <a:pPr/>
            <a:r>
              <a:t>03</a:t>
            </a:r>
          </a:p>
        </p:txBody>
      </p:sp>
      <p:sp>
        <p:nvSpPr>
          <p:cNvPr id="146" name="lab-text-03"/>
          <p:cNvSpPr txBox="1"/>
          <p:nvPr/>
        </p:nvSpPr>
        <p:spPr>
          <a:xfrm>
            <a:off x="1051559" y="3171719"/>
            <a:ext cx="7635242"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defRPr>
            </a:lvl1pPr>
          </a:lstStyle>
          <a:p>
            <a:pPr/>
            <a:r>
              <a:t>New chat, same prompt. Post a ski in chat when you see Open Runs.</a:t>
            </a:r>
          </a:p>
        </p:txBody>
      </p:sp>
      <p:sp>
        <p:nvSpPr>
          <p:cNvPr id="147" name="Slide Number Placeholder 0"/>
          <p:cNvSpPr txBox="1"/>
          <p:nvPr>
            <p:ph type="sldNum" sz="quarter" idx="4294967295"/>
          </p:nvPr>
        </p:nvSpPr>
        <p:spPr>
          <a:xfrm>
            <a:off x="8549640" y="4828032"/>
            <a:ext cx="174772" cy="2269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Text 0"/>
          <p:cNvSpPr txBox="1"/>
          <p:nvPr>
            <p:ph type="title"/>
          </p:nvPr>
        </p:nvSpPr>
        <p:spPr>
          <a:xfrm>
            <a:off x="457200" y="292608"/>
            <a:ext cx="8229600" cy="530353"/>
          </a:xfrm>
          <a:prstGeom prst="rect">
            <a:avLst/>
          </a:prstGeom>
        </p:spPr>
        <p:txBody>
          <a:bodyPr lIns="0" tIns="0" rIns="0" bIns="0" anchor="ctr"/>
          <a:lstStyle/>
          <a:p>
            <a:pPr/>
            <a:r>
              <a:t>Should it be a rule?</a:t>
            </a:r>
          </a:p>
        </p:txBody>
      </p:sp>
      <p:sp>
        <p:nvSpPr>
          <p:cNvPr id="152" name="row-1"/>
          <p:cNvSpPr/>
          <p:nvPr/>
        </p:nvSpPr>
        <p:spPr>
          <a:xfrm>
            <a:off x="457200" y="932688"/>
            <a:ext cx="8229600" cy="402337"/>
          </a:xfrm>
          <a:prstGeom prst="rect">
            <a:avLst/>
          </a:prstGeom>
          <a:solidFill>
            <a:srgbClr val="141414"/>
          </a:solidFill>
          <a:ln w="12700">
            <a:miter lim="400000"/>
          </a:ln>
        </p:spPr>
        <p:txBody>
          <a:bodyPr lIns="45719" rIns="45719"/>
          <a:lstStyle/>
          <a:p>
            <a:pPr/>
          </a:p>
        </p:txBody>
      </p:sp>
      <p:sp>
        <p:nvSpPr>
          <p:cNvPr id="153" name="if-1"/>
          <p:cNvSpPr txBox="1"/>
          <p:nvPr/>
        </p:nvSpPr>
        <p:spPr>
          <a:xfrm>
            <a:off x="621791" y="1029022"/>
            <a:ext cx="41148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2"/>
                </a:solidFill>
              </a:defRPr>
            </a:lvl1pPr>
          </a:lstStyle>
          <a:p>
            <a:pPr/>
            <a:r>
              <a:t>You've had to say it twice</a:t>
            </a:r>
          </a:p>
        </p:txBody>
      </p:sp>
      <p:sp>
        <p:nvSpPr>
          <p:cNvPr id="154" name="then-1"/>
          <p:cNvSpPr txBox="1"/>
          <p:nvPr/>
        </p:nvSpPr>
        <p:spPr>
          <a:xfrm>
            <a:off x="4846320" y="1029022"/>
            <a:ext cx="36576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Write a rule</a:t>
            </a:r>
          </a:p>
        </p:txBody>
      </p:sp>
      <p:sp>
        <p:nvSpPr>
          <p:cNvPr id="155" name="if-2"/>
          <p:cNvSpPr txBox="1"/>
          <p:nvPr/>
        </p:nvSpPr>
        <p:spPr>
          <a:xfrm>
            <a:off x="621791" y="1467934"/>
            <a:ext cx="41148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2"/>
                </a:solidFill>
              </a:defRPr>
            </a:lvl1pPr>
          </a:lstStyle>
          <a:p>
            <a:pPr/>
            <a:r>
              <a:t>A linter or test could check it</a:t>
            </a:r>
          </a:p>
        </p:txBody>
      </p:sp>
      <p:sp>
        <p:nvSpPr>
          <p:cNvPr id="156" name="then-2"/>
          <p:cNvSpPr txBox="1"/>
          <p:nvPr/>
        </p:nvSpPr>
        <p:spPr>
          <a:xfrm>
            <a:off x="4846320" y="1467934"/>
            <a:ext cx="36576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Use the linter or test instead</a:t>
            </a:r>
          </a:p>
        </p:txBody>
      </p:sp>
      <p:sp>
        <p:nvSpPr>
          <p:cNvPr id="157" name="row-3"/>
          <p:cNvSpPr/>
          <p:nvPr/>
        </p:nvSpPr>
        <p:spPr>
          <a:xfrm>
            <a:off x="457200" y="1810511"/>
            <a:ext cx="8229600" cy="402337"/>
          </a:xfrm>
          <a:prstGeom prst="rect">
            <a:avLst/>
          </a:prstGeom>
          <a:solidFill>
            <a:srgbClr val="141414"/>
          </a:solidFill>
          <a:ln w="12700">
            <a:miter lim="400000"/>
          </a:ln>
        </p:spPr>
        <p:txBody>
          <a:bodyPr lIns="45719" rIns="45719"/>
          <a:lstStyle/>
          <a:p>
            <a:pPr/>
          </a:p>
        </p:txBody>
      </p:sp>
      <p:sp>
        <p:nvSpPr>
          <p:cNvPr id="158" name="if-3"/>
          <p:cNvSpPr txBox="1"/>
          <p:nvPr/>
        </p:nvSpPr>
        <p:spPr>
          <a:xfrm>
            <a:off x="621791" y="1906846"/>
            <a:ext cx="41148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2"/>
                </a:solidFill>
              </a:defRPr>
            </a:lvl1pPr>
          </a:lstStyle>
          <a:p>
            <a:pPr/>
            <a:r>
              <a:t>It only applies to some files</a:t>
            </a:r>
          </a:p>
        </p:txBody>
      </p:sp>
      <p:sp>
        <p:nvSpPr>
          <p:cNvPr id="159" name="then-3"/>
          <p:cNvSpPr txBox="1"/>
          <p:nvPr/>
        </p:nvSpPr>
        <p:spPr>
          <a:xfrm>
            <a:off x="4846320" y="1906846"/>
            <a:ext cx="36576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Add globs</a:t>
            </a:r>
          </a:p>
        </p:txBody>
      </p:sp>
      <p:sp>
        <p:nvSpPr>
          <p:cNvPr id="160" name="if-4"/>
          <p:cNvSpPr txBox="1"/>
          <p:nvPr/>
        </p:nvSpPr>
        <p:spPr>
          <a:xfrm>
            <a:off x="621791" y="2345758"/>
            <a:ext cx="41148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2"/>
                </a:solidFill>
              </a:defRPr>
            </a:lvl1pPr>
          </a:lstStyle>
          <a:p>
            <a:pPr/>
            <a:r>
              <a:t>It should always be on</a:t>
            </a:r>
          </a:p>
        </p:txBody>
      </p:sp>
      <p:sp>
        <p:nvSpPr>
          <p:cNvPr id="161" name="then-4"/>
          <p:cNvSpPr txBox="1"/>
          <p:nvPr/>
        </p:nvSpPr>
        <p:spPr>
          <a:xfrm>
            <a:off x="4846320" y="2345758"/>
            <a:ext cx="36576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Set alwaysApply: true</a:t>
            </a:r>
          </a:p>
        </p:txBody>
      </p:sp>
      <p:sp>
        <p:nvSpPr>
          <p:cNvPr id="162" name="row-5"/>
          <p:cNvSpPr/>
          <p:nvPr/>
        </p:nvSpPr>
        <p:spPr>
          <a:xfrm>
            <a:off x="457200" y="2688335"/>
            <a:ext cx="8229600" cy="402337"/>
          </a:xfrm>
          <a:prstGeom prst="rect">
            <a:avLst/>
          </a:prstGeom>
          <a:solidFill>
            <a:srgbClr val="141414"/>
          </a:solidFill>
          <a:ln w="12700">
            <a:miter lim="400000"/>
          </a:ln>
        </p:spPr>
        <p:txBody>
          <a:bodyPr lIns="45719" rIns="45719"/>
          <a:lstStyle/>
          <a:p>
            <a:pPr/>
          </a:p>
        </p:txBody>
      </p:sp>
      <p:sp>
        <p:nvSpPr>
          <p:cNvPr id="163" name="if-5"/>
          <p:cNvSpPr txBox="1"/>
          <p:nvPr/>
        </p:nvSpPr>
        <p:spPr>
          <a:xfrm>
            <a:off x="621791" y="2784670"/>
            <a:ext cx="41148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2"/>
                </a:solidFill>
              </a:defRPr>
            </a:lvl1pPr>
          </a:lstStyle>
          <a:p>
            <a:pPr/>
            <a:r>
              <a:t>It's about security</a:t>
            </a:r>
          </a:p>
        </p:txBody>
      </p:sp>
      <p:sp>
        <p:nvSpPr>
          <p:cNvPr id="164" name="then-5"/>
          <p:cNvSpPr txBox="1"/>
          <p:nvPr/>
        </p:nvSpPr>
        <p:spPr>
          <a:xfrm>
            <a:off x="4846320" y="2784670"/>
            <a:ext cx="36576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chemeClr val="accent1"/>
                </a:solidFill>
              </a:defRPr>
            </a:lvl1pPr>
          </a:lstStyle>
          <a:p>
            <a:pPr/>
            <a:r>
              <a:t>Don't rely on a rule alone</a:t>
            </a:r>
          </a:p>
        </p:txBody>
      </p:sp>
      <p:sp>
        <p:nvSpPr>
          <p:cNvPr id="165" name="tip"/>
          <p:cNvSpPr txBox="1"/>
          <p:nvPr/>
        </p:nvSpPr>
        <p:spPr>
          <a:xfrm>
            <a:off x="457200" y="3294380"/>
            <a:ext cx="82296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chemeClr val="accent2"/>
                </a:solidFill>
                <a:latin typeface="Courier New"/>
                <a:ea typeface="Courier New"/>
                <a:cs typeface="Courier New"/>
                <a:sym typeface="Courier New"/>
              </a:defRPr>
            </a:lvl1pPr>
          </a:lstStyle>
          <a:p>
            <a:pPr/>
            <a:r>
              <a:t>/  Rules don't apply to Tab, so completions might still say trails.</a:t>
            </a:r>
          </a:p>
        </p:txBody>
      </p:sp>
      <p:sp>
        <p:nvSpPr>
          <p:cNvPr id="166" name="monday"/>
          <p:cNvSpPr txBox="1"/>
          <p:nvPr/>
        </p:nvSpPr>
        <p:spPr>
          <a:xfrm>
            <a:off x="457200" y="3756935"/>
            <a:ext cx="82296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chemeClr val="accent1"/>
                </a:solidFill>
              </a:defRPr>
            </a:lvl1pPr>
          </a:lstStyle>
          <a:p>
            <a:pPr/>
            <a:r>
              <a:t>Your challenge: write one rule on your own, then paste it in chat.</a:t>
            </a:r>
          </a:p>
        </p:txBody>
      </p:sp>
      <p:sp>
        <p:nvSpPr>
          <p:cNvPr id="167" name="Slide Number Placeholder 0"/>
          <p:cNvSpPr txBox="1"/>
          <p:nvPr>
            <p:ph type="sldNum" sz="quarter" idx="4294967295"/>
          </p:nvPr>
        </p:nvSpPr>
        <p:spPr>
          <a:xfrm>
            <a:off x="8549640" y="4828032"/>
            <a:ext cx="174772" cy="22698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ursor">
  <a:themeElements>
    <a:clrScheme name="Cursor">
      <a:dk1>
        <a:srgbClr val="0A0A0A"/>
      </a:dk1>
      <a:lt1>
        <a:srgbClr val="0A0A0A"/>
      </a:lt1>
      <a:dk2>
        <a:srgbClr val="A7A7A7"/>
      </a:dk2>
      <a:lt2>
        <a:srgbClr val="535353"/>
      </a:lt2>
      <a:accent1>
        <a:srgbClr val="F2F2F2"/>
      </a:accent1>
      <a:accent2>
        <a:srgbClr val="8A8A8A"/>
      </a:accent2>
      <a:accent3>
        <a:srgbClr val="2A2A2A"/>
      </a:accent3>
      <a:accent4>
        <a:srgbClr val="888888"/>
      </a:accent4>
      <a:accent5>
        <a:srgbClr val="4D4D4D"/>
      </a:accent5>
      <a:accent6>
        <a:srgbClr val="181818"/>
      </a:accent6>
      <a:hlink>
        <a:srgbClr val="0000FF"/>
      </a:hlink>
      <a:folHlink>
        <a:srgbClr val="FF00FF"/>
      </a:folHlink>
    </a:clrScheme>
    <a:fontScheme name="Cursor">
      <a:majorFont>
        <a:latin typeface="Helvetica"/>
        <a:ea typeface="Helvetica"/>
        <a:cs typeface="Helvetica"/>
      </a:majorFont>
      <a:minorFont>
        <a:latin typeface="Arial"/>
        <a:ea typeface="Arial"/>
        <a:cs typeface="Arial"/>
      </a:minorFont>
    </a:fontScheme>
    <a:fmtScheme name="Curs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ursor">
  <a:themeElements>
    <a:clrScheme name="Cursor">
      <a:dk1>
        <a:srgbClr val="0A0A0A"/>
      </a:dk1>
      <a:lt1>
        <a:srgbClr val="FFFFFF"/>
      </a:lt1>
      <a:dk2>
        <a:srgbClr val="A7A7A7"/>
      </a:dk2>
      <a:lt2>
        <a:srgbClr val="535353"/>
      </a:lt2>
      <a:accent1>
        <a:srgbClr val="F2F2F2"/>
      </a:accent1>
      <a:accent2>
        <a:srgbClr val="8A8A8A"/>
      </a:accent2>
      <a:accent3>
        <a:srgbClr val="2A2A2A"/>
      </a:accent3>
      <a:accent4>
        <a:srgbClr val="888888"/>
      </a:accent4>
      <a:accent5>
        <a:srgbClr val="4D4D4D"/>
      </a:accent5>
      <a:accent6>
        <a:srgbClr val="181818"/>
      </a:accent6>
      <a:hlink>
        <a:srgbClr val="0000FF"/>
      </a:hlink>
      <a:folHlink>
        <a:srgbClr val="FF00FF"/>
      </a:folHlink>
    </a:clrScheme>
    <a:fontScheme name="Cursor">
      <a:majorFont>
        <a:latin typeface="Helvetica"/>
        <a:ea typeface="Helvetica"/>
        <a:cs typeface="Helvetica"/>
      </a:majorFont>
      <a:minorFont>
        <a:latin typeface="Arial"/>
        <a:ea typeface="Arial"/>
        <a:cs typeface="Arial"/>
      </a:minorFont>
    </a:fontScheme>
    <a:fmtScheme name="Curs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A0A0A"/>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