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f8fe55d5-72b3-2858-f730-43aa95404cc2}">
          <p14:sldIdLst>
            <p14:sldId id="256"/>
            <p14:sldId id="257"/>
            <p14:sldId id="258"/>
            <p14:sldId id="259"/>
          </p14:sldIdLst>
        </p14:section>
        <p14:section name="Demo" id="{79816079-296d-eaa7-1ed1-281f158168a8}">
          <p14:sldIdLst>
            <p14:sldId id="260"/>
            <p14:sldId id="261"/>
            <p14:sldId id="262"/>
          </p14:sldIdLst>
        </p14:section>
        <p14:section name="Build" id="{9e8264ee-1d7f-ad8f-55dd-219289182070}">
          <p14:sldIdLst>
            <p14:sldId id="263"/>
          </p14:sldIdLst>
        </p14:section>
        <p14:section name="Takeaway" id="{dbe06dd3-4734-0969-006a-0766c4ec0dc6}">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Eve. I train engineering teams on this for a living: React, GraphQL, and now Cursor. This is a 15-minute slice of the first thing I teach when a team gets seats: stop re-explaining yourselves in chat.
Snowtooth is a fake ski resort I've used for years, so nobody spends the hour learning a domain. The lift board is the stand-in for your app.
Why this open: I want them looking at a real artifact, not a feature list. If I open Cursor settings first, they remember a menu. If I start from the annoyance, they remember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clone command and the handout link into chat right away. The repo is the only thing they need for the hands-on part.
Tell the story while they clone: Snowtooth stands in for their repo, and it's their first week on the team. Don't wait in silence.
Why no npm install: the agent's mistakes show up in the diff. Skipping the dev server removes the most likely setup failure.
Anyone who can't clone watches my screen for Part 1 and does the handout later. Don't hold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 see every week: someone pastes the same correction into chat. It works. They close the tab. Tomorrow the agent does it again. A teammate never saw it.
That's not a prompting skill issue. The team has no memory.
Start from the actual annoyance, not the Rules UI. LiftBoard is still on a raw fetch on purpose. Leftover code the agent will copy. I will not fix it in this session. Rules are for next time.
Real-world translation: your company bought Cursor seats. Some people are power users. Most are pasting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all observable in the room. I cut skills, user rules, team rules, Plan mode, and fixing LiftBoard. One loop: miss, encode, new chat, commit.
Why three: that's all 15 minutes can hold with a live agent.
We skip icebreakers and go straight to the product. Fifteen minutes is already tight.
Snowtooth stands in for their repo. They already know React. The unfamiliar thing is the team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branch. New Agent chat. Exact prompt on the slide. Everyone sends it in their own Cursor at the same time, then I ask: who got fetch, who got getTrails()? Expect a mix.
LiftBoard still fetches the public API and hand-styles status. That leftover is intentional, so the agent has a bad example to copy. StatusBadge and getTrails() already exist. The model just doesn't know they're the law.
If it unexpectedly uses the client, backup prompt: 'Add a night-skiing trails list.' If that also succeeds, narrate: sometimes the model guesses. The rule is how we stop guessing.
Why the miss comes first: a clean success doesn't teach. Contrast does.
Then restore the Checkpoint (Cursor's restore, not git checkout) and we write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write this live with /create-rule, then we read the file together. That's the Cursor-native path, and they still learn to read an .mdc.
Description so the agent knows when. One do, one don't, in real code. Point at @lib/snowtooth.ts instead of pasting the client. Pasted copies go stale. That's a real Cursor best practice, not a style preference.
Live-demo choice: alwaysApply true so it actually fires in the next two minutes. Apply Intelligently is the right default at work. I will not gamble a 15-minute session on the model deciding. We name that tradeoff on the last slide.
Two concerns in one file is a smell. I still do one file so they finish. I'd split on a 45-minute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chat. Same prompt. It should call getTrails(). I point at the rule pill so they see why: it was in the prompt this time, not because the last chat remembered.
Then I commit. That is the whole topic. A rule on your laptop is a user preference. A rule in git is how the team gets the same behavior tomorrow.
If it fails: check the pill, confirm alwaysApply, one more new chat. Then flip to the checkpoint branch and play the 90-second recording.
Tip I say with my hands on the product: restore a Checkpoint to undo the first panel. Don't git checkout during the demo unless the agent goes off the rails.
Optional if time: 'Add the grooming report too.' Same client. I skip it if we're late. The trails panel is the whole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loop, wording instead of data, and this time they do it themselves. Before anyone writes the rule, the room names the do and don't, and I type it into chat so anyone behind can copy it.
The ski count in chat is my in-room check. I want most of the room there by the 11-minute mark. If we're late, stop after they name the convention. The handout has the rest.
handout.md is in .cursorignore so the agent can't read it. The extra credit lives in the handout for after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slide I want them photographing.
Walk the table fast. The security line matters: AI guidance is not a control. The Tab line is the gotcha from the docs: rules do not apply to Tab or Cmd+K. Don't let them think the rule is broken when completions still say trails.
Skills get one sentence: use a skill when you keep explaining a whole routine, not a sentence. That's why skills wait for a later session.
How you know it worked: in the room, Open Runs + StatusBadge. Next week, a rule lands in the repo, and the next feature request isn't preceded by 'remember, we say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rtlCol="0"/>
          <a:lstStyle>
            <a:lvl1pPr algn="l" indent="0" marL="0">
              <a:buNone/>
              <a:defRPr lang="en-US" sz="4400" dirty="0">
                <a:solidFill>
                  <a:srgbClr val="F2F2F2"/>
                </a:solidFill>
                <a:latin typeface="Arial" pitchFamily="34" charset="0"/>
                <a:ea typeface="Arial" pitchFamily="34" charset="-122"/>
                <a:cs typeface="Arial"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rtlCol="0"/>
          <a:lstStyle>
            <a:lvl1pPr algn="l" indent="0" marL="0">
              <a:buNone/>
              <a:defRPr lang="en-US" sz="2600" dirty="0">
                <a:solidFill>
                  <a:srgbClr val="F2F2F2"/>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lIns="0" tIns="0" rIns="0" bIns="0" rtlCol="0" anchor="ctr"/>
          <a:lstStyle/>
          <a:p>
            <a:pPr algn="l" indent="0" marL="0">
              <a:buNone/>
            </a:pPr>
            <a:r>
              <a:rPr lang="en-US" sz="4400" dirty="0">
                <a:solidFill>
                  <a:srgbClr val="F2F2F2"/>
                </a:solidFill>
                <a:latin typeface="Arial" pitchFamily="34" charset="0"/>
                <a:ea typeface="Arial" pitchFamily="34" charset="-122"/>
                <a:cs typeface="Arial" pitchFamily="34" charset="-120"/>
              </a:rPr>
              <a:t>Stop repeating yourself</a:t>
            </a:r>
            <a:endParaRPr lang="en-US" sz="4400" dirty="0"/>
          </a:p>
          <a:p>
            <a:pPr algn="l" indent="0" marL="0">
              <a:buNone/>
            </a:pPr>
            <a:r>
              <a:rPr lang="en-US" sz="4400" dirty="0">
                <a:solidFill>
                  <a:srgbClr val="F2F2F2"/>
                </a:solidFill>
                <a:latin typeface="Arial" pitchFamily="34" charset="0"/>
                <a:ea typeface="Arial" pitchFamily="34" charset="-122"/>
                <a:cs typeface="Arial" pitchFamily="34" charset="-120"/>
              </a:rPr>
              <a:t>to Cursor</a:t>
            </a:r>
            <a:endParaRPr lang="en-US" sz="4400" dirty="0"/>
          </a:p>
        </p:txBody>
      </p:sp>
      <p:sp>
        <p:nvSpPr>
          <p:cNvPr id="3" name="eyebrow"/>
          <p:cNvSpPr txBox="1"/>
          <p:nvPr/>
        </p:nvSpPr>
        <p:spPr>
          <a:xfrm>
            <a:off x="548640" y="1170432"/>
            <a:ext cx="8046720" cy="256032"/>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SNOWTOOTH</a:t>
            </a:r>
            <a:endParaRPr lang="en-US" sz="1200" dirty="0"/>
          </a:p>
        </p:txBody>
      </p:sp>
      <p:sp>
        <p:nvSpPr>
          <p:cNvPr id="4" name="byline"/>
          <p:cNvSpPr txBox="1"/>
          <p:nvPr/>
        </p:nvSpPr>
        <p:spPr>
          <a:xfrm>
            <a:off x="548640" y="3291840"/>
            <a:ext cx="8046720" cy="292608"/>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15 min   Eve Porcello   a rule the team can use tomorrow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Get the repo. Open it in Cursor.</a:t>
            </a:r>
            <a:endParaRPr lang="en-US" sz="2600" dirty="0"/>
          </a:p>
        </p:txBody>
      </p:sp>
      <p:sp>
        <p:nvSpPr>
          <p:cNvPr id="3" name="clone-card"/>
          <p:cNvSpPr/>
          <p:nvPr/>
        </p:nvSpPr>
        <p:spPr>
          <a:xfrm>
            <a:off x="457200" y="987552"/>
            <a:ext cx="8229600" cy="1188720"/>
          </a:xfrm>
          <a:prstGeom prst="rect">
            <a:avLst/>
          </a:prstGeom>
          <a:solidFill>
            <a:srgbClr val="141414"/>
          </a:solidFill>
          <a:ln/>
        </p:spPr>
      </p:sp>
      <p:sp>
        <p:nvSpPr>
          <p:cNvPr id="4" name="clone-label"/>
          <p:cNvSpPr txBox="1"/>
          <p:nvPr/>
        </p:nvSpPr>
        <p:spPr>
          <a:xfrm>
            <a:off x="658368" y="1115568"/>
            <a:ext cx="777240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TERMINAL</a:t>
            </a:r>
            <a:endParaRPr lang="en-US" sz="1100" dirty="0"/>
          </a:p>
        </p:txBody>
      </p:sp>
      <p:sp>
        <p:nvSpPr>
          <p:cNvPr id="5" name="clone-command"/>
          <p:cNvSpPr txBox="1"/>
          <p:nvPr/>
        </p:nvSpPr>
        <p:spPr>
          <a:xfrm>
            <a:off x="658368" y="1444752"/>
            <a:ext cx="7827264" cy="548640"/>
          </a:xfrm>
          <a:prstGeom prst="rect">
            <a:avLst/>
          </a:prstGeom>
          <a:noFill/>
          <a:ln/>
        </p:spPr>
        <p:txBody>
          <a:bodyPr wrap="square" lIns="0" tIns="0" rIns="0" bIns="0" rtlCol="0" anchor="ctr"/>
          <a:lstStyle/>
          <a:p>
            <a:pPr indent="0" marL="0">
              <a:buNone/>
            </a:pPr>
            <a:r>
              <a:rPr lang="en-US" sz="1600" dirty="0">
                <a:solidFill>
                  <a:srgbClr val="F2F2F2"/>
                </a:solidFill>
                <a:latin typeface="Courier New" pitchFamily="34" charset="0"/>
                <a:ea typeface="Courier New" pitchFamily="34" charset="-122"/>
                <a:cs typeface="Courier New" pitchFamily="34" charset="-120"/>
              </a:rPr>
              <a:t>git clone https://github.com/eveporcello/snowtooth-rules.git</a:t>
            </a:r>
            <a:endParaRPr lang="en-US" sz="1600" dirty="0"/>
          </a:p>
        </p:txBody>
      </p:sp>
      <p:sp>
        <p:nvSpPr>
          <p:cNvPr id="6" name="setup-n-01"/>
          <p:cNvSpPr txBox="1"/>
          <p:nvPr/>
        </p:nvSpPr>
        <p:spPr>
          <a:xfrm>
            <a:off x="457200" y="2377440"/>
            <a:ext cx="502920" cy="3840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7" name="setup-text-01"/>
          <p:cNvSpPr txBox="1"/>
          <p:nvPr/>
        </p:nvSpPr>
        <p:spPr>
          <a:xfrm>
            <a:off x="1051560" y="2377440"/>
            <a:ext cx="7635240" cy="384048"/>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Open the snowtooth-rules folder in Cursor. Stay on main.</a:t>
            </a:r>
            <a:endParaRPr lang="en-US" sz="1600" dirty="0"/>
          </a:p>
        </p:txBody>
      </p:sp>
      <p:sp>
        <p:nvSpPr>
          <p:cNvPr id="8" name="setup-n-02"/>
          <p:cNvSpPr txBox="1"/>
          <p:nvPr/>
        </p:nvSpPr>
        <p:spPr>
          <a:xfrm>
            <a:off x="457200" y="2834640"/>
            <a:ext cx="502920" cy="3840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9" name="setup-text-02"/>
          <p:cNvSpPr txBox="1"/>
          <p:nvPr/>
        </p:nvSpPr>
        <p:spPr>
          <a:xfrm>
            <a:off x="1051560" y="2834640"/>
            <a:ext cx="7635240" cy="384048"/>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Open workshop/handout.md. That's what we'll follow.</a:t>
            </a:r>
            <a:endParaRPr lang="en-US" sz="1600" dirty="0"/>
          </a:p>
        </p:txBody>
      </p:sp>
      <p:sp>
        <p:nvSpPr>
          <p:cNvPr id="10" name="setup-n-03"/>
          <p:cNvSpPr txBox="1"/>
          <p:nvPr/>
        </p:nvSpPr>
        <p:spPr>
          <a:xfrm>
            <a:off x="457200" y="3291840"/>
            <a:ext cx="502920" cy="3840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1" name="setup-text-03"/>
          <p:cNvSpPr txBox="1"/>
          <p:nvPr/>
        </p:nvSpPr>
        <p:spPr>
          <a:xfrm>
            <a:off x="1051560" y="3291840"/>
            <a:ext cx="7635240" cy="384048"/>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No npm install. We'll read diffs, not the browser.</a:t>
            </a:r>
            <a:endParaRPr lang="en-US" sz="1600" dirty="0"/>
          </a:p>
        </p:txBody>
      </p:sp>
      <p:sp>
        <p:nvSpPr>
          <p:cNvPr id="12"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Clone, don't download the ZIP. You'll commit your rules.</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 keep typing the same correction</a:t>
            </a:r>
            <a:endParaRPr lang="en-US" sz="2600" dirty="0"/>
          </a:p>
        </p:txBody>
      </p:sp>
      <p:sp>
        <p:nvSpPr>
          <p:cNvPr id="3" name="quote-card"/>
          <p:cNvSpPr/>
          <p:nvPr/>
        </p:nvSpPr>
        <p:spPr>
          <a:xfrm>
            <a:off x="457200" y="987552"/>
            <a:ext cx="8229600" cy="1115568"/>
          </a:xfrm>
          <a:prstGeom prst="rect">
            <a:avLst/>
          </a:prstGeom>
          <a:solidFill>
            <a:srgbClr val="141414"/>
          </a:solidFill>
          <a:ln/>
        </p:spPr>
      </p:sp>
      <p:sp>
        <p:nvSpPr>
          <p:cNvPr id="4" name="quote"/>
          <p:cNvSpPr txBox="1"/>
          <p:nvPr/>
        </p:nvSpPr>
        <p:spPr>
          <a:xfrm>
            <a:off x="676656" y="1115568"/>
            <a:ext cx="7790688" cy="868680"/>
          </a:xfrm>
          <a:prstGeom prst="rect">
            <a:avLst/>
          </a:prstGeom>
          <a:noFill/>
          <a:ln/>
        </p:spPr>
        <p:txBody>
          <a:bodyPr wrap="square" lIns="0" tIns="0" rIns="0" bIns="0" rtlCol="0" anchor="ctr"/>
          <a:lstStyle/>
          <a:p>
            <a:pPr indent="0" marL="0">
              <a:buNone/>
            </a:pPr>
            <a:r>
              <a:rPr lang="en-US" sz="2200" dirty="0">
                <a:solidFill>
                  <a:srgbClr val="F2F2F2"/>
                </a:solidFill>
                <a:latin typeface="Arial" pitchFamily="34" charset="0"/>
                <a:ea typeface="Arial" pitchFamily="34" charset="-122"/>
                <a:cs typeface="Arial" pitchFamily="34" charset="-120"/>
              </a:rPr>
              <a:t>“Remember, we don't fetch in components. Use the data client.”</a:t>
            </a:r>
            <a:endParaRPr lang="en-US" sz="2200" dirty="0"/>
          </a:p>
        </p:txBody>
      </p:sp>
      <p:sp>
        <p:nvSpPr>
          <p:cNvPr id="5" name="problem-card-1"/>
          <p:cNvSpPr/>
          <p:nvPr/>
        </p:nvSpPr>
        <p:spPr>
          <a:xfrm>
            <a:off x="457200" y="2286000"/>
            <a:ext cx="2697480" cy="1371600"/>
          </a:xfrm>
          <a:prstGeom prst="rect">
            <a:avLst/>
          </a:prstGeom>
          <a:solidFill>
            <a:srgbClr val="141414"/>
          </a:solidFill>
          <a:ln/>
        </p:spPr>
      </p:sp>
      <p:sp>
        <p:nvSpPr>
          <p:cNvPr id="6" name="problem-title-1"/>
          <p:cNvSpPr txBox="1"/>
          <p:nvPr/>
        </p:nvSpPr>
        <p:spPr>
          <a:xfrm>
            <a:off x="62179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Chat closes</a:t>
            </a:r>
            <a:endParaRPr lang="en-US" sz="1500" dirty="0"/>
          </a:p>
        </p:txBody>
      </p:sp>
      <p:sp>
        <p:nvSpPr>
          <p:cNvPr id="7" name="problem-body-1"/>
          <p:cNvSpPr txBox="1"/>
          <p:nvPr/>
        </p:nvSpPr>
        <p:spPr>
          <a:xfrm>
            <a:off x="62179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The correction dies with the tab.</a:t>
            </a:r>
            <a:endParaRPr lang="en-US" sz="1400" dirty="0"/>
          </a:p>
        </p:txBody>
      </p:sp>
      <p:sp>
        <p:nvSpPr>
          <p:cNvPr id="8" name="problem-card-2"/>
          <p:cNvSpPr/>
          <p:nvPr/>
        </p:nvSpPr>
        <p:spPr>
          <a:xfrm>
            <a:off x="3291840" y="2286000"/>
            <a:ext cx="2697480" cy="1371600"/>
          </a:xfrm>
          <a:prstGeom prst="rect">
            <a:avLst/>
          </a:prstGeom>
          <a:solidFill>
            <a:srgbClr val="141414"/>
          </a:solidFill>
          <a:ln/>
        </p:spPr>
      </p:sp>
      <p:sp>
        <p:nvSpPr>
          <p:cNvPr id="9" name="problem-title-2"/>
          <p:cNvSpPr txBox="1"/>
          <p:nvPr/>
        </p:nvSpPr>
        <p:spPr>
          <a:xfrm>
            <a:off x="345643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Teammate never saw it</a:t>
            </a:r>
            <a:endParaRPr lang="en-US" sz="1500" dirty="0"/>
          </a:p>
        </p:txBody>
      </p:sp>
      <p:sp>
        <p:nvSpPr>
          <p:cNvPr id="10" name="problem-body-2"/>
          <p:cNvSpPr txBox="1"/>
          <p:nvPr/>
        </p:nvSpPr>
        <p:spPr>
          <a:xfrm>
            <a:off x="345643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Alex still gets the raw fetch tomorrow.</a:t>
            </a:r>
            <a:endParaRPr lang="en-US" sz="1400" dirty="0"/>
          </a:p>
        </p:txBody>
      </p:sp>
      <p:sp>
        <p:nvSpPr>
          <p:cNvPr id="11" name="problem-card-3"/>
          <p:cNvSpPr/>
          <p:nvPr/>
        </p:nvSpPr>
        <p:spPr>
          <a:xfrm>
            <a:off x="6126480" y="2286000"/>
            <a:ext cx="2697480" cy="1371600"/>
          </a:xfrm>
          <a:prstGeom prst="rect">
            <a:avLst/>
          </a:prstGeom>
          <a:solidFill>
            <a:srgbClr val="141414"/>
          </a:solidFill>
          <a:ln/>
        </p:spPr>
      </p:sp>
      <p:sp>
        <p:nvSpPr>
          <p:cNvPr id="12" name="problem-title-3"/>
          <p:cNvSpPr txBox="1"/>
          <p:nvPr/>
        </p:nvSpPr>
        <p:spPr>
          <a:xfrm>
            <a:off x="629107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Agent copies leftovers</a:t>
            </a:r>
            <a:endParaRPr lang="en-US" sz="1500" dirty="0"/>
          </a:p>
        </p:txBody>
      </p:sp>
      <p:sp>
        <p:nvSpPr>
          <p:cNvPr id="13" name="problem-body-3"/>
          <p:cNvSpPr txBox="1"/>
          <p:nvPr/>
        </p:nvSpPr>
        <p:spPr>
          <a:xfrm>
            <a:off x="629107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LiftBoard still fetches. The next panel will too.</a:t>
            </a:r>
            <a:endParaRPr lang="en-US" sz="1400" dirty="0"/>
          </a:p>
        </p:txBody>
      </p:sp>
      <p:sp>
        <p:nvSpPr>
          <p:cNvPr id="14"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Chat history is not a style guide. Closing the tab wipes the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You'll do this once. Then you stop saying it.</a:t>
            </a:r>
            <a:endParaRPr lang="en-US" sz="2600" dirty="0"/>
          </a:p>
        </p:txBody>
      </p:sp>
      <p:sp>
        <p:nvSpPr>
          <p:cNvPr id="3" name="outcome-row-01"/>
          <p:cNvSpPr/>
          <p:nvPr/>
        </p:nvSpPr>
        <p:spPr>
          <a:xfrm>
            <a:off x="457200" y="1005840"/>
            <a:ext cx="8229600" cy="841248"/>
          </a:xfrm>
          <a:prstGeom prst="rect">
            <a:avLst/>
          </a:prstGeom>
          <a:solidFill>
            <a:srgbClr val="141414"/>
          </a:solidFill>
          <a:ln/>
        </p:spPr>
      </p:sp>
      <p:sp>
        <p:nvSpPr>
          <p:cNvPr id="4" name="outcome-n-01"/>
          <p:cNvSpPr txBox="1"/>
          <p:nvPr/>
        </p:nvSpPr>
        <p:spPr>
          <a:xfrm>
            <a:off x="621792" y="100584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01</a:t>
            </a:r>
            <a:endParaRPr lang="en-US" sz="1800" dirty="0"/>
          </a:p>
        </p:txBody>
      </p:sp>
      <p:sp>
        <p:nvSpPr>
          <p:cNvPr id="5" name="outcome-title-01"/>
          <p:cNvSpPr txBox="1"/>
          <p:nvPr/>
        </p:nvSpPr>
        <p:spPr>
          <a:xfrm>
            <a:off x="1371600" y="111556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Spot it</a:t>
            </a:r>
            <a:endParaRPr lang="en-US" sz="1800" dirty="0"/>
          </a:p>
        </p:txBody>
      </p:sp>
      <p:sp>
        <p:nvSpPr>
          <p:cNvPr id="6" name="outcome-body-01"/>
          <p:cNvSpPr txBox="1"/>
          <p:nvPr/>
        </p:nvSpPr>
        <p:spPr>
          <a:xfrm>
            <a:off x="1371600" y="142646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 correction you've already given twice is a missing rule, not a bad prompt.</a:t>
            </a:r>
            <a:endParaRPr lang="en-US" sz="1400" dirty="0"/>
          </a:p>
        </p:txBody>
      </p:sp>
      <p:sp>
        <p:nvSpPr>
          <p:cNvPr id="7" name="outcome-row-02"/>
          <p:cNvSpPr/>
          <p:nvPr/>
        </p:nvSpPr>
        <p:spPr>
          <a:xfrm>
            <a:off x="457200" y="1965960"/>
            <a:ext cx="8229600" cy="841248"/>
          </a:xfrm>
          <a:prstGeom prst="rect">
            <a:avLst/>
          </a:prstGeom>
          <a:solidFill>
            <a:srgbClr val="141414"/>
          </a:solidFill>
          <a:ln/>
        </p:spPr>
      </p:sp>
      <p:sp>
        <p:nvSpPr>
          <p:cNvPr id="8" name="outcome-n-02"/>
          <p:cNvSpPr txBox="1"/>
          <p:nvPr/>
        </p:nvSpPr>
        <p:spPr>
          <a:xfrm>
            <a:off x="621792" y="196596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02</a:t>
            </a:r>
            <a:endParaRPr lang="en-US" sz="1800" dirty="0"/>
          </a:p>
        </p:txBody>
      </p:sp>
      <p:sp>
        <p:nvSpPr>
          <p:cNvPr id="9" name="outcome-title-02"/>
          <p:cNvSpPr txBox="1"/>
          <p:nvPr/>
        </p:nvSpPr>
        <p:spPr>
          <a:xfrm>
            <a:off x="1371600" y="207568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Write it</a:t>
            </a:r>
            <a:endParaRPr lang="en-US" sz="1800" dirty="0"/>
          </a:p>
        </p:txBody>
      </p:sp>
      <p:sp>
        <p:nvSpPr>
          <p:cNvPr id="10" name="outcome-body-02"/>
          <p:cNvSpPr txBox="1"/>
          <p:nvPr/>
        </p:nvSpPr>
        <p:spPr>
          <a:xfrm>
            <a:off x="1371600" y="238658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One project rule: a description, a do, a don't, and an @ pointer to the real file.</a:t>
            </a:r>
            <a:endParaRPr lang="en-US" sz="1400" dirty="0"/>
          </a:p>
        </p:txBody>
      </p:sp>
      <p:sp>
        <p:nvSpPr>
          <p:cNvPr id="11" name="outcome-row-03"/>
          <p:cNvSpPr/>
          <p:nvPr/>
        </p:nvSpPr>
        <p:spPr>
          <a:xfrm>
            <a:off x="457200" y="2926080"/>
            <a:ext cx="8229600" cy="841248"/>
          </a:xfrm>
          <a:prstGeom prst="rect">
            <a:avLst/>
          </a:prstGeom>
          <a:solidFill>
            <a:srgbClr val="141414"/>
          </a:solidFill>
          <a:ln/>
        </p:spPr>
      </p:sp>
      <p:sp>
        <p:nvSpPr>
          <p:cNvPr id="12" name="outcome-n-03"/>
          <p:cNvSpPr txBox="1"/>
          <p:nvPr/>
        </p:nvSpPr>
        <p:spPr>
          <a:xfrm>
            <a:off x="621792" y="292608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03</a:t>
            </a:r>
            <a:endParaRPr lang="en-US" sz="1800" dirty="0"/>
          </a:p>
        </p:txBody>
      </p:sp>
      <p:sp>
        <p:nvSpPr>
          <p:cNvPr id="13" name="outcome-title-03"/>
          <p:cNvSpPr txBox="1"/>
          <p:nvPr/>
        </p:nvSpPr>
        <p:spPr>
          <a:xfrm>
            <a:off x="1371600" y="303580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Prove it</a:t>
            </a:r>
            <a:endParaRPr lang="en-US" sz="1800" dirty="0"/>
          </a:p>
        </p:txBody>
      </p:sp>
      <p:sp>
        <p:nvSpPr>
          <p:cNvPr id="14" name="outcome-body-03"/>
          <p:cNvSpPr txBox="1"/>
          <p:nvPr/>
        </p:nvSpPr>
        <p:spPr>
          <a:xfrm>
            <a:off x="1371600" y="334670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Same prompt, new chat. Then commit. That's how the next person gets it.</a:t>
            </a:r>
            <a:endParaRPr lang="en-US" sz="1400" dirty="0"/>
          </a:p>
        </p:txBody>
      </p:sp>
      <p:sp>
        <p:nvSpPr>
          <p:cNvPr id="15" name="tip"/>
          <p:cNvSpPr txBox="1"/>
          <p:nvPr/>
        </p:nvSpPr>
        <p:spPr>
          <a:xfrm>
            <a:off x="457200" y="3913632"/>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Snowtooth stands in for your repo. You already know React.</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Same prompt. No rule. See what it copies.</a:t>
            </a:r>
            <a:endParaRPr lang="en-US" sz="2600" dirty="0"/>
          </a:p>
        </p:txBody>
      </p:sp>
      <p:sp>
        <p:nvSpPr>
          <p:cNvPr id="3" name="prompt-card"/>
          <p:cNvSpPr/>
          <p:nvPr/>
        </p:nvSpPr>
        <p:spPr>
          <a:xfrm>
            <a:off x="457200" y="987552"/>
            <a:ext cx="4892040" cy="2697480"/>
          </a:xfrm>
          <a:prstGeom prst="rect">
            <a:avLst/>
          </a:prstGeom>
          <a:solidFill>
            <a:srgbClr val="141414"/>
          </a:solidFill>
          <a:ln/>
        </p:spPr>
      </p:sp>
      <p:sp>
        <p:nvSpPr>
          <p:cNvPr id="4" name="prompt-label"/>
          <p:cNvSpPr txBox="1"/>
          <p:nvPr/>
        </p:nvSpPr>
        <p:spPr>
          <a:xfrm>
            <a:off x="658368" y="1115568"/>
            <a:ext cx="45262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NEW AGENT CHAT</a:t>
            </a:r>
            <a:endParaRPr lang="en-US" sz="1100" dirty="0"/>
          </a:p>
        </p:txBody>
      </p:sp>
      <p:sp>
        <p:nvSpPr>
          <p:cNvPr id="5" name="prompt-text"/>
          <p:cNvSpPr txBox="1"/>
          <p:nvPr/>
        </p:nvSpPr>
        <p:spPr>
          <a:xfrm>
            <a:off x="658368" y="1481328"/>
            <a:ext cx="4526280" cy="1051560"/>
          </a:xfrm>
          <a:prstGeom prst="rect">
            <a:avLst/>
          </a:prstGeom>
          <a:noFill/>
          <a:ln/>
        </p:spPr>
        <p:txBody>
          <a:bodyPr wrap="square" lIns="0" tIns="0" rIns="0" bIns="0" rtlCol="0" anchor="ctr"/>
          <a:lstStyle/>
          <a:p>
            <a:pPr indent="0" marL="0">
              <a:buNone/>
            </a:pPr>
            <a:r>
              <a:rPr lang="en-US" sz="2000" dirty="0">
                <a:solidFill>
                  <a:srgbClr val="F2F2F2"/>
                </a:solidFill>
                <a:latin typeface="Arial" pitchFamily="34" charset="0"/>
                <a:ea typeface="Arial" pitchFamily="34" charset="-122"/>
                <a:cs typeface="Arial" pitchFamily="34" charset="-120"/>
              </a:rPr>
              <a:t>Add a panel that lists every trail and its difficulty.</a:t>
            </a:r>
            <a:endParaRPr lang="en-US" sz="2000" dirty="0"/>
          </a:p>
        </p:txBody>
      </p:sp>
      <p:sp>
        <p:nvSpPr>
          <p:cNvPr id="6" name="prompt-aside"/>
          <p:cNvSpPr txBox="1"/>
          <p:nvPr/>
        </p:nvSpPr>
        <p:spPr>
          <a:xfrm>
            <a:off x="658368" y="3200400"/>
            <a:ext cx="4526280" cy="292608"/>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Send it in your own chat. Then we compare diffs.</a:t>
            </a:r>
            <a:endParaRPr lang="en-US" sz="1300" dirty="0"/>
          </a:p>
        </p:txBody>
      </p:sp>
      <p:sp>
        <p:nvSpPr>
          <p:cNvPr id="7" name="expect-card"/>
          <p:cNvSpPr/>
          <p:nvPr/>
        </p:nvSpPr>
        <p:spPr>
          <a:xfrm>
            <a:off x="5532120" y="987552"/>
            <a:ext cx="3154680" cy="2697480"/>
          </a:xfrm>
          <a:prstGeom prst="rect">
            <a:avLst/>
          </a:prstGeom>
          <a:solidFill>
            <a:srgbClr val="141414"/>
          </a:solidFill>
          <a:ln/>
        </p:spPr>
      </p:sp>
      <p:sp>
        <p:nvSpPr>
          <p:cNvPr id="8" name="expect-title"/>
          <p:cNvSpPr txBox="1"/>
          <p:nvPr/>
        </p:nvSpPr>
        <p:spPr>
          <a:xfrm>
            <a:off x="5715000" y="1115568"/>
            <a:ext cx="278892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IT WILL COPY</a:t>
            </a:r>
            <a:endParaRPr lang="en-US" sz="1100" dirty="0"/>
          </a:p>
        </p:txBody>
      </p:sp>
      <p:sp>
        <p:nvSpPr>
          <p:cNvPr id="9" name="miss-label-1"/>
          <p:cNvSpPr txBox="1"/>
          <p:nvPr/>
        </p:nvSpPr>
        <p:spPr>
          <a:xfrm>
            <a:off x="5715000" y="153619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fetch(…/lifts)</a:t>
            </a:r>
            <a:endParaRPr lang="en-US" sz="1400" dirty="0"/>
          </a:p>
        </p:txBody>
      </p:sp>
      <p:sp>
        <p:nvSpPr>
          <p:cNvPr id="10" name="miss-note-1"/>
          <p:cNvSpPr txBox="1"/>
          <p:nvPr/>
        </p:nvSpPr>
        <p:spPr>
          <a:xfrm>
            <a:off x="5715000" y="179222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LiftBoard still does this</a:t>
            </a:r>
            <a:endParaRPr lang="en-US" sz="1300" dirty="0"/>
          </a:p>
        </p:txBody>
      </p:sp>
      <p:sp>
        <p:nvSpPr>
          <p:cNvPr id="11" name="miss-label-2"/>
          <p:cNvSpPr txBox="1"/>
          <p:nvPr/>
        </p:nvSpPr>
        <p:spPr>
          <a:xfrm>
            <a:off x="5715000" y="217627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No getTrails()</a:t>
            </a:r>
            <a:endParaRPr lang="en-US" sz="1400" dirty="0"/>
          </a:p>
        </p:txBody>
      </p:sp>
      <p:sp>
        <p:nvSpPr>
          <p:cNvPr id="12" name="miss-note-2"/>
          <p:cNvSpPr txBox="1"/>
          <p:nvPr/>
        </p:nvSpPr>
        <p:spPr>
          <a:xfrm>
            <a:off x="5715000" y="243230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The client is sitting right there</a:t>
            </a:r>
            <a:endParaRPr lang="en-US" sz="1300" dirty="0"/>
          </a:p>
        </p:txBody>
      </p:sp>
      <p:sp>
        <p:nvSpPr>
          <p:cNvPr id="13" name="miss-label-3"/>
          <p:cNvSpPr txBox="1"/>
          <p:nvPr/>
        </p:nvSpPr>
        <p:spPr>
          <a:xfrm>
            <a:off x="5715000" y="281635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Hand-styled status</a:t>
            </a:r>
            <a:endParaRPr lang="en-US" sz="1400" dirty="0"/>
          </a:p>
        </p:txBody>
      </p:sp>
      <p:sp>
        <p:nvSpPr>
          <p:cNvPr id="14" name="miss-note-3"/>
          <p:cNvSpPr txBox="1"/>
          <p:nvPr/>
        </p:nvSpPr>
        <p:spPr>
          <a:xfrm>
            <a:off x="5715000" y="307238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StatusBadge exists. Unused.</a:t>
            </a:r>
            <a:endParaRPr lang="en-US" sz="1300" dirty="0"/>
          </a:p>
        </p:txBody>
      </p:sp>
      <p:sp>
        <p:nvSpPr>
          <p:cNvPr id="15"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New chat to test a rule. Staying in the thread cheats. The model still has your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A rule is three things. That's the whole file.</a:t>
            </a:r>
            <a:endParaRPr lang="en-US" sz="2600" dirty="0"/>
          </a:p>
        </p:txBody>
      </p:sp>
      <p:sp>
        <p:nvSpPr>
          <p:cNvPr id="3" name="code-card"/>
          <p:cNvSpPr/>
          <p:nvPr/>
        </p:nvSpPr>
        <p:spPr>
          <a:xfrm>
            <a:off x="457200" y="960120"/>
            <a:ext cx="4709160" cy="2743200"/>
          </a:xfrm>
          <a:prstGeom prst="rect">
            <a:avLst/>
          </a:prstGeom>
          <a:solidFill>
            <a:srgbClr val="141414"/>
          </a:solidFill>
          <a:ln/>
        </p:spPr>
      </p:sp>
      <p:sp>
        <p:nvSpPr>
          <p:cNvPr id="4" name="rule-code"/>
          <p:cNvSpPr txBox="1"/>
          <p:nvPr/>
        </p:nvSpPr>
        <p:spPr>
          <a:xfrm>
            <a:off x="640080" y="1078992"/>
            <a:ext cx="4389120" cy="2514600"/>
          </a:xfrm>
          <a:prstGeom prst="rect">
            <a:avLst/>
          </a:prstGeom>
          <a:noFill/>
          <a:ln/>
        </p:spPr>
        <p:txBody>
          <a:bodyPr wrap="square" lIns="0" tIns="0" rIns="0" bIns="0" rtlCol="0" anchor="ctr"/>
          <a:lstStyle/>
          <a:p>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8A8A8A"/>
                </a:solidFill>
                <a:latin typeface="Courier New" pitchFamily="34" charset="0"/>
                <a:ea typeface="Courier New" pitchFamily="34" charset="-122"/>
                <a:cs typeface="Courier New" pitchFamily="34" charset="-120"/>
              </a:rPr>
              <a:t>description: </a:t>
            </a:r>
            <a:pPr indent="0" marL="0">
              <a:buNone/>
            </a:pPr>
            <a:r>
              <a:rPr lang="en-US" sz="1300" dirty="0">
                <a:solidFill>
                  <a:srgbClr val="F2F2F2"/>
                </a:solidFill>
                <a:latin typeface="Courier New" pitchFamily="34" charset="0"/>
                <a:ea typeface="Courier New" pitchFamily="34" charset="-122"/>
                <a:cs typeface="Courier New" pitchFamily="34" charset="-120"/>
              </a:rPr>
              <a:t>How to load Snowtooth data
</a:t>
            </a:r>
            <a:pPr indent="0" marL="0">
              <a:buNone/>
            </a:pPr>
            <a:r>
              <a:rPr lang="en-US" sz="1300" dirty="0">
                <a:solidFill>
                  <a:srgbClr val="8A8A8A"/>
                </a:solidFill>
                <a:latin typeface="Courier New" pitchFamily="34" charset="0"/>
                <a:ea typeface="Courier New" pitchFamily="34" charset="-122"/>
                <a:cs typeface="Courier New" pitchFamily="34" charset="-120"/>
              </a:rPr>
              <a:t>alwaysApply: </a:t>
            </a:r>
            <a:pPr indent="0" marL="0">
              <a:buNone/>
            </a:pPr>
            <a:r>
              <a:rPr lang="en-US" sz="1300" dirty="0">
                <a:solidFill>
                  <a:srgbClr val="F2F2F2"/>
                </a:solidFill>
                <a:latin typeface="Courier New" pitchFamily="34" charset="0"/>
                <a:ea typeface="Courier New" pitchFamily="34" charset="-122"/>
                <a:cs typeface="Courier New" pitchFamily="34" charset="-120"/>
              </a:rPr>
              <a:t>true
</a:t>
            </a:r>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F2F2F2"/>
                </a:solidFill>
                <a:latin typeface="Courier New" pitchFamily="34" charset="0"/>
                <a:ea typeface="Courier New" pitchFamily="34" charset="-122"/>
                <a:cs typeface="Courier New" pitchFamily="34" charset="-120"/>
              </a:rPr>
              <a:t>All data comes from @/lib/snowtooth.
</a:t>
            </a:r>
            <a:pPr indent="0" marL="0">
              <a:buNone/>
            </a:pPr>
            <a:r>
              <a:rPr lang="en-US" sz="1300" dirty="0">
                <a:solidFill>
                  <a:srgbClr val="F2F2F2"/>
                </a:solidFill>
                <a:latin typeface="Courier New" pitchFamily="34" charset="0"/>
                <a:ea typeface="Courier New" pitchFamily="34" charset="-122"/>
                <a:cs typeface="Courier New" pitchFamily="34" charset="-120"/>
              </a:rPr>
              <a:t>Never fetch in a component.
</a:t>
            </a:r>
            <a:pPr indent="0" marL="0">
              <a:buNone/>
            </a:pPr>
            <a:r>
              <a:rPr lang="en-US" sz="1300" dirty="0">
                <a:solidFill>
                  <a:srgbClr val="8A8A8A"/>
                </a:solidFill>
                <a:latin typeface="Courier New" pitchFamily="34" charset="0"/>
                <a:ea typeface="Courier New" pitchFamily="34" charset="-122"/>
                <a:cs typeface="Courier New" pitchFamily="34" charset="-120"/>
              </a:rPr>
              <a:t>Do:    </a:t>
            </a:r>
            <a:pPr indent="0" marL="0">
              <a:buNone/>
            </a:pPr>
            <a:r>
              <a:rPr lang="en-US" sz="1300" dirty="0">
                <a:solidFill>
                  <a:srgbClr val="F2F2F2"/>
                </a:solidFill>
                <a:latin typeface="Courier New" pitchFamily="34" charset="0"/>
                <a:ea typeface="Courier New" pitchFamily="34" charset="-122"/>
                <a:cs typeface="Courier New" pitchFamily="34" charset="-120"/>
              </a:rPr>
              <a:t>await getTrails()
</a:t>
            </a:r>
            <a:pPr indent="0" marL="0">
              <a:buNone/>
            </a:pPr>
            <a:r>
              <a:rPr lang="en-US" sz="1300" dirty="0">
                <a:solidFill>
                  <a:srgbClr val="8A8A8A"/>
                </a:solidFill>
                <a:latin typeface="Courier New" pitchFamily="34" charset="0"/>
                <a:ea typeface="Courier New" pitchFamily="34" charset="-122"/>
                <a:cs typeface="Courier New" pitchFamily="34" charset="-120"/>
              </a:rPr>
              <a:t>Don't: </a:t>
            </a:r>
            <a:pPr indent="0" marL="0">
              <a:buNone/>
            </a:pPr>
            <a:r>
              <a:rPr lang="en-US" sz="1300" dirty="0">
                <a:solidFill>
                  <a:srgbClr val="F2F2F2"/>
                </a:solidFill>
                <a:latin typeface="Courier New" pitchFamily="34" charset="0"/>
                <a:ea typeface="Courier New" pitchFamily="34" charset="-122"/>
                <a:cs typeface="Courier New" pitchFamily="34" charset="-120"/>
              </a:rPr>
              <a:t>fetch(".../lifts")
</a:t>
            </a:r>
            <a:pPr indent="0" marL="0">
              <a:buNone/>
            </a:pPr>
            <a:r>
              <a:rPr lang="en-US" sz="1300" dirty="0">
                <a:solidFill>
                  <a:srgbClr val="8A8A8A"/>
                </a:solidFill>
                <a:latin typeface="Courier New" pitchFamily="34" charset="0"/>
                <a:ea typeface="Courier New" pitchFamily="34" charset="-122"/>
                <a:cs typeface="Courier New" pitchFamily="34" charset="-120"/>
              </a:rPr>
              <a:t>See @lib/snowtooth.ts</a:t>
            </a:r>
            <a:endParaRPr lang="en-US" sz="1300" dirty="0"/>
          </a:p>
        </p:txBody>
      </p:sp>
      <p:sp>
        <p:nvSpPr>
          <p:cNvPr id="5" name="part-card-01"/>
          <p:cNvSpPr/>
          <p:nvPr/>
        </p:nvSpPr>
        <p:spPr>
          <a:xfrm>
            <a:off x="5349240" y="960120"/>
            <a:ext cx="3337560" cy="841248"/>
          </a:xfrm>
          <a:prstGeom prst="rect">
            <a:avLst/>
          </a:prstGeom>
          <a:solidFill>
            <a:srgbClr val="141414"/>
          </a:solidFill>
          <a:ln/>
        </p:spPr>
      </p:sp>
      <p:sp>
        <p:nvSpPr>
          <p:cNvPr id="6" name="part-n-01"/>
          <p:cNvSpPr txBox="1"/>
          <p:nvPr/>
        </p:nvSpPr>
        <p:spPr>
          <a:xfrm>
            <a:off x="5486400" y="960120"/>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7" name="part-title-01"/>
          <p:cNvSpPr txBox="1"/>
          <p:nvPr/>
        </p:nvSpPr>
        <p:spPr>
          <a:xfrm>
            <a:off x="5989320" y="1088136"/>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Description</a:t>
            </a:r>
            <a:endParaRPr lang="en-US" sz="1500" dirty="0"/>
          </a:p>
        </p:txBody>
      </p:sp>
      <p:sp>
        <p:nvSpPr>
          <p:cNvPr id="8" name="part-body-01"/>
          <p:cNvSpPr txBox="1"/>
          <p:nvPr/>
        </p:nvSpPr>
        <p:spPr>
          <a:xfrm>
            <a:off x="5989320" y="1380744"/>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So the agent knows when this applies.</a:t>
            </a:r>
            <a:endParaRPr lang="en-US" sz="1300" dirty="0"/>
          </a:p>
        </p:txBody>
      </p:sp>
      <p:sp>
        <p:nvSpPr>
          <p:cNvPr id="9" name="part-card-02"/>
          <p:cNvSpPr/>
          <p:nvPr/>
        </p:nvSpPr>
        <p:spPr>
          <a:xfrm>
            <a:off x="5349240" y="1892808"/>
            <a:ext cx="3337560" cy="841248"/>
          </a:xfrm>
          <a:prstGeom prst="rect">
            <a:avLst/>
          </a:prstGeom>
          <a:solidFill>
            <a:srgbClr val="141414"/>
          </a:solidFill>
          <a:ln/>
        </p:spPr>
      </p:sp>
      <p:sp>
        <p:nvSpPr>
          <p:cNvPr id="10" name="part-n-02"/>
          <p:cNvSpPr txBox="1"/>
          <p:nvPr/>
        </p:nvSpPr>
        <p:spPr>
          <a:xfrm>
            <a:off x="5486400" y="1892808"/>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11" name="part-title-02"/>
          <p:cNvSpPr txBox="1"/>
          <p:nvPr/>
        </p:nvSpPr>
        <p:spPr>
          <a:xfrm>
            <a:off x="5989320" y="2020824"/>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Do and don't</a:t>
            </a:r>
            <a:endParaRPr lang="en-US" sz="1500" dirty="0"/>
          </a:p>
        </p:txBody>
      </p:sp>
      <p:sp>
        <p:nvSpPr>
          <p:cNvPr id="12" name="part-body-02"/>
          <p:cNvSpPr txBox="1"/>
          <p:nvPr/>
        </p:nvSpPr>
        <p:spPr>
          <a:xfrm>
            <a:off x="5989320" y="2313432"/>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One of each, in real code. Not vibes.</a:t>
            </a:r>
            <a:endParaRPr lang="en-US" sz="1300" dirty="0"/>
          </a:p>
        </p:txBody>
      </p:sp>
      <p:sp>
        <p:nvSpPr>
          <p:cNvPr id="13" name="part-card-03"/>
          <p:cNvSpPr/>
          <p:nvPr/>
        </p:nvSpPr>
        <p:spPr>
          <a:xfrm>
            <a:off x="5349240" y="2825496"/>
            <a:ext cx="3337560" cy="841248"/>
          </a:xfrm>
          <a:prstGeom prst="rect">
            <a:avLst/>
          </a:prstGeom>
          <a:solidFill>
            <a:srgbClr val="141414"/>
          </a:solidFill>
          <a:ln/>
        </p:spPr>
      </p:sp>
      <p:sp>
        <p:nvSpPr>
          <p:cNvPr id="14" name="part-n-03"/>
          <p:cNvSpPr txBox="1"/>
          <p:nvPr/>
        </p:nvSpPr>
        <p:spPr>
          <a:xfrm>
            <a:off x="5486400" y="2825496"/>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5" name="part-title-03"/>
          <p:cNvSpPr txBox="1"/>
          <p:nvPr/>
        </p:nvSpPr>
        <p:spPr>
          <a:xfrm>
            <a:off x="5989320" y="2953512"/>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 pointer</a:t>
            </a:r>
            <a:endParaRPr lang="en-US" sz="1500" dirty="0"/>
          </a:p>
        </p:txBody>
      </p:sp>
      <p:sp>
        <p:nvSpPr>
          <p:cNvPr id="16" name="part-body-03"/>
          <p:cNvSpPr txBox="1"/>
          <p:nvPr/>
        </p:nvSpPr>
        <p:spPr>
          <a:xfrm>
            <a:off x="5989320" y="3246120"/>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 the real file. Don't paste a copy that goes stale.</a:t>
            </a:r>
            <a:endParaRPr lang="en-US" sz="1300" dirty="0"/>
          </a:p>
        </p:txBody>
      </p:sp>
      <p:sp>
        <p:nvSpPr>
          <p:cNvPr id="17"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Type /create-rule and dictate it. Then open the file.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New chat. Same prompt. That's the test.</a:t>
            </a:r>
            <a:endParaRPr lang="en-US" sz="2600" dirty="0"/>
          </a:p>
        </p:txBody>
      </p:sp>
      <p:sp>
        <p:nvSpPr>
          <p:cNvPr id="3" name="before-card"/>
          <p:cNvSpPr/>
          <p:nvPr/>
        </p:nvSpPr>
        <p:spPr>
          <a:xfrm>
            <a:off x="457200" y="987552"/>
            <a:ext cx="3977640" cy="2697480"/>
          </a:xfrm>
          <a:prstGeom prst="rect">
            <a:avLst/>
          </a:prstGeom>
          <a:solidFill>
            <a:srgbClr val="141414"/>
          </a:solidFill>
          <a:ln/>
        </p:spPr>
      </p:sp>
      <p:sp>
        <p:nvSpPr>
          <p:cNvPr id="4" name="before-label"/>
          <p:cNvSpPr txBox="1"/>
          <p:nvPr/>
        </p:nvSpPr>
        <p:spPr>
          <a:xfrm>
            <a:off x="64008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BEFORE THE RULE</a:t>
            </a:r>
            <a:endParaRPr lang="en-US" sz="1100" dirty="0"/>
          </a:p>
        </p:txBody>
      </p:sp>
      <p:sp>
        <p:nvSpPr>
          <p:cNvPr id="5" name="before-code"/>
          <p:cNvSpPr txBox="1"/>
          <p:nvPr/>
        </p:nvSpPr>
        <p:spPr>
          <a:xfrm>
            <a:off x="64008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fetch(".../lifts")</a:t>
            </a:r>
            <a:endParaRPr lang="en-US" sz="2000" dirty="0"/>
          </a:p>
        </p:txBody>
      </p:sp>
      <p:sp>
        <p:nvSpPr>
          <p:cNvPr id="6" name="before-body"/>
          <p:cNvSpPr txBox="1"/>
          <p:nvPr/>
        </p:nvSpPr>
        <p:spPr>
          <a:xfrm>
            <a:off x="64008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give once is a conversation. It dies when you close the tab.</a:t>
            </a:r>
            <a:endParaRPr lang="en-US" sz="1500" dirty="0"/>
          </a:p>
        </p:txBody>
      </p:sp>
      <p:sp>
        <p:nvSpPr>
          <p:cNvPr id="7" name="after-card"/>
          <p:cNvSpPr/>
          <p:nvPr/>
        </p:nvSpPr>
        <p:spPr>
          <a:xfrm>
            <a:off x="4709160" y="987552"/>
            <a:ext cx="3977640" cy="2697480"/>
          </a:xfrm>
          <a:prstGeom prst="rect">
            <a:avLst/>
          </a:prstGeom>
          <a:solidFill>
            <a:srgbClr val="141414"/>
          </a:solidFill>
          <a:ln/>
        </p:spPr>
      </p:sp>
      <p:sp>
        <p:nvSpPr>
          <p:cNvPr id="8" name="after-label"/>
          <p:cNvSpPr txBox="1"/>
          <p:nvPr/>
        </p:nvSpPr>
        <p:spPr>
          <a:xfrm>
            <a:off x="489204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AFTER YOU COMMIT IT</a:t>
            </a:r>
            <a:endParaRPr lang="en-US" sz="1100" dirty="0"/>
          </a:p>
        </p:txBody>
      </p:sp>
      <p:sp>
        <p:nvSpPr>
          <p:cNvPr id="9" name="after-code"/>
          <p:cNvSpPr txBox="1"/>
          <p:nvPr/>
        </p:nvSpPr>
        <p:spPr>
          <a:xfrm>
            <a:off x="489204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await getTrails()</a:t>
            </a:r>
            <a:endParaRPr lang="en-US" sz="2000" dirty="0"/>
          </a:p>
        </p:txBody>
      </p:sp>
      <p:sp>
        <p:nvSpPr>
          <p:cNvPr id="10" name="after-body"/>
          <p:cNvSpPr txBox="1"/>
          <p:nvPr/>
        </p:nvSpPr>
        <p:spPr>
          <a:xfrm>
            <a:off x="489204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commit is a team habit. Alex gets it tomorrow without you.</a:t>
            </a:r>
            <a:endParaRPr lang="en-US" sz="15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Look for the rule pill. Then commit. A rule only on your machine is a preference.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Your turn: the copy rule</a:t>
            </a:r>
            <a:endParaRPr lang="en-US" sz="2600" dirty="0"/>
          </a:p>
        </p:txBody>
      </p:sp>
      <p:sp>
        <p:nvSpPr>
          <p:cNvPr id="3" name="marketing-card"/>
          <p:cNvSpPr/>
          <p:nvPr/>
        </p:nvSpPr>
        <p:spPr>
          <a:xfrm>
            <a:off x="457200" y="960120"/>
            <a:ext cx="8229600" cy="658368"/>
          </a:xfrm>
          <a:prstGeom prst="rect">
            <a:avLst/>
          </a:prstGeom>
          <a:solidFill>
            <a:srgbClr val="141414"/>
          </a:solidFill>
          <a:ln/>
        </p:spPr>
      </p:sp>
      <p:sp>
        <p:nvSpPr>
          <p:cNvPr id="4" name="marketing-copy"/>
          <p:cNvSpPr txBox="1"/>
          <p:nvPr/>
        </p:nvSpPr>
        <p:spPr>
          <a:xfrm>
            <a:off x="640080" y="960120"/>
            <a:ext cx="7863840" cy="658368"/>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Guests call them runs, never “trails.” Every status uses StatusBadge.</a:t>
            </a:r>
            <a:endParaRPr lang="en-US" sz="1600" dirty="0"/>
          </a:p>
        </p:txBody>
      </p:sp>
      <p:sp>
        <p:nvSpPr>
          <p:cNvPr id="5" name="lab-n-01"/>
          <p:cNvSpPr txBox="1"/>
          <p:nvPr/>
        </p:nvSpPr>
        <p:spPr>
          <a:xfrm>
            <a:off x="457200" y="1783080"/>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6" name="lab-text-01"/>
          <p:cNvSpPr txBox="1"/>
          <p:nvPr/>
        </p:nvSpPr>
        <p:spPr>
          <a:xfrm>
            <a:off x="1051560" y="1783080"/>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New chat. Send the open-trails prompt from Part 2 of the handout.</a:t>
            </a:r>
            <a:endParaRPr lang="en-US" sz="1600" dirty="0"/>
          </a:p>
        </p:txBody>
      </p:sp>
      <p:sp>
        <p:nvSpPr>
          <p:cNvPr id="7" name="lab-n-02"/>
          <p:cNvSpPr txBox="1"/>
          <p:nvPr/>
        </p:nvSpPr>
        <p:spPr>
          <a:xfrm>
            <a:off x="457200" y="2404872"/>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8" name="lab-text-02"/>
          <p:cNvSpPr txBox="1"/>
          <p:nvPr/>
        </p:nvSpPr>
        <p:spPr>
          <a:xfrm>
            <a:off x="1051560" y="2404872"/>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Name the do and don't. Write the rule with /create-rule.</a:t>
            </a:r>
            <a:endParaRPr lang="en-US" sz="1600" dirty="0"/>
          </a:p>
        </p:txBody>
      </p:sp>
      <p:sp>
        <p:nvSpPr>
          <p:cNvPr id="9" name="lab-n-03"/>
          <p:cNvSpPr txBox="1"/>
          <p:nvPr/>
        </p:nvSpPr>
        <p:spPr>
          <a:xfrm>
            <a:off x="457200" y="3026664"/>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0" name="lab-text-03"/>
          <p:cNvSpPr txBox="1"/>
          <p:nvPr/>
        </p:nvSpPr>
        <p:spPr>
          <a:xfrm>
            <a:off x="1051560" y="3026664"/>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New chat, same prompt. Post a ski in chat when you see Open Runs.</a:t>
            </a:r>
            <a:endParaRPr lang="en-US" sz="16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Fell behind? git stash &amp;&amp; git checkout checkpoint, then start here.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Should it be a rule?</a:t>
            </a:r>
            <a:endParaRPr lang="en-US" sz="2600" dirty="0"/>
          </a:p>
        </p:txBody>
      </p:sp>
      <p:sp>
        <p:nvSpPr>
          <p:cNvPr id="3" name="row-1"/>
          <p:cNvSpPr/>
          <p:nvPr/>
        </p:nvSpPr>
        <p:spPr>
          <a:xfrm>
            <a:off x="457200" y="932688"/>
            <a:ext cx="8229600" cy="402336"/>
          </a:xfrm>
          <a:prstGeom prst="rect">
            <a:avLst/>
          </a:prstGeom>
          <a:solidFill>
            <a:srgbClr val="141414"/>
          </a:solidFill>
          <a:ln/>
        </p:spPr>
      </p:sp>
      <p:sp>
        <p:nvSpPr>
          <p:cNvPr id="4" name="if-1"/>
          <p:cNvSpPr txBox="1"/>
          <p:nvPr/>
        </p:nvSpPr>
        <p:spPr>
          <a:xfrm>
            <a:off x="621792" y="932688"/>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You've had to say it twice</a:t>
            </a:r>
            <a:endParaRPr lang="en-US" sz="1500" dirty="0"/>
          </a:p>
        </p:txBody>
      </p:sp>
      <p:sp>
        <p:nvSpPr>
          <p:cNvPr id="5" name="then-1"/>
          <p:cNvSpPr txBox="1"/>
          <p:nvPr/>
        </p:nvSpPr>
        <p:spPr>
          <a:xfrm>
            <a:off x="4846320" y="932688"/>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Write a rule</a:t>
            </a:r>
            <a:endParaRPr lang="en-US" sz="1500" dirty="0"/>
          </a:p>
        </p:txBody>
      </p:sp>
      <p:sp>
        <p:nvSpPr>
          <p:cNvPr id="6" name="if-2"/>
          <p:cNvSpPr txBox="1"/>
          <p:nvPr/>
        </p:nvSpPr>
        <p:spPr>
          <a:xfrm>
            <a:off x="621792" y="1371600"/>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linter or test could check it</a:t>
            </a:r>
            <a:endParaRPr lang="en-US" sz="1500" dirty="0"/>
          </a:p>
        </p:txBody>
      </p:sp>
      <p:sp>
        <p:nvSpPr>
          <p:cNvPr id="7" name="then-2"/>
          <p:cNvSpPr txBox="1"/>
          <p:nvPr/>
        </p:nvSpPr>
        <p:spPr>
          <a:xfrm>
            <a:off x="4846320" y="1371600"/>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Use the linter or test instead</a:t>
            </a:r>
            <a:endParaRPr lang="en-US" sz="1500" dirty="0"/>
          </a:p>
        </p:txBody>
      </p:sp>
      <p:sp>
        <p:nvSpPr>
          <p:cNvPr id="8" name="row-3"/>
          <p:cNvSpPr/>
          <p:nvPr/>
        </p:nvSpPr>
        <p:spPr>
          <a:xfrm>
            <a:off x="457200" y="1810512"/>
            <a:ext cx="8229600" cy="402336"/>
          </a:xfrm>
          <a:prstGeom prst="rect">
            <a:avLst/>
          </a:prstGeom>
          <a:solidFill>
            <a:srgbClr val="141414"/>
          </a:solidFill>
          <a:ln/>
        </p:spPr>
      </p:sp>
      <p:sp>
        <p:nvSpPr>
          <p:cNvPr id="9" name="if-3"/>
          <p:cNvSpPr txBox="1"/>
          <p:nvPr/>
        </p:nvSpPr>
        <p:spPr>
          <a:xfrm>
            <a:off x="621792" y="1810512"/>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only applies to some files</a:t>
            </a:r>
            <a:endParaRPr lang="en-US" sz="1500" dirty="0"/>
          </a:p>
        </p:txBody>
      </p:sp>
      <p:sp>
        <p:nvSpPr>
          <p:cNvPr id="10" name="then-3"/>
          <p:cNvSpPr txBox="1"/>
          <p:nvPr/>
        </p:nvSpPr>
        <p:spPr>
          <a:xfrm>
            <a:off x="4846320" y="1810512"/>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Add globs</a:t>
            </a:r>
            <a:endParaRPr lang="en-US" sz="1500" dirty="0"/>
          </a:p>
        </p:txBody>
      </p:sp>
      <p:sp>
        <p:nvSpPr>
          <p:cNvPr id="11" name="if-4"/>
          <p:cNvSpPr txBox="1"/>
          <p:nvPr/>
        </p:nvSpPr>
        <p:spPr>
          <a:xfrm>
            <a:off x="621792" y="2249424"/>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should always be on</a:t>
            </a:r>
            <a:endParaRPr lang="en-US" sz="1500" dirty="0"/>
          </a:p>
        </p:txBody>
      </p:sp>
      <p:sp>
        <p:nvSpPr>
          <p:cNvPr id="12" name="then-4"/>
          <p:cNvSpPr txBox="1"/>
          <p:nvPr/>
        </p:nvSpPr>
        <p:spPr>
          <a:xfrm>
            <a:off x="4846320" y="2249424"/>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Set alwaysApply: true</a:t>
            </a:r>
            <a:endParaRPr lang="en-US" sz="1500" dirty="0"/>
          </a:p>
        </p:txBody>
      </p:sp>
      <p:sp>
        <p:nvSpPr>
          <p:cNvPr id="13" name="row-5"/>
          <p:cNvSpPr/>
          <p:nvPr/>
        </p:nvSpPr>
        <p:spPr>
          <a:xfrm>
            <a:off x="457200" y="2688336"/>
            <a:ext cx="8229600" cy="402336"/>
          </a:xfrm>
          <a:prstGeom prst="rect">
            <a:avLst/>
          </a:prstGeom>
          <a:solidFill>
            <a:srgbClr val="141414"/>
          </a:solidFill>
          <a:ln/>
        </p:spPr>
      </p:sp>
      <p:sp>
        <p:nvSpPr>
          <p:cNvPr id="14" name="if-5"/>
          <p:cNvSpPr txBox="1"/>
          <p:nvPr/>
        </p:nvSpPr>
        <p:spPr>
          <a:xfrm>
            <a:off x="621792" y="2688336"/>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It's about security</a:t>
            </a:r>
            <a:endParaRPr lang="en-US" sz="1500" dirty="0"/>
          </a:p>
        </p:txBody>
      </p:sp>
      <p:sp>
        <p:nvSpPr>
          <p:cNvPr id="15" name="then-5"/>
          <p:cNvSpPr txBox="1"/>
          <p:nvPr/>
        </p:nvSpPr>
        <p:spPr>
          <a:xfrm>
            <a:off x="4846320" y="2688336"/>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Don't rely on a rule alone</a:t>
            </a:r>
            <a:endParaRPr lang="en-US" sz="1500" dirty="0"/>
          </a:p>
        </p:txBody>
      </p:sp>
      <p:sp>
        <p:nvSpPr>
          <p:cNvPr id="16" name="tip"/>
          <p:cNvSpPr txBox="1"/>
          <p:nvPr/>
        </p:nvSpPr>
        <p:spPr>
          <a:xfrm>
            <a:off x="457200" y="321868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Rules don't apply to Tab, so completions might still say trails.</a:t>
            </a:r>
            <a:endParaRPr lang="en-US" sz="1200" dirty="0"/>
          </a:p>
        </p:txBody>
      </p:sp>
      <p:sp>
        <p:nvSpPr>
          <p:cNvPr id="17" name="monday"/>
          <p:cNvSpPr txBox="1"/>
          <p:nvPr/>
        </p:nvSpPr>
        <p:spPr>
          <a:xfrm>
            <a:off x="457200" y="3703320"/>
            <a:ext cx="8229600" cy="32918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Pick one thing you've already had to say twice. Make it a rule.</a:t>
            </a:r>
            <a:endParaRPr lang="en-US" sz="1600" dirty="0"/>
          </a:p>
        </p:txBody>
      </p:sp>
      <p:sp>
        <p:nvSpPr>
          <p:cNvPr id="18" name="monday-sub"/>
          <p:cNvSpPr txBox="1"/>
          <p:nvPr/>
        </p:nvSpPr>
        <p:spPr>
          <a:xfrm>
            <a:off x="457200" y="4041648"/>
            <a:ext cx="8229600" cy="274320"/>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Skills are for a whole routine. Next session.</a:t>
            </a:r>
            <a:endParaRPr lang="en-US" sz="13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Cursor">
  <a:themeElements>
    <a:clrScheme name="Cursor">
      <a:dk1>
        <a:srgbClr val="0A0A0A"/>
      </a:dk1>
      <a:lt1>
        <a:srgbClr val="F2F2F2"/>
      </a:lt1>
      <a:dk2>
        <a:srgbClr val="8A8A8A"/>
      </a:dk2>
      <a:lt2>
        <a:srgbClr val="141414"/>
      </a:lt2>
      <a:accent1>
        <a:srgbClr val="F2F2F2"/>
      </a:accent1>
      <a:accent2>
        <a:srgbClr val="8A8A8A"/>
      </a:accent2>
      <a:accent3>
        <a:srgbClr val="2A2A2A"/>
      </a:accent3>
      <a:accent4>
        <a:srgbClr val="F2F2F2"/>
      </a:accent4>
      <a:accent5>
        <a:srgbClr val="8A8A8A"/>
      </a:accent5>
      <a:accent6>
        <a:srgbClr val="2A2A2A"/>
      </a:accent6>
      <a:hlink>
        <a:srgbClr val="8A8A8A"/>
      </a:hlink>
      <a:folHlink>
        <a:srgbClr val="F2F2F2"/>
      </a:folHlink>
    </a:clrScheme>
    <a:fontScheme name="Curs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Moon Highway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Snowtooth Rules</dc:title>
  <dc:subject>Facilitator deck</dc:subject>
  <dc:creator>Eve Porcello</dc:creator>
  <cp:lastModifiedBy>Eve Porcello</cp:lastModifiedBy>
  <cp:revision>1</cp:revision>
  <dcterms:created xsi:type="dcterms:W3CDTF">2026-10-22T14:38:53Z</dcterms:created>
  <dcterms:modified xsi:type="dcterms:W3CDTF">2026-10-22T14:38:53Z</dcterms:modified>
</cp:coreProperties>
</file>